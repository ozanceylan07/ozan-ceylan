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çılış" id="{9561071a-e9dc-25e5-66c1-816e46045338}">
          <p14:sldIdLst>
            <p14:sldId id="256"/>
            <p14:sldId id="257"/>
          </p14:sldIdLst>
        </p14:section>
        <p14:section name="Motivasyonu tanımak" id="{da617433-926c-d0c6-5bc0-6d550bc743f3}">
          <p14:sldIdLst>
            <p14:sldId id="258"/>
            <p14:sldId id="259"/>
            <p14:sldId id="260"/>
          </p14:sldIdLst>
        </p14:section>
        <p14:section name="Hedef ve adımlar" id="{53cf0cbf-b448-bee6-7f70-82258f51d5be}">
          <p14:sldIdLst>
            <p14:sldId id="261"/>
            <p14:sldId id="262"/>
            <p14:sldId id="263"/>
          </p14:sldIdLst>
        </p14:section>
        <p14:section name="Zihniyet, kaygı ve destek" id="{3865d108-d066-d79a-7370-3a5761862dca}">
          <p14:sldIdLst>
            <p14:sldId id="264"/>
            <p14:sldId id="265"/>
            <p14:sldId id="266"/>
          </p14:sldIdLst>
        </p14:section>
        <p14:section name="Etkinlik ve kapanış" id="{e5dc7d2e-742a-9994-34f8-a90cecb9ccad}">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Hoş geldiniz. Bugün motivasyonun ne olduğunu, neden bazen kaybolduğunu ve onu nasıl geri kazanabileceğimizi konuşacağız. Sunum yaklaşık 35–40 dakika sürer; sonunda kısa bir yazma etkinliği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1–10 arasında bir sayı göstermelerini isteyin. Düşük puan verenleri yargılamayın; "Bu çok normal, bugün bunun nedenlerini ve neler yapabileceğimizi konuşacağız" deyin. İsteyen 2–3 öğrenciye sayısının nedenini sorabilirsiniz.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sorun: "Sizi bir işi yapmaya en çok ne iter?" Birkaç cevabı içsel ya da dışsal diye sınıflandırın. Vurgu: Dışsal ödüller kötü değildir, ancak "Bu benim için neden önemli?" sorusunun cevabı, zor günlerde daha uzun süre destek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bu dört karttan hangisinin kendilerini en çok etkilediğini sorun (el kaldırarak). Amaç, yaşadıklarının yalnızca kendilerine özgü olmadığını görmeleri. Duyguları küçümsemeden normalleştirin.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satırı okuyun ve "Bu cümleyi kendine hiç söyleyen oldu mu?" diye sorun. Özellikle erteleme için "10 dakika kuralı"nı vurgulayın: Başlamak en zor kısımdır; 10 dakika sonra devam etmek çok daha kolaydır. Kıyaslama konusunda paylaşılan netlerin yalnızca hikâyenin bir parçası olduğunu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İngilizce Specific, Measurable, Achievable, Relevant, Time-bound kelimelerinin baş harfleridir. Örnekteki belirsiz hedefi birlikte dönüştürün. Ardından öğrencilerden kendi belirsiz hedeflerinden birini SMART hâle getirmelerini isteyin (2 dakika). Gönüllü 2–3 öğrenci paylaşabilir.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Merdiveni sağdan sola okuyun: Önce büyük hedef, sonra ay, hafta ve bugün. "Yıl sonu" kutusundaki boşluğu öğrenciler kendileri için zihinlerinde doldursun. Vurgu: Büyük hedef yön verir ama her gün yapılan küçük işler ilerletir. "Bugün atabileceğin en küçük adım ne?" sorusuyla bitirin.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 bir duraklama slaytı. Motivasyonun dalgalı olduğunu, her gün aynı istekle kalkmanın beklenmediğini söyleyin. Alışkanlık, motivasyonun düşük olduğu günlerde de devam etmemizi sağlar. Örnek: Diş fırçalamak için motivasyon beklemeyiz.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sol sütundaki cümlelerden birini seçip kendi cümlelerine "henüz" kelimesini eklemelerini isteyin. Beynin bir kas gibi çalıştıkça güçlendiği benzetmesini kullanabilirsiniz. Hataların öğrenmenin doğal parçası olduğunu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Kutu nefesini sınıfça birlikte bir kez uygulayın: 4 saniye burundan nefes al, 4 saniye tut, 4 saniye ağızdan ver, 4 saniye bekle. Sınavdan önce ve soru çözerken takıldıklarında kullanabileceklerini söyleyin. Kaygısı günlük hayatını etkileyen öğrencileri rehberlik servisine yönlendirin.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kendi destek çemberlerinde kimlerin olduğunu düşünmelerini isteyin. Rehberlik servisinin yerini ve görüşme için nasıl randevu alınacağını hatırlatın: [rehberlik servisi görüşme saatleri].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öğrenciye bir kâğıt ve zarf dağıtın. Mektupların gizli kalacağını, kimsenin okumayacağını belirtin. Zarfları toplayıp yıl sonunda ya da LGS'den önceki son haftada geri verin. Yazarken arka planda sakin bir müzik açabilirsiniz.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bu hafta atacakları tek bir küçük adımı yüksek sesle ya da bir yapışkan nota yazarak paylaşmalarını isteyin. Notları sınıf panosuna asabilirsiniz. Bir sonraki derste "Verimli Ders Çalışma" sunumuyla devam edebilirsiniz.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ERIK_ACIK">
    <p:bg>
      <p:bgPr>
        <a:solidFill>
          <a:srgbClr val="FBF6E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Motivasyon · 8. Sınıf Rehberlik</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_IKINCI">
    <p:bg>
      <p:bgPr>
        <a:solidFill>
          <a:srgbClr val="F3E8D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rtlCol="0"/>
          <a:lstStyle>
            <a:lvl1pPr algn="l" indent="0" marL="0">
              <a:buNone/>
              <a:defRPr lang="en-US" sz="3600" b="1" dirty="0">
                <a:solidFill>
                  <a:schemeClr val="tx1"/>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3" name="Text 0"/>
          <p:cNvSpPr txBox="1"/>
          <p:nvPr/>
        </p:nvSpPr>
        <p:spPr>
          <a:xfrm>
            <a:off x="812902" y="621792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Motivasyon · 8. Sınıf Rehberlik</a:t>
            </a:r>
            <a:endParaRPr lang="en-US" sz="12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YU">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URGU">
    <p:bg>
      <p:bgPr>
        <a:solidFill>
          <a:srgbClr val="E877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rtlCol="0"/>
          <a:lstStyle>
            <a:lvl1pPr algn="l" indent="0" marL="0">
              <a:buNone/>
              <a:defRPr lang="en-US" sz="5200" b="1" dirty="0">
                <a:solidFill>
                  <a:schemeClr val="tx1"/>
                </a:solidFill>
                <a:latin typeface="Arial" pitchFamily="34" charset="0"/>
                <a:ea typeface="Arial" pitchFamily="34" charset="-122"/>
                <a:cs typeface="Arial" pitchFamily="34" charset="-120"/>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Motivasyon:</a:t>
            </a:r>
            <a:endParaRPr lang="en-US" sz="4800" dirty="0"/>
          </a:p>
          <a:p>
            <a:pPr algn="l" indent="0" marL="0">
              <a:buNone/>
            </a:pPr>
            <a:r>
              <a:rPr lang="en-US" sz="4800" b="1" dirty="0">
                <a:solidFill>
                  <a:schemeClr val="bg1"/>
                </a:solidFill>
                <a:latin typeface="Arial" pitchFamily="34" charset="0"/>
                <a:ea typeface="Arial" pitchFamily="34" charset="-122"/>
                <a:cs typeface="Arial" pitchFamily="34" charset="-120"/>
              </a:rPr>
              <a:t>Hedefine Giden</a:t>
            </a:r>
            <a:endParaRPr lang="en-US" sz="4800" dirty="0"/>
          </a:p>
          <a:p>
            <a:pPr algn="l" indent="0" marL="0">
              <a:buNone/>
            </a:pPr>
            <a:r>
              <a:rPr lang="en-US" sz="4800" b="1" dirty="0">
                <a:solidFill>
                  <a:schemeClr val="bg1"/>
                </a:solidFill>
                <a:latin typeface="Arial" pitchFamily="34" charset="0"/>
                <a:ea typeface="Arial" pitchFamily="34" charset="-122"/>
                <a:cs typeface="Arial" pitchFamily="34" charset="-120"/>
              </a:rPr>
              <a:t>Yolun Yakıtı</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8. SINIF REHBERLİK SAATİ</a:t>
            </a:r>
            <a:endParaRPr lang="en-US" sz="1400" dirty="0"/>
          </a:p>
        </p:txBody>
      </p:sp>
      <p:sp>
        <p:nvSpPr>
          <p:cNvPr id="5" name="Dekor daire"/>
          <p:cNvSpPr/>
          <p:nvPr/>
        </p:nvSpPr>
        <p:spPr>
          <a:xfrm>
            <a:off x="7823606" y="1651406"/>
            <a:ext cx="3556102" cy="3556102"/>
          </a:xfrm>
          <a:prstGeom prst="ellipse">
            <a:avLst/>
          </a:prstGeom>
          <a:solidFill>
            <a:schemeClr val="accent1"/>
          </a:solidFill>
          <a:ln/>
        </p:spPr>
      </p:sp>
      <p:pic>
        <p:nvPicPr>
          <p:cNvPr id="6" name="Simge" descr="bolt">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4572000"/>
            <a:ext cx="6766560" cy="457200"/>
          </a:xfrm>
          <a:prstGeom prst="rect">
            <a:avLst/>
          </a:prstGeom>
          <a:noFill/>
          <a:ln/>
        </p:spPr>
        <p:txBody>
          <a:bodyPr wrap="square" lIns="0" tIns="0" rIns="0" bIns="0" rtlCol="0" anchor="t"/>
          <a:lstStyle/>
          <a:p>
            <a:pPr indent="0" marL="0">
              <a:buNone/>
            </a:pPr>
            <a:r>
              <a:rPr lang="en-US" sz="2000" dirty="0">
                <a:solidFill>
                  <a:schemeClr val="accent5"/>
                </a:solidFill>
              </a:rPr>
              <a:t>Kendini tanı, hedefini belirle, adım adım ilerle.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Bugün ders çalışmaya ne kadar isteklisin?</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ISINMA</a:t>
            </a:r>
            <a:endParaRPr lang="en-US" sz="1400" dirty="0"/>
          </a:p>
        </p:txBody>
      </p:sp>
      <p:sp>
        <p:nvSpPr>
          <p:cNvPr id="5" name="Ölçek 1"/>
          <p:cNvSpPr/>
          <p:nvPr/>
        </p:nvSpPr>
        <p:spPr>
          <a:xfrm>
            <a:off x="812902" y="2240280"/>
            <a:ext cx="966064" cy="868680"/>
          </a:xfrm>
          <a:prstGeom prst="roundRect">
            <a:avLst>
              <a:gd name="adj" fmla="val 18947"/>
            </a:avLst>
          </a:prstGeom>
          <a:solidFill>
            <a:schemeClr val="bg1"/>
          </a:solidFill>
          <a:ln/>
        </p:spPr>
      </p:sp>
      <p:sp>
        <p:nvSpPr>
          <p:cNvPr id="6" name="Text 3"/>
          <p:cNvSpPr txBox="1"/>
          <p:nvPr/>
        </p:nvSpPr>
        <p:spPr>
          <a:xfrm>
            <a:off x="812902"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1</a:t>
            </a:r>
            <a:endParaRPr lang="en-US" sz="2600" dirty="0"/>
          </a:p>
        </p:txBody>
      </p:sp>
      <p:sp>
        <p:nvSpPr>
          <p:cNvPr id="7" name="Ölçek 2"/>
          <p:cNvSpPr/>
          <p:nvPr/>
        </p:nvSpPr>
        <p:spPr>
          <a:xfrm>
            <a:off x="1879549" y="2240280"/>
            <a:ext cx="966064" cy="868680"/>
          </a:xfrm>
          <a:prstGeom prst="roundRect">
            <a:avLst>
              <a:gd name="adj" fmla="val 18947"/>
            </a:avLst>
          </a:prstGeom>
          <a:solidFill>
            <a:schemeClr val="bg1"/>
          </a:solidFill>
          <a:ln/>
        </p:spPr>
      </p:sp>
      <p:sp>
        <p:nvSpPr>
          <p:cNvPr id="8" name="Text 5"/>
          <p:cNvSpPr txBox="1"/>
          <p:nvPr/>
        </p:nvSpPr>
        <p:spPr>
          <a:xfrm>
            <a:off x="1879549"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2</a:t>
            </a:r>
            <a:endParaRPr lang="en-US" sz="2600" dirty="0"/>
          </a:p>
        </p:txBody>
      </p:sp>
      <p:sp>
        <p:nvSpPr>
          <p:cNvPr id="9" name="Ölçek 3"/>
          <p:cNvSpPr/>
          <p:nvPr/>
        </p:nvSpPr>
        <p:spPr>
          <a:xfrm>
            <a:off x="2946197" y="2240280"/>
            <a:ext cx="966064" cy="868680"/>
          </a:xfrm>
          <a:prstGeom prst="roundRect">
            <a:avLst>
              <a:gd name="adj" fmla="val 18947"/>
            </a:avLst>
          </a:prstGeom>
          <a:solidFill>
            <a:schemeClr val="bg1"/>
          </a:solidFill>
          <a:ln/>
        </p:spPr>
      </p:sp>
      <p:sp>
        <p:nvSpPr>
          <p:cNvPr id="10" name="Text 7"/>
          <p:cNvSpPr txBox="1"/>
          <p:nvPr/>
        </p:nvSpPr>
        <p:spPr>
          <a:xfrm>
            <a:off x="2946197"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3</a:t>
            </a:r>
            <a:endParaRPr lang="en-US" sz="2600" dirty="0"/>
          </a:p>
        </p:txBody>
      </p:sp>
      <p:sp>
        <p:nvSpPr>
          <p:cNvPr id="11" name="Ölçek 4"/>
          <p:cNvSpPr/>
          <p:nvPr/>
        </p:nvSpPr>
        <p:spPr>
          <a:xfrm>
            <a:off x="4012844" y="2240280"/>
            <a:ext cx="966064" cy="868680"/>
          </a:xfrm>
          <a:prstGeom prst="roundRect">
            <a:avLst>
              <a:gd name="adj" fmla="val 18947"/>
            </a:avLst>
          </a:prstGeom>
          <a:solidFill>
            <a:schemeClr val="accent4"/>
          </a:solidFill>
          <a:ln/>
        </p:spPr>
      </p:sp>
      <p:sp>
        <p:nvSpPr>
          <p:cNvPr id="12" name="Text 9"/>
          <p:cNvSpPr txBox="1"/>
          <p:nvPr/>
        </p:nvSpPr>
        <p:spPr>
          <a:xfrm>
            <a:off x="4012844"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4</a:t>
            </a:r>
            <a:endParaRPr lang="en-US" sz="2600" dirty="0"/>
          </a:p>
        </p:txBody>
      </p:sp>
      <p:sp>
        <p:nvSpPr>
          <p:cNvPr id="13" name="Ölçek 5"/>
          <p:cNvSpPr/>
          <p:nvPr/>
        </p:nvSpPr>
        <p:spPr>
          <a:xfrm>
            <a:off x="5079492" y="2240280"/>
            <a:ext cx="966064" cy="868680"/>
          </a:xfrm>
          <a:prstGeom prst="roundRect">
            <a:avLst>
              <a:gd name="adj" fmla="val 18947"/>
            </a:avLst>
          </a:prstGeom>
          <a:solidFill>
            <a:schemeClr val="accent4"/>
          </a:solidFill>
          <a:ln/>
        </p:spPr>
      </p:sp>
      <p:sp>
        <p:nvSpPr>
          <p:cNvPr id="14" name="Text 11"/>
          <p:cNvSpPr txBox="1"/>
          <p:nvPr/>
        </p:nvSpPr>
        <p:spPr>
          <a:xfrm>
            <a:off x="5079492"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5</a:t>
            </a:r>
            <a:endParaRPr lang="en-US" sz="2600" dirty="0"/>
          </a:p>
        </p:txBody>
      </p:sp>
      <p:sp>
        <p:nvSpPr>
          <p:cNvPr id="15" name="Ölçek 6"/>
          <p:cNvSpPr/>
          <p:nvPr/>
        </p:nvSpPr>
        <p:spPr>
          <a:xfrm>
            <a:off x="6146140" y="2240280"/>
            <a:ext cx="966064" cy="868680"/>
          </a:xfrm>
          <a:prstGeom prst="roundRect">
            <a:avLst>
              <a:gd name="adj" fmla="val 18947"/>
            </a:avLst>
          </a:prstGeom>
          <a:solidFill>
            <a:schemeClr val="accent4"/>
          </a:solidFill>
          <a:ln/>
        </p:spPr>
      </p:sp>
      <p:sp>
        <p:nvSpPr>
          <p:cNvPr id="16" name="Text 13"/>
          <p:cNvSpPr txBox="1"/>
          <p:nvPr/>
        </p:nvSpPr>
        <p:spPr>
          <a:xfrm>
            <a:off x="6146140"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6</a:t>
            </a:r>
            <a:endParaRPr lang="en-US" sz="2600" dirty="0"/>
          </a:p>
        </p:txBody>
      </p:sp>
      <p:sp>
        <p:nvSpPr>
          <p:cNvPr id="17" name="Ölçek 7"/>
          <p:cNvSpPr/>
          <p:nvPr/>
        </p:nvSpPr>
        <p:spPr>
          <a:xfrm>
            <a:off x="7212787" y="2240280"/>
            <a:ext cx="966064" cy="868680"/>
          </a:xfrm>
          <a:prstGeom prst="roundRect">
            <a:avLst>
              <a:gd name="adj" fmla="val 18947"/>
            </a:avLst>
          </a:prstGeom>
          <a:solidFill>
            <a:schemeClr val="accent3"/>
          </a:solidFill>
          <a:ln/>
        </p:spPr>
      </p:sp>
      <p:sp>
        <p:nvSpPr>
          <p:cNvPr id="18" name="Text 15"/>
          <p:cNvSpPr txBox="1"/>
          <p:nvPr/>
        </p:nvSpPr>
        <p:spPr>
          <a:xfrm>
            <a:off x="7212787"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7</a:t>
            </a:r>
            <a:endParaRPr lang="en-US" sz="2600" dirty="0"/>
          </a:p>
        </p:txBody>
      </p:sp>
      <p:sp>
        <p:nvSpPr>
          <p:cNvPr id="19" name="Ölçek 8"/>
          <p:cNvSpPr/>
          <p:nvPr/>
        </p:nvSpPr>
        <p:spPr>
          <a:xfrm>
            <a:off x="8279435" y="2240280"/>
            <a:ext cx="966064" cy="868680"/>
          </a:xfrm>
          <a:prstGeom prst="roundRect">
            <a:avLst>
              <a:gd name="adj" fmla="val 18947"/>
            </a:avLst>
          </a:prstGeom>
          <a:solidFill>
            <a:schemeClr val="accent3"/>
          </a:solidFill>
          <a:ln/>
        </p:spPr>
      </p:sp>
      <p:sp>
        <p:nvSpPr>
          <p:cNvPr id="20" name="Text 17"/>
          <p:cNvSpPr txBox="1"/>
          <p:nvPr/>
        </p:nvSpPr>
        <p:spPr>
          <a:xfrm>
            <a:off x="8279435"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8</a:t>
            </a:r>
            <a:endParaRPr lang="en-US" sz="2600" dirty="0"/>
          </a:p>
        </p:txBody>
      </p:sp>
      <p:sp>
        <p:nvSpPr>
          <p:cNvPr id="21" name="Ölçek 9"/>
          <p:cNvSpPr/>
          <p:nvPr/>
        </p:nvSpPr>
        <p:spPr>
          <a:xfrm>
            <a:off x="9346082" y="2240280"/>
            <a:ext cx="966064" cy="868680"/>
          </a:xfrm>
          <a:prstGeom prst="roundRect">
            <a:avLst>
              <a:gd name="adj" fmla="val 18947"/>
            </a:avLst>
          </a:prstGeom>
          <a:solidFill>
            <a:schemeClr val="accent1"/>
          </a:solidFill>
          <a:ln/>
        </p:spPr>
      </p:sp>
      <p:sp>
        <p:nvSpPr>
          <p:cNvPr id="22" name="Text 19"/>
          <p:cNvSpPr txBox="1"/>
          <p:nvPr/>
        </p:nvSpPr>
        <p:spPr>
          <a:xfrm>
            <a:off x="9346082"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9</a:t>
            </a:r>
            <a:endParaRPr lang="en-US" sz="2600" dirty="0"/>
          </a:p>
        </p:txBody>
      </p:sp>
      <p:sp>
        <p:nvSpPr>
          <p:cNvPr id="23" name="Ölçek 10"/>
          <p:cNvSpPr/>
          <p:nvPr/>
        </p:nvSpPr>
        <p:spPr>
          <a:xfrm>
            <a:off x="10412730" y="2240280"/>
            <a:ext cx="966064" cy="868680"/>
          </a:xfrm>
          <a:prstGeom prst="roundRect">
            <a:avLst>
              <a:gd name="adj" fmla="val 18947"/>
            </a:avLst>
          </a:prstGeom>
          <a:solidFill>
            <a:schemeClr val="accent1"/>
          </a:solidFill>
          <a:ln/>
        </p:spPr>
      </p:sp>
      <p:sp>
        <p:nvSpPr>
          <p:cNvPr id="24" name="Text 21"/>
          <p:cNvSpPr txBox="1"/>
          <p:nvPr/>
        </p:nvSpPr>
        <p:spPr>
          <a:xfrm>
            <a:off x="10412730" y="2240280"/>
            <a:ext cx="966064" cy="86868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10</a:t>
            </a:r>
            <a:endParaRPr lang="en-US" sz="2600" dirty="0"/>
          </a:p>
        </p:txBody>
      </p:sp>
      <p:sp>
        <p:nvSpPr>
          <p:cNvPr id="25" name="Text 22"/>
          <p:cNvSpPr txBox="1"/>
          <p:nvPr/>
        </p:nvSpPr>
        <p:spPr>
          <a:xfrm>
            <a:off x="812902" y="3246120"/>
            <a:ext cx="4572000" cy="320040"/>
          </a:xfrm>
          <a:prstGeom prst="rect">
            <a:avLst/>
          </a:prstGeom>
          <a:noFill/>
          <a:ln/>
        </p:spPr>
        <p:txBody>
          <a:bodyPr wrap="square" lIns="0" tIns="0" rIns="0" bIns="0" rtlCol="0" anchor="t"/>
          <a:lstStyle/>
          <a:p>
            <a:pPr indent="0" marL="0">
              <a:buNone/>
            </a:pPr>
            <a:r>
              <a:rPr lang="en-US" sz="1600" b="1" dirty="0">
                <a:solidFill>
                  <a:schemeClr val="tx2"/>
                </a:solidFill>
              </a:rPr>
              <a:t>1 = Hiç istekli değilim</a:t>
            </a:r>
            <a:endParaRPr lang="en-US" sz="1600" dirty="0"/>
          </a:p>
        </p:txBody>
      </p:sp>
      <p:sp>
        <p:nvSpPr>
          <p:cNvPr id="26" name="Text 23"/>
          <p:cNvSpPr txBox="1"/>
          <p:nvPr/>
        </p:nvSpPr>
        <p:spPr>
          <a:xfrm>
            <a:off x="6806794" y="3246120"/>
            <a:ext cx="4572000" cy="320040"/>
          </a:xfrm>
          <a:prstGeom prst="rect">
            <a:avLst/>
          </a:prstGeom>
          <a:noFill/>
          <a:ln/>
        </p:spPr>
        <p:txBody>
          <a:bodyPr wrap="square" lIns="0" tIns="0" rIns="0" bIns="0" rtlCol="0" anchor="t"/>
          <a:lstStyle/>
          <a:p>
            <a:pPr algn="r" indent="0" marL="0">
              <a:buNone/>
            </a:pPr>
            <a:r>
              <a:rPr lang="en-US" sz="1600" b="1" dirty="0">
                <a:solidFill>
                  <a:schemeClr val="tx2"/>
                </a:solidFill>
              </a:rPr>
              <a:t>10 = Çok istekliyim</a:t>
            </a:r>
            <a:endParaRPr lang="en-US" sz="1600" dirty="0"/>
          </a:p>
        </p:txBody>
      </p:sp>
      <p:sp>
        <p:nvSpPr>
          <p:cNvPr id="27" name="Text 24"/>
          <p:cNvSpPr txBox="1"/>
          <p:nvPr/>
        </p:nvSpPr>
        <p:spPr>
          <a:xfrm>
            <a:off x="812902" y="4069080"/>
            <a:ext cx="10565892" cy="822960"/>
          </a:xfrm>
          <a:prstGeom prst="rect">
            <a:avLst/>
          </a:prstGeom>
          <a:noFill/>
          <a:ln/>
        </p:spPr>
        <p:txBody>
          <a:bodyPr wrap="square" lIns="0" tIns="0" rIns="0" bIns="0" rtlCol="0" anchor="t"/>
          <a:lstStyle/>
          <a:p>
            <a:pPr indent="0" marL="0">
              <a:buNone/>
            </a:pPr>
            <a:r>
              <a:rPr lang="en-US" sz="2000" dirty="0">
                <a:solidFill>
                  <a:schemeClr val="tx2"/>
                </a:solidFill>
              </a:rPr>
              <a:t>Parmaklarınla göster ya da kâğıdına yaz. Doğru ya da yanlış cevap yok; sadece bugünkü hâlini fark et.</a:t>
            </a:r>
            <a:endParaRPr lang="en-US" sz="20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Motivasyon nedir?</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TEMEL KAVRAM</a:t>
            </a:r>
            <a:endParaRPr lang="en-US" sz="1400" dirty="0"/>
          </a:p>
        </p:txBody>
      </p:sp>
      <p:sp>
        <p:nvSpPr>
          <p:cNvPr id="5" name="Text 2"/>
          <p:cNvSpPr txBox="1"/>
          <p:nvPr/>
        </p:nvSpPr>
        <p:spPr>
          <a:xfrm>
            <a:off x="812902" y="2011680"/>
            <a:ext cx="10565892" cy="548640"/>
          </a:xfrm>
          <a:prstGeom prst="rect">
            <a:avLst/>
          </a:prstGeom>
          <a:noFill/>
          <a:ln/>
        </p:spPr>
        <p:txBody>
          <a:bodyPr wrap="square" lIns="0" tIns="0" rIns="0" bIns="0" rtlCol="0" anchor="t"/>
          <a:lstStyle/>
          <a:p>
            <a:pPr indent="0" marL="0">
              <a:buNone/>
            </a:pPr>
            <a:r>
              <a:rPr lang="en-US" sz="2600" dirty="0">
                <a:solidFill>
                  <a:schemeClr val="tx1"/>
                </a:solidFill>
              </a:rPr>
              <a:t>Bir işi </a:t>
            </a:r>
            <a:pPr indent="0" marL="0">
              <a:buNone/>
            </a:pPr>
            <a:r>
              <a:rPr lang="en-US" sz="2600" b="1" dirty="0">
                <a:solidFill>
                  <a:schemeClr val="tx1"/>
                </a:solidFill>
              </a:rPr>
              <a:t>başlatmanı</a:t>
            </a:r>
            <a:pPr indent="0" marL="0">
              <a:buNone/>
            </a:pPr>
            <a:r>
              <a:rPr lang="en-US" sz="2600" dirty="0">
                <a:solidFill>
                  <a:schemeClr val="tx1"/>
                </a:solidFill>
              </a:rPr>
              <a:t> ve </a:t>
            </a:r>
            <a:pPr indent="0" marL="0">
              <a:buNone/>
            </a:pPr>
            <a:r>
              <a:rPr lang="en-US" sz="2600" b="1" dirty="0">
                <a:solidFill>
                  <a:schemeClr val="tx1"/>
                </a:solidFill>
              </a:rPr>
              <a:t>sürdürmeni</a:t>
            </a:r>
            <a:pPr indent="0" marL="0">
              <a:buNone/>
            </a:pPr>
            <a:r>
              <a:rPr lang="en-US" sz="2600" dirty="0">
                <a:solidFill>
                  <a:schemeClr val="tx1"/>
                </a:solidFill>
              </a:rPr>
              <a:t> sağlayan iç güçtür.</a:t>
            </a:r>
            <a:endParaRPr lang="en-US" sz="2600" dirty="0"/>
          </a:p>
        </p:txBody>
      </p:sp>
      <p:sp>
        <p:nvSpPr>
          <p:cNvPr id="6" name="İçsel motivasyon"/>
          <p:cNvSpPr/>
          <p:nvPr/>
        </p:nvSpPr>
        <p:spPr>
          <a:xfrm>
            <a:off x="812902" y="2788920"/>
            <a:ext cx="5122926" cy="2331720"/>
          </a:xfrm>
          <a:prstGeom prst="roundRect">
            <a:avLst>
              <a:gd name="adj" fmla="val 7059"/>
            </a:avLst>
          </a:prstGeom>
          <a:solidFill>
            <a:schemeClr val="bg2"/>
          </a:solidFill>
          <a:ln/>
        </p:spPr>
      </p:sp>
      <p:sp>
        <p:nvSpPr>
          <p:cNvPr id="7" name="Text 4"/>
          <p:cNvSpPr txBox="1"/>
          <p:nvPr/>
        </p:nvSpPr>
        <p:spPr>
          <a:xfrm>
            <a:off x="1132942" y="3063240"/>
            <a:ext cx="4482846"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İçsel motivasyon</a:t>
            </a:r>
            <a:endParaRPr lang="en-US" sz="2400" dirty="0"/>
          </a:p>
        </p:txBody>
      </p:sp>
      <p:sp>
        <p:nvSpPr>
          <p:cNvPr id="8" name="Text 5"/>
          <p:cNvSpPr txBox="1"/>
          <p:nvPr/>
        </p:nvSpPr>
        <p:spPr>
          <a:xfrm>
            <a:off x="1132942" y="3611880"/>
            <a:ext cx="4482846" cy="731520"/>
          </a:xfrm>
          <a:prstGeom prst="rect">
            <a:avLst/>
          </a:prstGeom>
          <a:noFill/>
          <a:ln/>
        </p:spPr>
        <p:txBody>
          <a:bodyPr wrap="square" lIns="0" tIns="0" rIns="0" bIns="0" rtlCol="0" anchor="t"/>
          <a:lstStyle/>
          <a:p>
            <a:pPr indent="0" marL="0">
              <a:buNone/>
            </a:pPr>
            <a:r>
              <a:rPr lang="en-US" sz="1800" dirty="0">
                <a:solidFill>
                  <a:schemeClr val="tx2"/>
                </a:solidFill>
              </a:rPr>
              <a:t>Merak ettiğin, keyif aldığın ya da önemsediğin için yaparsın.</a:t>
            </a:r>
            <a:endParaRPr lang="en-US" sz="1800" dirty="0"/>
          </a:p>
        </p:txBody>
      </p:sp>
      <p:sp>
        <p:nvSpPr>
          <p:cNvPr id="9" name="Text 6"/>
          <p:cNvSpPr txBox="1"/>
          <p:nvPr/>
        </p:nvSpPr>
        <p:spPr>
          <a:xfrm>
            <a:off x="1132942" y="4434840"/>
            <a:ext cx="4482846" cy="548640"/>
          </a:xfrm>
          <a:prstGeom prst="rect">
            <a:avLst/>
          </a:prstGeom>
          <a:noFill/>
          <a:ln/>
        </p:spPr>
        <p:txBody>
          <a:bodyPr wrap="square" lIns="0" tIns="0" rIns="0" bIns="0" rtlCol="0" anchor="t"/>
          <a:lstStyle/>
          <a:p>
            <a:pPr indent="0" marL="0">
              <a:buNone/>
            </a:pPr>
            <a:r>
              <a:rPr lang="en-US" sz="1500" b="1" dirty="0">
                <a:solidFill>
                  <a:schemeClr val="accent2"/>
                </a:solidFill>
              </a:rPr>
              <a:t>Örnek: Deney yapmayı sevdiğin için bir fen konusunu araştırmak.</a:t>
            </a:r>
            <a:endParaRPr lang="en-US" sz="1500" dirty="0"/>
          </a:p>
        </p:txBody>
      </p:sp>
      <p:sp>
        <p:nvSpPr>
          <p:cNvPr id="10" name="Dışsal motivasyon"/>
          <p:cNvSpPr/>
          <p:nvPr/>
        </p:nvSpPr>
        <p:spPr>
          <a:xfrm>
            <a:off x="6255868" y="2788920"/>
            <a:ext cx="5122926" cy="2331720"/>
          </a:xfrm>
          <a:prstGeom prst="roundRect">
            <a:avLst>
              <a:gd name="adj" fmla="val 7059"/>
            </a:avLst>
          </a:prstGeom>
          <a:solidFill>
            <a:schemeClr val="bg2"/>
          </a:solidFill>
          <a:ln/>
        </p:spPr>
      </p:sp>
      <p:sp>
        <p:nvSpPr>
          <p:cNvPr id="11" name="Text 8"/>
          <p:cNvSpPr txBox="1"/>
          <p:nvPr/>
        </p:nvSpPr>
        <p:spPr>
          <a:xfrm>
            <a:off x="6575908" y="3063240"/>
            <a:ext cx="4482846" cy="45720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Dışsal motivasyon</a:t>
            </a:r>
            <a:endParaRPr lang="en-US" sz="2400" dirty="0"/>
          </a:p>
        </p:txBody>
      </p:sp>
      <p:sp>
        <p:nvSpPr>
          <p:cNvPr id="12" name="Text 9"/>
          <p:cNvSpPr txBox="1"/>
          <p:nvPr/>
        </p:nvSpPr>
        <p:spPr>
          <a:xfrm>
            <a:off x="6575908" y="3611880"/>
            <a:ext cx="4482846" cy="731520"/>
          </a:xfrm>
          <a:prstGeom prst="rect">
            <a:avLst/>
          </a:prstGeom>
          <a:noFill/>
          <a:ln/>
        </p:spPr>
        <p:txBody>
          <a:bodyPr wrap="square" lIns="0" tIns="0" rIns="0" bIns="0" rtlCol="0" anchor="t"/>
          <a:lstStyle/>
          <a:p>
            <a:pPr indent="0" marL="0">
              <a:buNone/>
            </a:pPr>
            <a:r>
              <a:rPr lang="en-US" sz="1800" dirty="0">
                <a:solidFill>
                  <a:schemeClr val="tx2"/>
                </a:solidFill>
              </a:rPr>
              <a:t>Bir ödül kazanmak ya da bir sonuçtan kaçınmak için yaparsın.</a:t>
            </a:r>
            <a:endParaRPr lang="en-US" sz="1800" dirty="0"/>
          </a:p>
        </p:txBody>
      </p:sp>
      <p:sp>
        <p:nvSpPr>
          <p:cNvPr id="13" name="Text 10"/>
          <p:cNvSpPr txBox="1"/>
          <p:nvPr/>
        </p:nvSpPr>
        <p:spPr>
          <a:xfrm>
            <a:off x="6575908" y="4434840"/>
            <a:ext cx="4482846" cy="548640"/>
          </a:xfrm>
          <a:prstGeom prst="rect">
            <a:avLst/>
          </a:prstGeom>
          <a:noFill/>
          <a:ln/>
        </p:spPr>
        <p:txBody>
          <a:bodyPr wrap="square" lIns="0" tIns="0" rIns="0" bIns="0" rtlCol="0" anchor="t"/>
          <a:lstStyle/>
          <a:p>
            <a:pPr indent="0" marL="0">
              <a:buNone/>
            </a:pPr>
            <a:r>
              <a:rPr lang="en-US" sz="1500" b="1" dirty="0">
                <a:solidFill>
                  <a:schemeClr val="accent2"/>
                </a:solidFill>
              </a:rPr>
              <a:t>Örnek: Not, hediye ya da övgü almak için çalışmak.</a:t>
            </a:r>
            <a:endParaRPr lang="en-US" sz="1500" dirty="0"/>
          </a:p>
        </p:txBody>
      </p:sp>
      <p:sp>
        <p:nvSpPr>
          <p:cNvPr id="14" name="Text 11"/>
          <p:cNvSpPr txBox="1"/>
          <p:nvPr/>
        </p:nvSpPr>
        <p:spPr>
          <a:xfrm>
            <a:off x="812902" y="5394960"/>
            <a:ext cx="10565892" cy="411480"/>
          </a:xfrm>
          <a:prstGeom prst="rect">
            <a:avLst/>
          </a:prstGeom>
          <a:noFill/>
          <a:ln/>
        </p:spPr>
        <p:txBody>
          <a:bodyPr wrap="square" lIns="0" tIns="0" rIns="0" bIns="0" rtlCol="0" anchor="t"/>
          <a:lstStyle/>
          <a:p>
            <a:pPr indent="0" marL="0">
              <a:buNone/>
            </a:pPr>
            <a:r>
              <a:rPr lang="en-US" sz="1800" dirty="0">
                <a:solidFill>
                  <a:schemeClr val="tx2"/>
                </a:solidFill>
              </a:rPr>
              <a:t>İkisi de işe yarar; ama uzun bir yolda seni en çok taşıyan, içsel motivasyondur.</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8. sınıf neden farklı hissettirir?</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BU YIL</a:t>
            </a:r>
            <a:endParaRPr lang="en-US" sz="1400" dirty="0"/>
          </a:p>
        </p:txBody>
      </p:sp>
      <p:sp>
        <p:nvSpPr>
          <p:cNvPr id="5" name="LGS hazırlığı"/>
          <p:cNvSpPr/>
          <p:nvPr/>
        </p:nvSpPr>
        <p:spPr>
          <a:xfrm>
            <a:off x="812902" y="2057400"/>
            <a:ext cx="2435733" cy="2788920"/>
          </a:xfrm>
          <a:prstGeom prst="roundRect">
            <a:avLst>
              <a:gd name="adj" fmla="val 6757"/>
            </a:avLst>
          </a:prstGeom>
          <a:solidFill>
            <a:schemeClr val="bg1"/>
          </a:solidFill>
          <a:ln/>
        </p:spPr>
      </p:sp>
      <p:pic>
        <p:nvPicPr>
          <p:cNvPr id="6" name="Simge" descr="cap">    </p:cNvPr>
          <p:cNvPicPr>
            <a:picLocks noChangeAspect="1"/>
          </p:cNvPicPr>
          <p:nvPr/>
        </p:nvPicPr>
        <p:blipFill>
          <a:blip r:embed="rId1"/>
          <a:stretch>
            <a:fillRect/>
          </a:stretch>
        </p:blipFill>
        <p:spPr>
          <a:xfrm>
            <a:off x="1087222" y="2331720"/>
            <a:ext cx="457200" cy="457200"/>
          </a:xfrm>
          <a:prstGeom prst="rect">
            <a:avLst/>
          </a:prstGeom>
        </p:spPr>
      </p:pic>
      <p:sp>
        <p:nvSpPr>
          <p:cNvPr id="7" name="Text 3"/>
          <p:cNvSpPr txBox="1"/>
          <p:nvPr/>
        </p:nvSpPr>
        <p:spPr>
          <a:xfrm>
            <a:off x="1087222" y="2926080"/>
            <a:ext cx="1887093" cy="68580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LGS hazırlığı</a:t>
            </a:r>
            <a:endParaRPr lang="en-US" sz="1900" dirty="0"/>
          </a:p>
        </p:txBody>
      </p:sp>
      <p:sp>
        <p:nvSpPr>
          <p:cNvPr id="8" name="Text 4"/>
          <p:cNvSpPr txBox="1"/>
          <p:nvPr/>
        </p:nvSpPr>
        <p:spPr>
          <a:xfrm>
            <a:off x="1087222" y="3703320"/>
            <a:ext cx="1887093" cy="1005840"/>
          </a:xfrm>
          <a:prstGeom prst="rect">
            <a:avLst/>
          </a:prstGeom>
          <a:noFill/>
          <a:ln/>
        </p:spPr>
        <p:txBody>
          <a:bodyPr wrap="square" lIns="0" tIns="0" rIns="0" bIns="0" rtlCol="0" anchor="t"/>
          <a:lstStyle/>
          <a:p>
            <a:pPr indent="0" marL="0">
              <a:buNone/>
            </a:pPr>
            <a:r>
              <a:rPr lang="en-US" sz="1500" dirty="0">
                <a:solidFill>
                  <a:schemeClr val="tx2"/>
                </a:solidFill>
              </a:rPr>
              <a:t>Denemeler, netler ve sonuçlar akılda sürekli yer kaplar.</a:t>
            </a:r>
            <a:endParaRPr lang="en-US" sz="1500" dirty="0"/>
          </a:p>
        </p:txBody>
      </p:sp>
      <p:sp>
        <p:nvSpPr>
          <p:cNvPr id="9" name="Yeni okul seçimi"/>
          <p:cNvSpPr/>
          <p:nvPr/>
        </p:nvSpPr>
        <p:spPr>
          <a:xfrm>
            <a:off x="3522955" y="2057400"/>
            <a:ext cx="2435733" cy="2788920"/>
          </a:xfrm>
          <a:prstGeom prst="roundRect">
            <a:avLst>
              <a:gd name="adj" fmla="val 6757"/>
            </a:avLst>
          </a:prstGeom>
          <a:solidFill>
            <a:schemeClr val="bg1"/>
          </a:solidFill>
          <a:ln/>
        </p:spPr>
      </p:sp>
      <p:pic>
        <p:nvPicPr>
          <p:cNvPr id="10" name="Simge" descr="home">    </p:cNvPr>
          <p:cNvPicPr>
            <a:picLocks noChangeAspect="1"/>
          </p:cNvPicPr>
          <p:nvPr/>
        </p:nvPicPr>
        <p:blipFill>
          <a:blip r:embed="rId2"/>
          <a:stretch>
            <a:fillRect/>
          </a:stretch>
        </p:blipFill>
        <p:spPr>
          <a:xfrm>
            <a:off x="3797275" y="2331720"/>
            <a:ext cx="457200" cy="457200"/>
          </a:xfrm>
          <a:prstGeom prst="rect">
            <a:avLst/>
          </a:prstGeom>
        </p:spPr>
      </p:pic>
      <p:sp>
        <p:nvSpPr>
          <p:cNvPr id="11" name="Text 6"/>
          <p:cNvSpPr txBox="1"/>
          <p:nvPr/>
        </p:nvSpPr>
        <p:spPr>
          <a:xfrm>
            <a:off x="3797275" y="2926080"/>
            <a:ext cx="1887093" cy="68580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Yeni okul seçimi</a:t>
            </a:r>
            <a:endParaRPr lang="en-US" sz="1900" dirty="0"/>
          </a:p>
        </p:txBody>
      </p:sp>
      <p:sp>
        <p:nvSpPr>
          <p:cNvPr id="12" name="Text 7"/>
          <p:cNvSpPr txBox="1"/>
          <p:nvPr/>
        </p:nvSpPr>
        <p:spPr>
          <a:xfrm>
            <a:off x="3797275" y="3703320"/>
            <a:ext cx="1887093" cy="1005840"/>
          </a:xfrm>
          <a:prstGeom prst="rect">
            <a:avLst/>
          </a:prstGeom>
          <a:noFill/>
          <a:ln/>
        </p:spPr>
        <p:txBody>
          <a:bodyPr wrap="square" lIns="0" tIns="0" rIns="0" bIns="0" rtlCol="0" anchor="t"/>
          <a:lstStyle/>
          <a:p>
            <a:pPr indent="0" marL="0">
              <a:buNone/>
            </a:pPr>
            <a:r>
              <a:rPr lang="en-US" sz="1500" dirty="0">
                <a:solidFill>
                  <a:schemeClr val="tx2"/>
                </a:solidFill>
              </a:rPr>
              <a:t>Hangi liseye gideceğini düşünmek heyecan ve belirsizlik getirir.</a:t>
            </a:r>
            <a:endParaRPr lang="en-US" sz="1500" dirty="0"/>
          </a:p>
        </p:txBody>
      </p:sp>
      <p:sp>
        <p:nvSpPr>
          <p:cNvPr id="13" name="Değişen duygular"/>
          <p:cNvSpPr/>
          <p:nvPr/>
        </p:nvSpPr>
        <p:spPr>
          <a:xfrm>
            <a:off x="6233008" y="2057400"/>
            <a:ext cx="2435733" cy="2788920"/>
          </a:xfrm>
          <a:prstGeom prst="roundRect">
            <a:avLst>
              <a:gd name="adj" fmla="val 6757"/>
            </a:avLst>
          </a:prstGeom>
          <a:solidFill>
            <a:schemeClr val="bg1"/>
          </a:solidFill>
          <a:ln/>
        </p:spPr>
      </p:sp>
      <p:pic>
        <p:nvPicPr>
          <p:cNvPr id="14" name="Simge" descr="activity">    </p:cNvPr>
          <p:cNvPicPr>
            <a:picLocks noChangeAspect="1"/>
          </p:cNvPicPr>
          <p:nvPr/>
        </p:nvPicPr>
        <p:blipFill>
          <a:blip r:embed="rId3"/>
          <a:stretch>
            <a:fillRect/>
          </a:stretch>
        </p:blipFill>
        <p:spPr>
          <a:xfrm>
            <a:off x="6507328" y="2331720"/>
            <a:ext cx="457200" cy="457200"/>
          </a:xfrm>
          <a:prstGeom prst="rect">
            <a:avLst/>
          </a:prstGeom>
        </p:spPr>
      </p:pic>
      <p:sp>
        <p:nvSpPr>
          <p:cNvPr id="15" name="Text 9"/>
          <p:cNvSpPr txBox="1"/>
          <p:nvPr/>
        </p:nvSpPr>
        <p:spPr>
          <a:xfrm>
            <a:off x="6507328" y="2926080"/>
            <a:ext cx="1887093" cy="68580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Değişen duygular</a:t>
            </a:r>
            <a:endParaRPr lang="en-US" sz="1900" dirty="0"/>
          </a:p>
        </p:txBody>
      </p:sp>
      <p:sp>
        <p:nvSpPr>
          <p:cNvPr id="16" name="Text 10"/>
          <p:cNvSpPr txBox="1"/>
          <p:nvPr/>
        </p:nvSpPr>
        <p:spPr>
          <a:xfrm>
            <a:off x="6507328" y="3703320"/>
            <a:ext cx="1887093" cy="1005840"/>
          </a:xfrm>
          <a:prstGeom prst="rect">
            <a:avLst/>
          </a:prstGeom>
          <a:noFill/>
          <a:ln/>
        </p:spPr>
        <p:txBody>
          <a:bodyPr wrap="square" lIns="0" tIns="0" rIns="0" bIns="0" rtlCol="0" anchor="t"/>
          <a:lstStyle/>
          <a:p>
            <a:pPr indent="0" marL="0">
              <a:buNone/>
            </a:pPr>
            <a:r>
              <a:rPr lang="en-US" sz="1500" dirty="0">
                <a:solidFill>
                  <a:schemeClr val="tx2"/>
                </a:solidFill>
              </a:rPr>
              <a:t>Ergenlikle birlikte duygular daha hızlı ve yoğun değişebilir.</a:t>
            </a:r>
            <a:endParaRPr lang="en-US" sz="1500" dirty="0"/>
          </a:p>
        </p:txBody>
      </p:sp>
      <p:sp>
        <p:nvSpPr>
          <p:cNvPr id="17" name="Artan beklentiler"/>
          <p:cNvSpPr/>
          <p:nvPr/>
        </p:nvSpPr>
        <p:spPr>
          <a:xfrm>
            <a:off x="8943061" y="2057400"/>
            <a:ext cx="2435733" cy="2788920"/>
          </a:xfrm>
          <a:prstGeom prst="roundRect">
            <a:avLst>
              <a:gd name="adj" fmla="val 6757"/>
            </a:avLst>
          </a:prstGeom>
          <a:solidFill>
            <a:schemeClr val="bg1"/>
          </a:solidFill>
          <a:ln/>
        </p:spPr>
      </p:sp>
      <p:pic>
        <p:nvPicPr>
          <p:cNvPr id="18" name="Simge" descr="users">    </p:cNvPr>
          <p:cNvPicPr>
            <a:picLocks noChangeAspect="1"/>
          </p:cNvPicPr>
          <p:nvPr/>
        </p:nvPicPr>
        <p:blipFill>
          <a:blip r:embed="rId4"/>
          <a:stretch>
            <a:fillRect/>
          </a:stretch>
        </p:blipFill>
        <p:spPr>
          <a:xfrm>
            <a:off x="9217381" y="2331720"/>
            <a:ext cx="457200" cy="457200"/>
          </a:xfrm>
          <a:prstGeom prst="rect">
            <a:avLst/>
          </a:prstGeom>
        </p:spPr>
      </p:pic>
      <p:sp>
        <p:nvSpPr>
          <p:cNvPr id="19" name="Text 12"/>
          <p:cNvSpPr txBox="1"/>
          <p:nvPr/>
        </p:nvSpPr>
        <p:spPr>
          <a:xfrm>
            <a:off x="9217381" y="2926080"/>
            <a:ext cx="1887093" cy="68580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Artan beklentiler</a:t>
            </a:r>
            <a:endParaRPr lang="en-US" sz="1900" dirty="0"/>
          </a:p>
        </p:txBody>
      </p:sp>
      <p:sp>
        <p:nvSpPr>
          <p:cNvPr id="20" name="Text 13"/>
          <p:cNvSpPr txBox="1"/>
          <p:nvPr/>
        </p:nvSpPr>
        <p:spPr>
          <a:xfrm>
            <a:off x="9217381" y="3703320"/>
            <a:ext cx="1887093" cy="1005840"/>
          </a:xfrm>
          <a:prstGeom prst="rect">
            <a:avLst/>
          </a:prstGeom>
          <a:noFill/>
          <a:ln/>
        </p:spPr>
        <p:txBody>
          <a:bodyPr wrap="square" lIns="0" tIns="0" rIns="0" bIns="0" rtlCol="0" anchor="t"/>
          <a:lstStyle/>
          <a:p>
            <a:pPr indent="0" marL="0">
              <a:buNone/>
            </a:pPr>
            <a:r>
              <a:rPr lang="en-US" sz="1500" dirty="0">
                <a:solidFill>
                  <a:schemeClr val="tx2"/>
                </a:solidFill>
              </a:rPr>
              <a:t>Ailenin, öğretmenlerin ve kendi beklentilerin bazen ağır gelebilir.</a:t>
            </a:r>
            <a:endParaRPr lang="en-US" sz="1500" dirty="0"/>
          </a:p>
        </p:txBody>
      </p:sp>
      <p:sp>
        <p:nvSpPr>
          <p:cNvPr id="21" name="Text 14"/>
          <p:cNvSpPr txBox="1"/>
          <p:nvPr/>
        </p:nvSpPr>
        <p:spPr>
          <a:xfrm>
            <a:off x="812902" y="5166360"/>
            <a:ext cx="10565892" cy="54864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Bu duyguları yaşamak normal. Önemli olan, onlarla ne yaptığın.</a:t>
            </a:r>
            <a:endParaRPr lang="en-US" sz="24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Motivasyonu düşüren 5 tuzak</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DİKKAT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902" y="2057400"/>
          <a:ext cx="10565892" cy="914400"/>
        </p:xfrm>
        <a:graphic>
          <a:graphicData uri="http://schemas.openxmlformats.org/drawingml/2006/table">
            <a:tbl>
              <a:tblPr/>
              <a:tblGrid>
                <a:gridCol w="2926080"/>
                <a:gridCol w="3822192"/>
                <a:gridCol w="3818534"/>
              </a:tblGrid>
              <a:tr h="566928">
                <a:tc>
                  <a:txBody>
                    <a:bodyPr/>
                    <a:lstStyle/>
                    <a:p>
                      <a:pPr indent="0" marL="0">
                        <a:buNone/>
                      </a:pPr>
                      <a:r>
                        <a:rPr lang="en-US" sz="1700" b="1" dirty="0">
                          <a:solidFill>
                            <a:schemeClr val="bg1"/>
                          </a:solidFill>
                        </a:rPr>
                        <a:t>Tuzak</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700" b="1" dirty="0">
                          <a:solidFill>
                            <a:schemeClr val="bg1"/>
                          </a:solidFill>
                        </a:rPr>
                        <a:t>İçimizdeki ses</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700" b="1" dirty="0">
                          <a:solidFill>
                            <a:schemeClr val="bg1"/>
                          </a:solidFill>
                        </a:rPr>
                        <a:t>Bunun yerine</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indent="0" marL="0">
                        <a:buNone/>
                      </a:pPr>
                      <a:r>
                        <a:rPr lang="en-US" sz="1700" b="1" dirty="0">
                          <a:solidFill>
                            <a:schemeClr val="tx1"/>
                          </a:solidFill>
                        </a:rPr>
                        <a:t>Erteleme</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“Yarın başlarım.”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“Sadece 10 dakika başlayacağım.”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700" b="1" dirty="0">
                          <a:solidFill>
                            <a:schemeClr val="tx1"/>
                          </a:solidFill>
                        </a:rPr>
                        <a:t>Kıyaslama</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“Arkadaşım benden çok net yapıyor.”</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“Dünkü hâlimden daha iyi miyim?”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700" b="1" dirty="0">
                          <a:solidFill>
                            <a:schemeClr val="tx1"/>
                          </a:solidFill>
                        </a:rPr>
                        <a:t>Mükemmeliyetçilik</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“Ya hepsini yaparım ya hiç.”</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“Bugün bir adım yeterli.”</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700" b="1" dirty="0">
                          <a:solidFill>
                            <a:schemeClr val="tx1"/>
                          </a:solidFill>
                        </a:rPr>
                        <a:t>Dikkat dağınıklığı</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“Bir bildirime bakıp döneceğim.”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“Telefon çalışırken başka odada.”</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700" b="1" dirty="0">
                          <a:solidFill>
                            <a:schemeClr val="tx1"/>
                          </a:solidFill>
                        </a:rPr>
                        <a:t>Olumsuz iç konuşma</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“Bu sınavı asla başaramam.”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“Hazırlandıkça daha iyi olacağım.”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Hedefini netleştir: SMART hedef</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HEDEF KOYMA</a:t>
            </a:r>
            <a:endParaRPr lang="en-US" sz="1400" dirty="0"/>
          </a:p>
        </p:txBody>
      </p:sp>
      <p:sp>
        <p:nvSpPr>
          <p:cNvPr id="5" name="Harf S"/>
          <p:cNvSpPr/>
          <p:nvPr/>
        </p:nvSpPr>
        <p:spPr>
          <a:xfrm>
            <a:off x="812902" y="2057400"/>
            <a:ext cx="566928" cy="566928"/>
          </a:xfrm>
          <a:prstGeom prst="roundRect">
            <a:avLst>
              <a:gd name="adj" fmla="val 29032"/>
            </a:avLst>
          </a:prstGeom>
          <a:solidFill>
            <a:schemeClr val="accent1"/>
          </a:solidFill>
          <a:ln/>
        </p:spPr>
      </p:sp>
      <p:sp>
        <p:nvSpPr>
          <p:cNvPr id="6" name="Text 3"/>
          <p:cNvSpPr txBox="1"/>
          <p:nvPr/>
        </p:nvSpPr>
        <p:spPr>
          <a:xfrm>
            <a:off x="812902" y="2057400"/>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S</a:t>
            </a:r>
            <a:endParaRPr lang="en-US" sz="2200" dirty="0"/>
          </a:p>
        </p:txBody>
      </p:sp>
      <p:sp>
        <p:nvSpPr>
          <p:cNvPr id="7" name="Text 4"/>
          <p:cNvSpPr txBox="1"/>
          <p:nvPr/>
        </p:nvSpPr>
        <p:spPr>
          <a:xfrm>
            <a:off x="1590142" y="2029968"/>
            <a:ext cx="4572000" cy="329184"/>
          </a:xfrm>
          <a:prstGeom prst="rect">
            <a:avLst/>
          </a:prstGeom>
          <a:noFill/>
          <a:ln/>
        </p:spPr>
        <p:txBody>
          <a:bodyPr wrap="square" lIns="0" tIns="0" rIns="0" bIns="0" rtlCol="0" anchor="t"/>
          <a:lstStyle/>
          <a:p>
            <a:pPr indent="0" marL="0">
              <a:buNone/>
            </a:pPr>
            <a:r>
              <a:rPr lang="en-US" sz="1800" b="1" dirty="0">
                <a:solidFill>
                  <a:schemeClr val="tx1"/>
                </a:solidFill>
              </a:rPr>
              <a:t>Belirli</a:t>
            </a:r>
            <a:endParaRPr lang="en-US" sz="1800" dirty="0"/>
          </a:p>
        </p:txBody>
      </p:sp>
      <p:sp>
        <p:nvSpPr>
          <p:cNvPr id="8" name="Text 5"/>
          <p:cNvSpPr txBox="1"/>
          <p:nvPr/>
        </p:nvSpPr>
        <p:spPr>
          <a:xfrm>
            <a:off x="1590142" y="2359152"/>
            <a:ext cx="4572000" cy="292608"/>
          </a:xfrm>
          <a:prstGeom prst="rect">
            <a:avLst/>
          </a:prstGeom>
          <a:noFill/>
          <a:ln/>
        </p:spPr>
        <p:txBody>
          <a:bodyPr wrap="square" lIns="0" tIns="0" rIns="0" bIns="0" rtlCol="0" anchor="t"/>
          <a:lstStyle/>
          <a:p>
            <a:pPr indent="0" marL="0">
              <a:buNone/>
            </a:pPr>
            <a:r>
              <a:rPr lang="en-US" sz="1500" dirty="0">
                <a:solidFill>
                  <a:schemeClr val="tx2"/>
                </a:solidFill>
              </a:rPr>
              <a:t>Tam olarak ne yapacaksın?</a:t>
            </a:r>
            <a:endParaRPr lang="en-US" sz="1500" dirty="0"/>
          </a:p>
        </p:txBody>
      </p:sp>
      <p:sp>
        <p:nvSpPr>
          <p:cNvPr id="9" name="Harf M"/>
          <p:cNvSpPr/>
          <p:nvPr/>
        </p:nvSpPr>
        <p:spPr>
          <a:xfrm>
            <a:off x="812902" y="2816352"/>
            <a:ext cx="566928" cy="566928"/>
          </a:xfrm>
          <a:prstGeom prst="roundRect">
            <a:avLst>
              <a:gd name="adj" fmla="val 29032"/>
            </a:avLst>
          </a:prstGeom>
          <a:solidFill>
            <a:schemeClr val="accent1"/>
          </a:solidFill>
          <a:ln/>
        </p:spPr>
      </p:sp>
      <p:sp>
        <p:nvSpPr>
          <p:cNvPr id="10" name="Text 7"/>
          <p:cNvSpPr txBox="1"/>
          <p:nvPr/>
        </p:nvSpPr>
        <p:spPr>
          <a:xfrm>
            <a:off x="812902" y="2816352"/>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M</a:t>
            </a:r>
            <a:endParaRPr lang="en-US" sz="2200" dirty="0"/>
          </a:p>
        </p:txBody>
      </p:sp>
      <p:sp>
        <p:nvSpPr>
          <p:cNvPr id="11" name="Text 8"/>
          <p:cNvSpPr txBox="1"/>
          <p:nvPr/>
        </p:nvSpPr>
        <p:spPr>
          <a:xfrm>
            <a:off x="1590142" y="2788920"/>
            <a:ext cx="4572000" cy="329184"/>
          </a:xfrm>
          <a:prstGeom prst="rect">
            <a:avLst/>
          </a:prstGeom>
          <a:noFill/>
          <a:ln/>
        </p:spPr>
        <p:txBody>
          <a:bodyPr wrap="square" lIns="0" tIns="0" rIns="0" bIns="0" rtlCol="0" anchor="t"/>
          <a:lstStyle/>
          <a:p>
            <a:pPr indent="0" marL="0">
              <a:buNone/>
            </a:pPr>
            <a:r>
              <a:rPr lang="en-US" sz="1800" b="1" dirty="0">
                <a:solidFill>
                  <a:schemeClr val="tx1"/>
                </a:solidFill>
              </a:rPr>
              <a:t>Ölçülebilir</a:t>
            </a:r>
            <a:endParaRPr lang="en-US" sz="1800" dirty="0"/>
          </a:p>
        </p:txBody>
      </p:sp>
      <p:sp>
        <p:nvSpPr>
          <p:cNvPr id="12" name="Text 9"/>
          <p:cNvSpPr txBox="1"/>
          <p:nvPr/>
        </p:nvSpPr>
        <p:spPr>
          <a:xfrm>
            <a:off x="1590142" y="3118104"/>
            <a:ext cx="4572000" cy="292608"/>
          </a:xfrm>
          <a:prstGeom prst="rect">
            <a:avLst/>
          </a:prstGeom>
          <a:noFill/>
          <a:ln/>
        </p:spPr>
        <p:txBody>
          <a:bodyPr wrap="square" lIns="0" tIns="0" rIns="0" bIns="0" rtlCol="0" anchor="t"/>
          <a:lstStyle/>
          <a:p>
            <a:pPr indent="0" marL="0">
              <a:buNone/>
            </a:pPr>
            <a:r>
              <a:rPr lang="en-US" sz="1500" dirty="0">
                <a:solidFill>
                  <a:schemeClr val="tx2"/>
                </a:solidFill>
              </a:rPr>
              <a:t>Başardığını nasıl anlayacaksın?</a:t>
            </a:r>
            <a:endParaRPr lang="en-US" sz="1500" dirty="0"/>
          </a:p>
        </p:txBody>
      </p:sp>
      <p:sp>
        <p:nvSpPr>
          <p:cNvPr id="13" name="Harf A"/>
          <p:cNvSpPr/>
          <p:nvPr/>
        </p:nvSpPr>
        <p:spPr>
          <a:xfrm>
            <a:off x="812902" y="3575304"/>
            <a:ext cx="566928" cy="566928"/>
          </a:xfrm>
          <a:prstGeom prst="roundRect">
            <a:avLst>
              <a:gd name="adj" fmla="val 29032"/>
            </a:avLst>
          </a:prstGeom>
          <a:solidFill>
            <a:schemeClr val="accent1"/>
          </a:solidFill>
          <a:ln/>
        </p:spPr>
      </p:sp>
      <p:sp>
        <p:nvSpPr>
          <p:cNvPr id="14" name="Text 11"/>
          <p:cNvSpPr txBox="1"/>
          <p:nvPr/>
        </p:nvSpPr>
        <p:spPr>
          <a:xfrm>
            <a:off x="812902" y="3575304"/>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A</a:t>
            </a:r>
            <a:endParaRPr lang="en-US" sz="2200" dirty="0"/>
          </a:p>
        </p:txBody>
      </p:sp>
      <p:sp>
        <p:nvSpPr>
          <p:cNvPr id="15" name="Text 12"/>
          <p:cNvSpPr txBox="1"/>
          <p:nvPr/>
        </p:nvSpPr>
        <p:spPr>
          <a:xfrm>
            <a:off x="1590142" y="3547872"/>
            <a:ext cx="4572000" cy="329184"/>
          </a:xfrm>
          <a:prstGeom prst="rect">
            <a:avLst/>
          </a:prstGeom>
          <a:noFill/>
          <a:ln/>
        </p:spPr>
        <p:txBody>
          <a:bodyPr wrap="square" lIns="0" tIns="0" rIns="0" bIns="0" rtlCol="0" anchor="t"/>
          <a:lstStyle/>
          <a:p>
            <a:pPr indent="0" marL="0">
              <a:buNone/>
            </a:pPr>
            <a:r>
              <a:rPr lang="en-US" sz="1800" b="1" dirty="0">
                <a:solidFill>
                  <a:schemeClr val="tx1"/>
                </a:solidFill>
              </a:rPr>
              <a:t>Ulaşılabilir</a:t>
            </a:r>
            <a:endParaRPr lang="en-US" sz="1800" dirty="0"/>
          </a:p>
        </p:txBody>
      </p:sp>
      <p:sp>
        <p:nvSpPr>
          <p:cNvPr id="16" name="Text 13"/>
          <p:cNvSpPr txBox="1"/>
          <p:nvPr/>
        </p:nvSpPr>
        <p:spPr>
          <a:xfrm>
            <a:off x="1590142" y="3877056"/>
            <a:ext cx="4572000" cy="292608"/>
          </a:xfrm>
          <a:prstGeom prst="rect">
            <a:avLst/>
          </a:prstGeom>
          <a:noFill/>
          <a:ln/>
        </p:spPr>
        <p:txBody>
          <a:bodyPr wrap="square" lIns="0" tIns="0" rIns="0" bIns="0" rtlCol="0" anchor="t"/>
          <a:lstStyle/>
          <a:p>
            <a:pPr indent="0" marL="0">
              <a:buNone/>
            </a:pPr>
            <a:r>
              <a:rPr lang="en-US" sz="1500" dirty="0">
                <a:solidFill>
                  <a:schemeClr val="tx2"/>
                </a:solidFill>
              </a:rPr>
              <a:t>Senin için gerçekten mümkün mü?</a:t>
            </a:r>
            <a:endParaRPr lang="en-US" sz="1500" dirty="0"/>
          </a:p>
        </p:txBody>
      </p:sp>
      <p:sp>
        <p:nvSpPr>
          <p:cNvPr id="17" name="Harf R"/>
          <p:cNvSpPr/>
          <p:nvPr/>
        </p:nvSpPr>
        <p:spPr>
          <a:xfrm>
            <a:off x="812902" y="4334256"/>
            <a:ext cx="566928" cy="566928"/>
          </a:xfrm>
          <a:prstGeom prst="roundRect">
            <a:avLst>
              <a:gd name="adj" fmla="val 29032"/>
            </a:avLst>
          </a:prstGeom>
          <a:solidFill>
            <a:schemeClr val="accent1"/>
          </a:solidFill>
          <a:ln/>
        </p:spPr>
      </p:sp>
      <p:sp>
        <p:nvSpPr>
          <p:cNvPr id="18" name="Text 15"/>
          <p:cNvSpPr txBox="1"/>
          <p:nvPr/>
        </p:nvSpPr>
        <p:spPr>
          <a:xfrm>
            <a:off x="812902" y="4334256"/>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R</a:t>
            </a:r>
            <a:endParaRPr lang="en-US" sz="2200" dirty="0"/>
          </a:p>
        </p:txBody>
      </p:sp>
      <p:sp>
        <p:nvSpPr>
          <p:cNvPr id="19" name="Text 16"/>
          <p:cNvSpPr txBox="1"/>
          <p:nvPr/>
        </p:nvSpPr>
        <p:spPr>
          <a:xfrm>
            <a:off x="1590142" y="4306824"/>
            <a:ext cx="4572000" cy="329184"/>
          </a:xfrm>
          <a:prstGeom prst="rect">
            <a:avLst/>
          </a:prstGeom>
          <a:noFill/>
          <a:ln/>
        </p:spPr>
        <p:txBody>
          <a:bodyPr wrap="square" lIns="0" tIns="0" rIns="0" bIns="0" rtlCol="0" anchor="t"/>
          <a:lstStyle/>
          <a:p>
            <a:pPr indent="0" marL="0">
              <a:buNone/>
            </a:pPr>
            <a:r>
              <a:rPr lang="en-US" sz="1800" b="1" dirty="0">
                <a:solidFill>
                  <a:schemeClr val="tx1"/>
                </a:solidFill>
              </a:rPr>
              <a:t>Anlamlı</a:t>
            </a:r>
            <a:endParaRPr lang="en-US" sz="1800" dirty="0"/>
          </a:p>
        </p:txBody>
      </p:sp>
      <p:sp>
        <p:nvSpPr>
          <p:cNvPr id="20" name="Text 17"/>
          <p:cNvSpPr txBox="1"/>
          <p:nvPr/>
        </p:nvSpPr>
        <p:spPr>
          <a:xfrm>
            <a:off x="1590142" y="4636008"/>
            <a:ext cx="4572000" cy="292608"/>
          </a:xfrm>
          <a:prstGeom prst="rect">
            <a:avLst/>
          </a:prstGeom>
          <a:noFill/>
          <a:ln/>
        </p:spPr>
        <p:txBody>
          <a:bodyPr wrap="square" lIns="0" tIns="0" rIns="0" bIns="0" rtlCol="0" anchor="t"/>
          <a:lstStyle/>
          <a:p>
            <a:pPr indent="0" marL="0">
              <a:buNone/>
            </a:pPr>
            <a:r>
              <a:rPr lang="en-US" sz="1500" dirty="0">
                <a:solidFill>
                  <a:schemeClr val="tx2"/>
                </a:solidFill>
              </a:rPr>
              <a:t>Bu hedef senin için neden önemli?</a:t>
            </a:r>
            <a:endParaRPr lang="en-US" sz="1500" dirty="0"/>
          </a:p>
        </p:txBody>
      </p:sp>
      <p:sp>
        <p:nvSpPr>
          <p:cNvPr id="21" name="Harf T"/>
          <p:cNvSpPr/>
          <p:nvPr/>
        </p:nvSpPr>
        <p:spPr>
          <a:xfrm>
            <a:off x="812902" y="5093208"/>
            <a:ext cx="566928" cy="566928"/>
          </a:xfrm>
          <a:prstGeom prst="roundRect">
            <a:avLst>
              <a:gd name="adj" fmla="val 29032"/>
            </a:avLst>
          </a:prstGeom>
          <a:solidFill>
            <a:schemeClr val="accent1"/>
          </a:solidFill>
          <a:ln/>
        </p:spPr>
      </p:sp>
      <p:sp>
        <p:nvSpPr>
          <p:cNvPr id="22" name="Text 19"/>
          <p:cNvSpPr txBox="1"/>
          <p:nvPr/>
        </p:nvSpPr>
        <p:spPr>
          <a:xfrm>
            <a:off x="812902" y="5093208"/>
            <a:ext cx="566928" cy="566928"/>
          </a:xfrm>
          <a:prstGeom prst="rect">
            <a:avLst/>
          </a:prstGeom>
          <a:noFill/>
          <a:ln/>
        </p:spPr>
        <p:txBody>
          <a:bodyPr wrap="square" lIns="0" tIns="0" rIns="0" bIns="0" rtlCol="0" anchor="ctr"/>
          <a:lstStyle/>
          <a:p>
            <a:pPr algn="ctr" indent="0" marL="0">
              <a:buNone/>
            </a:pPr>
            <a:r>
              <a:rPr lang="en-US" sz="2200" b="1" dirty="0">
                <a:solidFill>
                  <a:schemeClr val="tx1"/>
                </a:solidFill>
                <a:latin typeface="Arial" pitchFamily="34" charset="0"/>
                <a:ea typeface="Arial" pitchFamily="34" charset="-122"/>
                <a:cs typeface="Arial" pitchFamily="34" charset="-120"/>
              </a:rPr>
              <a:t>T</a:t>
            </a:r>
            <a:endParaRPr lang="en-US" sz="2200" dirty="0"/>
          </a:p>
        </p:txBody>
      </p:sp>
      <p:sp>
        <p:nvSpPr>
          <p:cNvPr id="23" name="Text 20"/>
          <p:cNvSpPr txBox="1"/>
          <p:nvPr/>
        </p:nvSpPr>
        <p:spPr>
          <a:xfrm>
            <a:off x="1590142" y="5065776"/>
            <a:ext cx="4572000" cy="329184"/>
          </a:xfrm>
          <a:prstGeom prst="rect">
            <a:avLst/>
          </a:prstGeom>
          <a:noFill/>
          <a:ln/>
        </p:spPr>
        <p:txBody>
          <a:bodyPr wrap="square" lIns="0" tIns="0" rIns="0" bIns="0" rtlCol="0" anchor="t"/>
          <a:lstStyle/>
          <a:p>
            <a:pPr indent="0" marL="0">
              <a:buNone/>
            </a:pPr>
            <a:r>
              <a:rPr lang="en-US" sz="1800" b="1" dirty="0">
                <a:solidFill>
                  <a:schemeClr val="tx1"/>
                </a:solidFill>
              </a:rPr>
              <a:t>Zamanlı</a:t>
            </a:r>
            <a:endParaRPr lang="en-US" sz="1800" dirty="0"/>
          </a:p>
        </p:txBody>
      </p:sp>
      <p:sp>
        <p:nvSpPr>
          <p:cNvPr id="24" name="Text 21"/>
          <p:cNvSpPr txBox="1"/>
          <p:nvPr/>
        </p:nvSpPr>
        <p:spPr>
          <a:xfrm>
            <a:off x="1590142" y="5394960"/>
            <a:ext cx="4572000" cy="292608"/>
          </a:xfrm>
          <a:prstGeom prst="rect">
            <a:avLst/>
          </a:prstGeom>
          <a:noFill/>
          <a:ln/>
        </p:spPr>
        <p:txBody>
          <a:bodyPr wrap="square" lIns="0" tIns="0" rIns="0" bIns="0" rtlCol="0" anchor="t"/>
          <a:lstStyle/>
          <a:p>
            <a:pPr indent="0" marL="0">
              <a:buNone/>
            </a:pPr>
            <a:r>
              <a:rPr lang="en-US" sz="1500" dirty="0">
                <a:solidFill>
                  <a:schemeClr val="tx2"/>
                </a:solidFill>
              </a:rPr>
              <a:t>Ne zamana kadar yapacaksın?</a:t>
            </a:r>
            <a:endParaRPr lang="en-US" sz="1500" dirty="0"/>
          </a:p>
        </p:txBody>
      </p:sp>
      <p:sp>
        <p:nvSpPr>
          <p:cNvPr id="25" name="Örnek hedef"/>
          <p:cNvSpPr/>
          <p:nvPr/>
        </p:nvSpPr>
        <p:spPr>
          <a:xfrm>
            <a:off x="6492240" y="2057400"/>
            <a:ext cx="4886554" cy="3611880"/>
          </a:xfrm>
          <a:prstGeom prst="roundRect">
            <a:avLst>
              <a:gd name="adj" fmla="val 4557"/>
            </a:avLst>
          </a:prstGeom>
          <a:solidFill>
            <a:schemeClr val="tx1"/>
          </a:solidFill>
          <a:ln/>
        </p:spPr>
      </p:sp>
      <p:sp>
        <p:nvSpPr>
          <p:cNvPr id="26" name="Text 23"/>
          <p:cNvSpPr txBox="1"/>
          <p:nvPr/>
        </p:nvSpPr>
        <p:spPr>
          <a:xfrm>
            <a:off x="6812280" y="2331720"/>
            <a:ext cx="4246474" cy="274320"/>
          </a:xfrm>
          <a:prstGeom prst="rect">
            <a:avLst/>
          </a:prstGeom>
          <a:noFill/>
          <a:ln/>
        </p:spPr>
        <p:txBody>
          <a:bodyPr wrap="square" lIns="0" tIns="0" rIns="0" bIns="0" rtlCol="0" anchor="t"/>
          <a:lstStyle/>
          <a:p>
            <a:pPr indent="0" marL="0">
              <a:buNone/>
            </a:pPr>
            <a:r>
              <a:rPr lang="en-US" sz="1400" b="1" spc="300" kern="0" dirty="0">
                <a:solidFill>
                  <a:schemeClr val="accent3"/>
                </a:solidFill>
              </a:rPr>
              <a:t>BELİRSİZ HEDEF</a:t>
            </a:r>
            <a:endParaRPr lang="en-US" sz="1400" dirty="0"/>
          </a:p>
        </p:txBody>
      </p:sp>
      <p:sp>
        <p:nvSpPr>
          <p:cNvPr id="27" name="Text 24"/>
          <p:cNvSpPr txBox="1"/>
          <p:nvPr/>
        </p:nvSpPr>
        <p:spPr>
          <a:xfrm>
            <a:off x="6812280" y="2651760"/>
            <a:ext cx="4246474" cy="411480"/>
          </a:xfrm>
          <a:prstGeom prst="rect">
            <a:avLst/>
          </a:prstGeom>
          <a:noFill/>
          <a:ln/>
        </p:spPr>
        <p:txBody>
          <a:bodyPr wrap="square" lIns="0" tIns="0" rIns="0" bIns="0" rtlCol="0" anchor="t"/>
          <a:lstStyle/>
          <a:p>
            <a:pPr indent="0" marL="0">
              <a:buNone/>
            </a:pPr>
            <a:r>
              <a:rPr lang="en-US" sz="1800" dirty="0">
                <a:solidFill>
                  <a:schemeClr val="accent5"/>
                </a:solidFill>
              </a:rPr>
              <a:t>“Daha çok matematik çalışacağım.”</a:t>
            </a:r>
            <a:endParaRPr lang="en-US" sz="1800" dirty="0"/>
          </a:p>
        </p:txBody>
      </p:sp>
      <p:pic>
        <p:nvPicPr>
          <p:cNvPr id="28" name="Simge" descr="bolt">    </p:cNvPr>
          <p:cNvPicPr>
            <a:picLocks noChangeAspect="1"/>
          </p:cNvPicPr>
          <p:nvPr/>
        </p:nvPicPr>
        <p:blipFill>
          <a:blip r:embed="rId1"/>
          <a:stretch>
            <a:fillRect/>
          </a:stretch>
        </p:blipFill>
        <p:spPr>
          <a:xfrm>
            <a:off x="6812280" y="3246120"/>
            <a:ext cx="365760" cy="365760"/>
          </a:xfrm>
          <a:prstGeom prst="rect">
            <a:avLst/>
          </a:prstGeom>
        </p:spPr>
      </p:pic>
      <p:sp>
        <p:nvSpPr>
          <p:cNvPr id="29" name="Text 25"/>
          <p:cNvSpPr txBox="1"/>
          <p:nvPr/>
        </p:nvSpPr>
        <p:spPr>
          <a:xfrm>
            <a:off x="6812280" y="3794760"/>
            <a:ext cx="4246474" cy="274320"/>
          </a:xfrm>
          <a:prstGeom prst="rect">
            <a:avLst/>
          </a:prstGeom>
          <a:noFill/>
          <a:ln/>
        </p:spPr>
        <p:txBody>
          <a:bodyPr wrap="square" lIns="0" tIns="0" rIns="0" bIns="0" rtlCol="0" anchor="t"/>
          <a:lstStyle/>
          <a:p>
            <a:pPr indent="0" marL="0">
              <a:buNone/>
            </a:pPr>
            <a:r>
              <a:rPr lang="en-US" sz="1400" b="1" spc="300" kern="0" dirty="0">
                <a:solidFill>
                  <a:schemeClr val="accent3"/>
                </a:solidFill>
              </a:rPr>
              <a:t>SMART HEDEF</a:t>
            </a:r>
            <a:endParaRPr lang="en-US" sz="1400" dirty="0"/>
          </a:p>
        </p:txBody>
      </p:sp>
      <p:sp>
        <p:nvSpPr>
          <p:cNvPr id="30" name="Text 26"/>
          <p:cNvSpPr txBox="1"/>
          <p:nvPr/>
        </p:nvSpPr>
        <p:spPr>
          <a:xfrm>
            <a:off x="6812280" y="4114800"/>
            <a:ext cx="4246474" cy="1280160"/>
          </a:xfrm>
          <a:prstGeom prst="rect">
            <a:avLst/>
          </a:prstGeom>
          <a:noFill/>
          <a:ln/>
        </p:spPr>
        <p:txBody>
          <a:bodyPr wrap="square" lIns="0" tIns="0" rIns="0" bIns="0" rtlCol="0" anchor="t"/>
          <a:lstStyle/>
          <a:p>
            <a:pPr indent="0" marL="0">
              <a:buNone/>
            </a:pPr>
            <a:r>
              <a:rPr lang="en-US" sz="1800" b="1" dirty="0">
                <a:solidFill>
                  <a:schemeClr val="bg1"/>
                </a:solidFill>
              </a:rPr>
              <a:t>“Bu hafta her gün 20 yeni nesil matematik sorusu çözüp yanlışlarımı deftere yazacağım.”</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Büyük hedefi küçük adımlara böl</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ADIM ADIM</a:t>
            </a:r>
            <a:endParaRPr lang="en-US" sz="1400" dirty="0"/>
          </a:p>
        </p:txBody>
      </p:sp>
      <p:sp>
        <p:nvSpPr>
          <p:cNvPr id="5" name="Bugün"/>
          <p:cNvSpPr/>
          <p:nvPr/>
        </p:nvSpPr>
        <p:spPr>
          <a:xfrm>
            <a:off x="812902" y="4206240"/>
            <a:ext cx="2490597" cy="1600200"/>
          </a:xfrm>
          <a:prstGeom prst="roundRect">
            <a:avLst>
              <a:gd name="adj" fmla="val 10286"/>
            </a:avLst>
          </a:prstGeom>
          <a:solidFill>
            <a:schemeClr val="bg1"/>
          </a:solidFill>
          <a:ln/>
        </p:spPr>
      </p:sp>
      <p:sp>
        <p:nvSpPr>
          <p:cNvPr id="6" name="Text 3"/>
          <p:cNvSpPr txBox="1"/>
          <p:nvPr/>
        </p:nvSpPr>
        <p:spPr>
          <a:xfrm>
            <a:off x="1041502" y="4434840"/>
            <a:ext cx="2033397"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Bugün</a:t>
            </a:r>
            <a:endParaRPr lang="en-US" sz="2000" dirty="0"/>
          </a:p>
        </p:txBody>
      </p:sp>
      <p:sp>
        <p:nvSpPr>
          <p:cNvPr id="7" name="Text 4"/>
          <p:cNvSpPr txBox="1"/>
          <p:nvPr/>
        </p:nvSpPr>
        <p:spPr>
          <a:xfrm>
            <a:off x="1041502" y="4846320"/>
            <a:ext cx="2033397" cy="822960"/>
          </a:xfrm>
          <a:prstGeom prst="rect">
            <a:avLst/>
          </a:prstGeom>
          <a:noFill/>
          <a:ln/>
        </p:spPr>
        <p:txBody>
          <a:bodyPr wrap="square" lIns="0" tIns="0" rIns="0" bIns="0" rtlCol="0" anchor="t"/>
          <a:lstStyle/>
          <a:p>
            <a:pPr indent="0" marL="0">
              <a:buNone/>
            </a:pPr>
            <a:r>
              <a:rPr lang="en-US" sz="1500" dirty="0">
                <a:solidFill>
                  <a:schemeClr val="tx1"/>
                </a:solidFill>
              </a:rPr>
              <a:t>Fen Bilimleri’nde bir konunun özetini çıkar, 15 soru çöz.</a:t>
            </a:r>
            <a:endParaRPr lang="en-US" sz="1500" dirty="0"/>
          </a:p>
        </p:txBody>
      </p:sp>
      <p:sp>
        <p:nvSpPr>
          <p:cNvPr id="8" name="Bu hafta"/>
          <p:cNvSpPr/>
          <p:nvPr/>
        </p:nvSpPr>
        <p:spPr>
          <a:xfrm>
            <a:off x="3504667" y="3703320"/>
            <a:ext cx="2490597" cy="2103120"/>
          </a:xfrm>
          <a:prstGeom prst="roundRect">
            <a:avLst>
              <a:gd name="adj" fmla="val 7826"/>
            </a:avLst>
          </a:prstGeom>
          <a:solidFill>
            <a:schemeClr val="accent4"/>
          </a:solidFill>
          <a:ln/>
        </p:spPr>
      </p:sp>
      <p:sp>
        <p:nvSpPr>
          <p:cNvPr id="9" name="Text 6"/>
          <p:cNvSpPr txBox="1"/>
          <p:nvPr/>
        </p:nvSpPr>
        <p:spPr>
          <a:xfrm>
            <a:off x="3733267" y="3931920"/>
            <a:ext cx="2033397"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 hafta</a:t>
            </a:r>
            <a:endParaRPr lang="en-US" sz="2000" dirty="0"/>
          </a:p>
        </p:txBody>
      </p:sp>
      <p:sp>
        <p:nvSpPr>
          <p:cNvPr id="10" name="Text 7"/>
          <p:cNvSpPr txBox="1"/>
          <p:nvPr/>
        </p:nvSpPr>
        <p:spPr>
          <a:xfrm>
            <a:off x="3733267" y="4343400"/>
            <a:ext cx="2033397" cy="822960"/>
          </a:xfrm>
          <a:prstGeom prst="rect">
            <a:avLst/>
          </a:prstGeom>
          <a:noFill/>
          <a:ln/>
        </p:spPr>
        <p:txBody>
          <a:bodyPr wrap="square" lIns="0" tIns="0" rIns="0" bIns="0" rtlCol="0" anchor="t"/>
          <a:lstStyle/>
          <a:p>
            <a:pPr indent="0" marL="0">
              <a:buNone/>
            </a:pPr>
            <a:r>
              <a:rPr lang="en-US" sz="1500" dirty="0">
                <a:solidFill>
                  <a:schemeClr val="tx1"/>
                </a:solidFill>
              </a:rPr>
              <a:t>Matematikte bir konuyu bitir, hafta sonu tekrar et.</a:t>
            </a:r>
            <a:endParaRPr lang="en-US" sz="1500" dirty="0"/>
          </a:p>
        </p:txBody>
      </p:sp>
      <p:sp>
        <p:nvSpPr>
          <p:cNvPr id="11" name="Bu ay"/>
          <p:cNvSpPr/>
          <p:nvPr/>
        </p:nvSpPr>
        <p:spPr>
          <a:xfrm>
            <a:off x="6196432" y="3200400"/>
            <a:ext cx="2490597" cy="2606040"/>
          </a:xfrm>
          <a:prstGeom prst="roundRect">
            <a:avLst>
              <a:gd name="adj" fmla="val 6609"/>
            </a:avLst>
          </a:prstGeom>
          <a:solidFill>
            <a:schemeClr val="accent3"/>
          </a:solidFill>
          <a:ln/>
        </p:spPr>
      </p:sp>
      <p:sp>
        <p:nvSpPr>
          <p:cNvPr id="12" name="Text 9"/>
          <p:cNvSpPr txBox="1"/>
          <p:nvPr/>
        </p:nvSpPr>
        <p:spPr>
          <a:xfrm>
            <a:off x="6425032" y="3429000"/>
            <a:ext cx="2033397"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Bu ay</a:t>
            </a:r>
            <a:endParaRPr lang="en-US" sz="2000" dirty="0"/>
          </a:p>
        </p:txBody>
      </p:sp>
      <p:sp>
        <p:nvSpPr>
          <p:cNvPr id="13" name="Text 10"/>
          <p:cNvSpPr txBox="1"/>
          <p:nvPr/>
        </p:nvSpPr>
        <p:spPr>
          <a:xfrm>
            <a:off x="6425032" y="3840480"/>
            <a:ext cx="2033397" cy="822960"/>
          </a:xfrm>
          <a:prstGeom prst="rect">
            <a:avLst/>
          </a:prstGeom>
          <a:noFill/>
          <a:ln/>
        </p:spPr>
        <p:txBody>
          <a:bodyPr wrap="square" lIns="0" tIns="0" rIns="0" bIns="0" rtlCol="0" anchor="t"/>
          <a:lstStyle/>
          <a:p>
            <a:pPr indent="0" marL="0">
              <a:buNone/>
            </a:pPr>
            <a:r>
              <a:rPr lang="en-US" sz="1500" dirty="0">
                <a:solidFill>
                  <a:schemeClr val="tx1"/>
                </a:solidFill>
              </a:rPr>
              <a:t>Her dersten bir deneme çöz, yanlışlarını incele.</a:t>
            </a:r>
            <a:endParaRPr lang="en-US" sz="1500" dirty="0"/>
          </a:p>
        </p:txBody>
      </p:sp>
      <p:sp>
        <p:nvSpPr>
          <p:cNvPr id="14" name="Yıl sonu"/>
          <p:cNvSpPr/>
          <p:nvPr/>
        </p:nvSpPr>
        <p:spPr>
          <a:xfrm>
            <a:off x="8888197" y="2697480"/>
            <a:ext cx="2490597" cy="3108960"/>
          </a:xfrm>
          <a:prstGeom prst="roundRect">
            <a:avLst>
              <a:gd name="adj" fmla="val 6609"/>
            </a:avLst>
          </a:prstGeom>
          <a:solidFill>
            <a:schemeClr val="accent1"/>
          </a:solidFill>
          <a:ln/>
        </p:spPr>
      </p:sp>
      <p:sp>
        <p:nvSpPr>
          <p:cNvPr id="15" name="Text 12"/>
          <p:cNvSpPr txBox="1"/>
          <p:nvPr/>
        </p:nvSpPr>
        <p:spPr>
          <a:xfrm>
            <a:off x="9116797" y="2926080"/>
            <a:ext cx="2033397" cy="36576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Yıl sonu</a:t>
            </a:r>
            <a:endParaRPr lang="en-US" sz="2000" dirty="0"/>
          </a:p>
        </p:txBody>
      </p:sp>
      <p:sp>
        <p:nvSpPr>
          <p:cNvPr id="16" name="Text 13"/>
          <p:cNvSpPr txBox="1"/>
          <p:nvPr/>
        </p:nvSpPr>
        <p:spPr>
          <a:xfrm>
            <a:off x="9116797" y="3337560"/>
            <a:ext cx="2033397" cy="822960"/>
          </a:xfrm>
          <a:prstGeom prst="rect">
            <a:avLst/>
          </a:prstGeom>
          <a:noFill/>
          <a:ln/>
        </p:spPr>
        <p:txBody>
          <a:bodyPr wrap="square" lIns="0" tIns="0" rIns="0" bIns="0" rtlCol="0" anchor="t"/>
          <a:lstStyle/>
          <a:p>
            <a:pPr indent="0" marL="0">
              <a:buNone/>
            </a:pPr>
            <a:r>
              <a:rPr lang="en-US" sz="1500" dirty="0">
                <a:solidFill>
                  <a:schemeClr val="tx1"/>
                </a:solidFill>
              </a:rPr>
              <a:t>Büyük hedefin: [hedef lise / hedef puan]</a:t>
            </a:r>
            <a:endParaRPr lang="en-US" sz="1500" dirty="0"/>
          </a:p>
        </p:txBody>
      </p:sp>
      <p:pic>
        <p:nvPicPr>
          <p:cNvPr id="17" name="Simge" descr="star">    </p:cNvPr>
          <p:cNvPicPr>
            <a:picLocks noChangeAspect="1"/>
          </p:cNvPicPr>
          <p:nvPr/>
        </p:nvPicPr>
        <p:blipFill>
          <a:blip r:embed="rId1"/>
          <a:stretch>
            <a:fillRect/>
          </a:stretch>
        </p:blipFill>
        <p:spPr>
          <a:xfrm>
            <a:off x="9116797" y="4297680"/>
            <a:ext cx="457200" cy="457200"/>
          </a:xfrm>
          <a:prstGeom prst="rect">
            <a:avLst/>
          </a:prstGeom>
        </p:spPr>
      </p:pic>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902" y="1920240"/>
            <a:ext cx="10565892" cy="2194560"/>
          </a:xfrm>
          <a:prstGeom prst="rect">
            <a:avLst/>
          </a:prstGeom>
          <a:noFill/>
          <a:ln/>
        </p:spPr>
        <p:txBody>
          <a:bodyPr wrap="square" lIns="0" tIns="0" rIns="0" bIns="0" rtlCol="0" anchor="b"/>
          <a:lstStyle/>
          <a:p>
            <a:pPr algn="l" indent="0" marL="0">
              <a:buNone/>
            </a:pPr>
            <a:r>
              <a:rPr lang="en-US" sz="5200" b="1" dirty="0">
                <a:solidFill>
                  <a:schemeClr val="tx1"/>
                </a:solidFill>
                <a:latin typeface="Arial" pitchFamily="34" charset="0"/>
                <a:ea typeface="Arial" pitchFamily="34" charset="-122"/>
                <a:cs typeface="Arial" pitchFamily="34" charset="-120"/>
              </a:rPr>
              <a:t>Motivasyon seni başlatır,</a:t>
            </a:r>
            <a:endParaRPr lang="en-US" sz="5200" dirty="0"/>
          </a:p>
          <a:p>
            <a:pPr algn="l" indent="0" marL="0">
              <a:buNone/>
            </a:pPr>
            <a:r>
              <a:rPr lang="en-US" sz="5200" b="1" dirty="0">
                <a:solidFill>
                  <a:schemeClr val="tx1"/>
                </a:solidFill>
                <a:latin typeface="Arial" pitchFamily="34" charset="0"/>
                <a:ea typeface="Arial" pitchFamily="34" charset="-122"/>
                <a:cs typeface="Arial" pitchFamily="34" charset="-120"/>
              </a:rPr>
              <a:t>alışkanlık yolda tutar.</a:t>
            </a:r>
            <a:endParaRPr lang="en-US" sz="5200" dirty="0"/>
          </a:p>
        </p:txBody>
      </p:sp>
      <p:sp>
        <p:nvSpPr>
          <p:cNvPr id="4" name="Text 1"/>
          <p:cNvSpPr txBox="1"/>
          <p:nvPr/>
        </p:nvSpPr>
        <p:spPr>
          <a:xfrm>
            <a:off x="812902" y="4389120"/>
            <a:ext cx="10565892" cy="548640"/>
          </a:xfrm>
          <a:prstGeom prst="rect">
            <a:avLst/>
          </a:prstGeom>
          <a:noFill/>
          <a:ln/>
        </p:spPr>
        <p:txBody>
          <a:bodyPr wrap="square" lIns="0" tIns="0" rIns="0" bIns="0" rtlCol="0" anchor="t"/>
          <a:lstStyle/>
          <a:p>
            <a:pPr indent="0" marL="0">
              <a:buNone/>
            </a:pPr>
            <a:r>
              <a:rPr lang="en-US" sz="2600" dirty="0">
                <a:solidFill>
                  <a:schemeClr val="tx1"/>
                </a:solidFill>
              </a:rPr>
              <a:t>Her gün aynı saatte, küçük de olsa çalışmaya başla.</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“Henüz” kelimesinin gücü</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GELİŞİM ZİHNİYETİ</a:t>
            </a:r>
            <a:endParaRPr lang="en-US" sz="1400" dirty="0"/>
          </a:p>
        </p:txBody>
      </p:sp>
      <p:sp>
        <p:nvSpPr>
          <p:cNvPr id="5" name="Text 2"/>
          <p:cNvSpPr txBox="1"/>
          <p:nvPr/>
        </p:nvSpPr>
        <p:spPr>
          <a:xfrm>
            <a:off x="812902" y="2011680"/>
            <a:ext cx="10565892" cy="685800"/>
          </a:xfrm>
          <a:prstGeom prst="rect">
            <a:avLst/>
          </a:prstGeom>
          <a:noFill/>
          <a:ln/>
        </p:spPr>
        <p:txBody>
          <a:bodyPr wrap="square" lIns="0" tIns="0" rIns="0" bIns="0" rtlCol="0" anchor="t"/>
          <a:lstStyle/>
          <a:p>
            <a:pPr indent="0" marL="0">
              <a:buNone/>
            </a:pPr>
            <a:r>
              <a:rPr lang="en-US" sz="1800" dirty="0">
                <a:solidFill>
                  <a:schemeClr val="tx2"/>
                </a:solidFill>
              </a:rPr>
              <a:t>Psikolog Carol Dweck’in çalışmaları, yeteneklerin çabayla gelişebileceğine inanmanın öğrenmeyi desteklediğini gösterir.</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902" y="2926080"/>
          <a:ext cx="10565892" cy="914400"/>
        </p:xfrm>
        <a:graphic>
          <a:graphicData uri="http://schemas.openxmlformats.org/drawingml/2006/table">
            <a:tbl>
              <a:tblPr/>
              <a:tblGrid>
                <a:gridCol w="5283403"/>
                <a:gridCol w="5283403"/>
              </a:tblGrid>
              <a:tr h="548640">
                <a:tc>
                  <a:txBody>
                    <a:bodyPr/>
                    <a:lstStyle/>
                    <a:p>
                      <a:pPr indent="0" marL="0">
                        <a:buNone/>
                      </a:pPr>
                      <a:r>
                        <a:rPr lang="en-US" sz="1700" b="1" dirty="0">
                          <a:solidFill>
                            <a:schemeClr val="bg1"/>
                          </a:solidFill>
                        </a:rPr>
                        <a:t>Sabit zihniyet der ki</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700" b="1" dirty="0">
                          <a:solidFill>
                            <a:schemeClr val="bg1"/>
                          </a:solidFill>
                        </a:rPr>
                        <a:t>Gelişim zihniyeti der ki</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tx1"/>
                    </a:solidFill>
                  </a:tcPr>
                </a:tc>
              </a:tr>
              <a:tr h="548640">
                <a:tc>
                  <a:txBody>
                    <a:bodyPr/>
                    <a:lstStyle/>
                    <a:p>
                      <a:pPr indent="0" marL="0">
                        <a:buNone/>
                      </a:pPr>
                      <a:r>
                        <a:rPr lang="en-US" sz="1700" b="1" dirty="0">
                          <a:solidFill>
                            <a:schemeClr val="tx1"/>
                          </a:solidFill>
                        </a:rPr>
                        <a:t>“Matematikte kötüyüm.”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“Matematiği henüz tam öğrenemedim.”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700" b="1" dirty="0">
                          <a:solidFill>
                            <a:schemeClr val="tx1"/>
                          </a:solidFill>
                        </a:rPr>
                        <a:t>“Bu soru çok zor, bırakıyorum.”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“Zor bir soru; başka bir yol deneyeyim.”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700" b="1" dirty="0">
                          <a:solidFill>
                            <a:schemeClr val="tx1"/>
                          </a:solidFill>
                        </a:rPr>
                        <a:t>“Hata yaptım, demek ki yeteneksizim.”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700" dirty="0">
                          <a:solidFill>
                            <a:schemeClr val="tx1"/>
                          </a:solidFill>
                        </a:rPr>
                        <a:t>“Hatam neyi çalışmam gerektiğini gösteriyor.”</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700" b="1" dirty="0">
                          <a:solidFill>
                            <a:schemeClr val="tx1"/>
                          </a:solidFill>
                        </a:rPr>
                        <a:t>“O zaten zeki.”</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700" dirty="0">
                          <a:solidFill>
                            <a:schemeClr val="tx1"/>
                          </a:solidFill>
                        </a:rPr>
                        <a:t>“Onun yönteminden ne öğrenebilirim?”</a:t>
                      </a:r>
                      <a:endParaRPr lang="en-US" sz="1700" dirty="0"/>
                    </a:p>
                  </a:txBody>
                  <a:tcPr marL="109728" marR="109728" marT="54864" marB="54864"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Kaygıyla baş etmenin 4 yolu</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SINAV KAYGISI</a:t>
            </a:r>
            <a:endParaRPr lang="en-US" sz="1400" dirty="0"/>
          </a:p>
        </p:txBody>
      </p:sp>
      <p:sp>
        <p:nvSpPr>
          <p:cNvPr id="5" name="Text 2"/>
          <p:cNvSpPr txBox="1"/>
          <p:nvPr/>
        </p:nvSpPr>
        <p:spPr>
          <a:xfrm>
            <a:off x="812902" y="2011680"/>
            <a:ext cx="10565892" cy="411480"/>
          </a:xfrm>
          <a:prstGeom prst="rect">
            <a:avLst/>
          </a:prstGeom>
          <a:noFill/>
          <a:ln/>
        </p:spPr>
        <p:txBody>
          <a:bodyPr wrap="square" lIns="0" tIns="0" rIns="0" bIns="0" rtlCol="0" anchor="t"/>
          <a:lstStyle/>
          <a:p>
            <a:pPr indent="0" marL="0">
              <a:buNone/>
            </a:pPr>
            <a:r>
              <a:rPr lang="en-US" sz="1800" dirty="0">
                <a:solidFill>
                  <a:schemeClr val="tx2"/>
                </a:solidFill>
              </a:rPr>
              <a:t>Biraz heyecan seni harekete geçirir; fazlası ise yorar ve odağını dağıtır.</a:t>
            </a:r>
            <a:endParaRPr lang="en-US" sz="1800" dirty="0"/>
          </a:p>
        </p:txBody>
      </p:sp>
      <p:sp>
        <p:nvSpPr>
          <p:cNvPr id="6" name="Nefes"/>
          <p:cNvSpPr/>
          <p:nvPr/>
        </p:nvSpPr>
        <p:spPr>
          <a:xfrm>
            <a:off x="812902" y="2651760"/>
            <a:ext cx="2435733" cy="3017520"/>
          </a:xfrm>
          <a:prstGeom prst="roundRect">
            <a:avLst>
              <a:gd name="adj" fmla="val 6757"/>
            </a:avLst>
          </a:prstGeom>
          <a:solidFill>
            <a:schemeClr val="bg1"/>
          </a:solidFill>
          <a:ln/>
        </p:spPr>
      </p:sp>
      <p:pic>
        <p:nvPicPr>
          <p:cNvPr id="7" name="Simge" descr="wind">    </p:cNvPr>
          <p:cNvPicPr>
            <a:picLocks noChangeAspect="1"/>
          </p:cNvPicPr>
          <p:nvPr/>
        </p:nvPicPr>
        <p:blipFill>
          <a:blip r:embed="rId1"/>
          <a:stretch>
            <a:fillRect/>
          </a:stretch>
        </p:blipFill>
        <p:spPr>
          <a:xfrm>
            <a:off x="1087222" y="2926080"/>
            <a:ext cx="457200" cy="457200"/>
          </a:xfrm>
          <a:prstGeom prst="rect">
            <a:avLst/>
          </a:prstGeom>
        </p:spPr>
      </p:pic>
      <p:sp>
        <p:nvSpPr>
          <p:cNvPr id="8" name="Text 4"/>
          <p:cNvSpPr txBox="1"/>
          <p:nvPr/>
        </p:nvSpPr>
        <p:spPr>
          <a:xfrm>
            <a:off x="1087222" y="352044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Nefes</a:t>
            </a:r>
            <a:endParaRPr lang="en-US" sz="1900" dirty="0"/>
          </a:p>
        </p:txBody>
      </p:sp>
      <p:sp>
        <p:nvSpPr>
          <p:cNvPr id="9" name="Text 5"/>
          <p:cNvSpPr txBox="1"/>
          <p:nvPr/>
        </p:nvSpPr>
        <p:spPr>
          <a:xfrm>
            <a:off x="1087222" y="3977640"/>
            <a:ext cx="1887093" cy="1554480"/>
          </a:xfrm>
          <a:prstGeom prst="rect">
            <a:avLst/>
          </a:prstGeom>
          <a:noFill/>
          <a:ln/>
        </p:spPr>
        <p:txBody>
          <a:bodyPr wrap="square" lIns="0" tIns="0" rIns="0" bIns="0" rtlCol="0" anchor="t"/>
          <a:lstStyle/>
          <a:p>
            <a:pPr indent="0" marL="0">
              <a:buNone/>
            </a:pPr>
            <a:r>
              <a:rPr lang="en-US" sz="1500" dirty="0">
                <a:solidFill>
                  <a:schemeClr val="tx2"/>
                </a:solidFill>
              </a:rPr>
              <a:t>Kutu nefesi: 4 sn al, 4 sn tut, 4 sn ver, 4 sn bekle. 4 kez tekrarla.</a:t>
            </a:r>
            <a:endParaRPr lang="en-US" sz="1500" dirty="0"/>
          </a:p>
        </p:txBody>
      </p:sp>
      <p:sp>
        <p:nvSpPr>
          <p:cNvPr id="10" name="Uyku"/>
          <p:cNvSpPr/>
          <p:nvPr/>
        </p:nvSpPr>
        <p:spPr>
          <a:xfrm>
            <a:off x="3522955" y="2651760"/>
            <a:ext cx="2435733" cy="3017520"/>
          </a:xfrm>
          <a:prstGeom prst="roundRect">
            <a:avLst>
              <a:gd name="adj" fmla="val 6757"/>
            </a:avLst>
          </a:prstGeom>
          <a:solidFill>
            <a:schemeClr val="bg1"/>
          </a:solidFill>
          <a:ln/>
        </p:spPr>
      </p:sp>
      <p:pic>
        <p:nvPicPr>
          <p:cNvPr id="11" name="Simge" descr="clock">    </p:cNvPr>
          <p:cNvPicPr>
            <a:picLocks noChangeAspect="1"/>
          </p:cNvPicPr>
          <p:nvPr/>
        </p:nvPicPr>
        <p:blipFill>
          <a:blip r:embed="rId2"/>
          <a:stretch>
            <a:fillRect/>
          </a:stretch>
        </p:blipFill>
        <p:spPr>
          <a:xfrm>
            <a:off x="3797275" y="2926080"/>
            <a:ext cx="457200" cy="457200"/>
          </a:xfrm>
          <a:prstGeom prst="rect">
            <a:avLst/>
          </a:prstGeom>
        </p:spPr>
      </p:pic>
      <p:sp>
        <p:nvSpPr>
          <p:cNvPr id="12" name="Text 7"/>
          <p:cNvSpPr txBox="1"/>
          <p:nvPr/>
        </p:nvSpPr>
        <p:spPr>
          <a:xfrm>
            <a:off x="3797275" y="352044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Uyku</a:t>
            </a:r>
            <a:endParaRPr lang="en-US" sz="1900" dirty="0"/>
          </a:p>
        </p:txBody>
      </p:sp>
      <p:sp>
        <p:nvSpPr>
          <p:cNvPr id="13" name="Text 8"/>
          <p:cNvSpPr txBox="1"/>
          <p:nvPr/>
        </p:nvSpPr>
        <p:spPr>
          <a:xfrm>
            <a:off x="3797275" y="3977640"/>
            <a:ext cx="1887093" cy="1554480"/>
          </a:xfrm>
          <a:prstGeom prst="rect">
            <a:avLst/>
          </a:prstGeom>
          <a:noFill/>
          <a:ln/>
        </p:spPr>
        <p:txBody>
          <a:bodyPr wrap="square" lIns="0" tIns="0" rIns="0" bIns="0" rtlCol="0" anchor="t"/>
          <a:lstStyle/>
          <a:p>
            <a:pPr indent="0" marL="0">
              <a:buNone/>
            </a:pPr>
            <a:r>
              <a:rPr lang="en-US" sz="1500" dirty="0">
                <a:solidFill>
                  <a:schemeClr val="tx2"/>
                </a:solidFill>
              </a:rPr>
              <a:t>Her gece aynı saatte yat. Senin yaş grubun için önerilen süre 8–10 saat.</a:t>
            </a:r>
            <a:endParaRPr lang="en-US" sz="1500" dirty="0"/>
          </a:p>
        </p:txBody>
      </p:sp>
      <p:sp>
        <p:nvSpPr>
          <p:cNvPr id="14" name="Hareket"/>
          <p:cNvSpPr/>
          <p:nvPr/>
        </p:nvSpPr>
        <p:spPr>
          <a:xfrm>
            <a:off x="6233008" y="2651760"/>
            <a:ext cx="2435733" cy="3017520"/>
          </a:xfrm>
          <a:prstGeom prst="roundRect">
            <a:avLst>
              <a:gd name="adj" fmla="val 6757"/>
            </a:avLst>
          </a:prstGeom>
          <a:solidFill>
            <a:schemeClr val="bg1"/>
          </a:solidFill>
          <a:ln/>
        </p:spPr>
      </p:sp>
      <p:pic>
        <p:nvPicPr>
          <p:cNvPr id="15" name="Simge" descr="bolt">    </p:cNvPr>
          <p:cNvPicPr>
            <a:picLocks noChangeAspect="1"/>
          </p:cNvPicPr>
          <p:nvPr/>
        </p:nvPicPr>
        <p:blipFill>
          <a:blip r:embed="rId3"/>
          <a:stretch>
            <a:fillRect/>
          </a:stretch>
        </p:blipFill>
        <p:spPr>
          <a:xfrm>
            <a:off x="6507328" y="2926080"/>
            <a:ext cx="457200" cy="457200"/>
          </a:xfrm>
          <a:prstGeom prst="rect">
            <a:avLst/>
          </a:prstGeom>
        </p:spPr>
      </p:pic>
      <p:sp>
        <p:nvSpPr>
          <p:cNvPr id="16" name="Text 10"/>
          <p:cNvSpPr txBox="1"/>
          <p:nvPr/>
        </p:nvSpPr>
        <p:spPr>
          <a:xfrm>
            <a:off x="6507328" y="352044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Hareket</a:t>
            </a:r>
            <a:endParaRPr lang="en-US" sz="1900" dirty="0"/>
          </a:p>
        </p:txBody>
      </p:sp>
      <p:sp>
        <p:nvSpPr>
          <p:cNvPr id="17" name="Text 11"/>
          <p:cNvSpPr txBox="1"/>
          <p:nvPr/>
        </p:nvSpPr>
        <p:spPr>
          <a:xfrm>
            <a:off x="6507328" y="3977640"/>
            <a:ext cx="1887093" cy="1554480"/>
          </a:xfrm>
          <a:prstGeom prst="rect">
            <a:avLst/>
          </a:prstGeom>
          <a:noFill/>
          <a:ln/>
        </p:spPr>
        <p:txBody>
          <a:bodyPr wrap="square" lIns="0" tIns="0" rIns="0" bIns="0" rtlCol="0" anchor="t"/>
          <a:lstStyle/>
          <a:p>
            <a:pPr indent="0" marL="0">
              <a:buNone/>
            </a:pPr>
            <a:r>
              <a:rPr lang="en-US" sz="1500" dirty="0">
                <a:solidFill>
                  <a:schemeClr val="tx2"/>
                </a:solidFill>
              </a:rPr>
              <a:t>Yürüyüş, spor ya da dans: beden rahatlarsa zihin de rahatlar.</a:t>
            </a:r>
            <a:endParaRPr lang="en-US" sz="1500" dirty="0"/>
          </a:p>
        </p:txBody>
      </p:sp>
      <p:sp>
        <p:nvSpPr>
          <p:cNvPr id="18" name="Paylaşmak"/>
          <p:cNvSpPr/>
          <p:nvPr/>
        </p:nvSpPr>
        <p:spPr>
          <a:xfrm>
            <a:off x="8943061" y="2651760"/>
            <a:ext cx="2435733" cy="3017520"/>
          </a:xfrm>
          <a:prstGeom prst="roundRect">
            <a:avLst>
              <a:gd name="adj" fmla="val 6757"/>
            </a:avLst>
          </a:prstGeom>
          <a:solidFill>
            <a:schemeClr val="bg1"/>
          </a:solidFill>
          <a:ln/>
        </p:spPr>
      </p:sp>
      <p:pic>
        <p:nvPicPr>
          <p:cNvPr id="19" name="Simge" descr="chat">    </p:cNvPr>
          <p:cNvPicPr>
            <a:picLocks noChangeAspect="1"/>
          </p:cNvPicPr>
          <p:nvPr/>
        </p:nvPicPr>
        <p:blipFill>
          <a:blip r:embed="rId4"/>
          <a:stretch>
            <a:fillRect/>
          </a:stretch>
        </p:blipFill>
        <p:spPr>
          <a:xfrm>
            <a:off x="9217381" y="2926080"/>
            <a:ext cx="457200" cy="457200"/>
          </a:xfrm>
          <a:prstGeom prst="rect">
            <a:avLst/>
          </a:prstGeom>
        </p:spPr>
      </p:pic>
      <p:sp>
        <p:nvSpPr>
          <p:cNvPr id="20" name="Text 13"/>
          <p:cNvSpPr txBox="1"/>
          <p:nvPr/>
        </p:nvSpPr>
        <p:spPr>
          <a:xfrm>
            <a:off x="9217381" y="3520440"/>
            <a:ext cx="1887093" cy="36576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Paylaşmak</a:t>
            </a:r>
            <a:endParaRPr lang="en-US" sz="1900" dirty="0"/>
          </a:p>
        </p:txBody>
      </p:sp>
      <p:sp>
        <p:nvSpPr>
          <p:cNvPr id="21" name="Text 14"/>
          <p:cNvSpPr txBox="1"/>
          <p:nvPr/>
        </p:nvSpPr>
        <p:spPr>
          <a:xfrm>
            <a:off x="9217381" y="3977640"/>
            <a:ext cx="1887093" cy="1554480"/>
          </a:xfrm>
          <a:prstGeom prst="rect">
            <a:avLst/>
          </a:prstGeom>
          <a:noFill/>
          <a:ln/>
        </p:spPr>
        <p:txBody>
          <a:bodyPr wrap="square" lIns="0" tIns="0" rIns="0" bIns="0" rtlCol="0" anchor="t"/>
          <a:lstStyle/>
          <a:p>
            <a:pPr indent="0" marL="0">
              <a:buNone/>
            </a:pPr>
            <a:r>
              <a:rPr lang="en-US" sz="1500" dirty="0">
                <a:solidFill>
                  <a:schemeClr val="tx2"/>
                </a:solidFill>
              </a:rPr>
              <a:t>Kaygın büyüdüğünde ailene, öğretmenine ya da rehber öğretmenine anlat.</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Yalnız değilsin: destek çemberin</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DESTEK</a:t>
            </a:r>
            <a:endParaRPr lang="en-US" sz="1400" dirty="0"/>
          </a:p>
        </p:txBody>
      </p:sp>
      <p:sp>
        <p:nvSpPr>
          <p:cNvPr id="5" name="Dış çember"/>
          <p:cNvSpPr/>
          <p:nvPr/>
        </p:nvSpPr>
        <p:spPr>
          <a:xfrm>
            <a:off x="950062" y="2103120"/>
            <a:ext cx="3566160" cy="3566160"/>
          </a:xfrm>
          <a:prstGeom prst="ellipse">
            <a:avLst/>
          </a:prstGeom>
          <a:solidFill>
            <a:schemeClr val="bg2"/>
          </a:solidFill>
          <a:ln/>
        </p:spPr>
      </p:sp>
      <p:sp>
        <p:nvSpPr>
          <p:cNvPr id="6" name="Orta çember"/>
          <p:cNvSpPr/>
          <p:nvPr/>
        </p:nvSpPr>
        <p:spPr>
          <a:xfrm>
            <a:off x="1590142" y="2743200"/>
            <a:ext cx="2286000" cy="2286000"/>
          </a:xfrm>
          <a:prstGeom prst="ellipse">
            <a:avLst/>
          </a:prstGeom>
          <a:solidFill>
            <a:schemeClr val="accent4"/>
          </a:solidFill>
          <a:ln/>
        </p:spPr>
      </p:sp>
      <p:sp>
        <p:nvSpPr>
          <p:cNvPr id="7" name="İç çember"/>
          <p:cNvSpPr/>
          <p:nvPr/>
        </p:nvSpPr>
        <p:spPr>
          <a:xfrm>
            <a:off x="2184502" y="3337560"/>
            <a:ext cx="1097280" cy="1097280"/>
          </a:xfrm>
          <a:prstGeom prst="ellipse">
            <a:avLst/>
          </a:prstGeom>
          <a:solidFill>
            <a:schemeClr val="accent1"/>
          </a:solidFill>
          <a:ln/>
        </p:spPr>
      </p:sp>
      <p:sp>
        <p:nvSpPr>
          <p:cNvPr id="8" name="Text 5"/>
          <p:cNvSpPr txBox="1"/>
          <p:nvPr/>
        </p:nvSpPr>
        <p:spPr>
          <a:xfrm>
            <a:off x="2184502" y="3337560"/>
            <a:ext cx="1097280" cy="1097280"/>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Sen</a:t>
            </a:r>
            <a:endParaRPr lang="en-US" sz="2400" dirty="0"/>
          </a:p>
        </p:txBody>
      </p:sp>
      <p:pic>
        <p:nvPicPr>
          <p:cNvPr id="9" name="Simge" descr="home">    </p:cNvPr>
          <p:cNvPicPr>
            <a:picLocks noChangeAspect="1"/>
          </p:cNvPicPr>
          <p:nvPr/>
        </p:nvPicPr>
        <p:blipFill>
          <a:blip r:embed="rId1"/>
          <a:stretch>
            <a:fillRect/>
          </a:stretch>
        </p:blipFill>
        <p:spPr>
          <a:xfrm>
            <a:off x="5394960" y="2148840"/>
            <a:ext cx="365760" cy="365760"/>
          </a:xfrm>
          <a:prstGeom prst="rect">
            <a:avLst/>
          </a:prstGeom>
        </p:spPr>
      </p:pic>
      <p:sp>
        <p:nvSpPr>
          <p:cNvPr id="10" name="Text 6"/>
          <p:cNvSpPr txBox="1"/>
          <p:nvPr/>
        </p:nvSpPr>
        <p:spPr>
          <a:xfrm>
            <a:off x="5943600" y="2103120"/>
            <a:ext cx="5435194" cy="347472"/>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Ailen</a:t>
            </a:r>
            <a:endParaRPr lang="en-US" sz="1900" dirty="0"/>
          </a:p>
        </p:txBody>
      </p:sp>
      <p:sp>
        <p:nvSpPr>
          <p:cNvPr id="11" name="Text 7"/>
          <p:cNvSpPr txBox="1"/>
          <p:nvPr/>
        </p:nvSpPr>
        <p:spPr>
          <a:xfrm>
            <a:off x="5943600" y="2468880"/>
            <a:ext cx="5435194" cy="411480"/>
          </a:xfrm>
          <a:prstGeom prst="rect">
            <a:avLst/>
          </a:prstGeom>
          <a:noFill/>
          <a:ln/>
        </p:spPr>
        <p:txBody>
          <a:bodyPr wrap="square" lIns="0" tIns="0" rIns="0" bIns="0" rtlCol="0" anchor="t"/>
          <a:lstStyle/>
          <a:p>
            <a:pPr indent="0" marL="0">
              <a:buNone/>
            </a:pPr>
            <a:r>
              <a:rPr lang="en-US" sz="1500" dirty="0">
                <a:solidFill>
                  <a:schemeClr val="tx2"/>
                </a:solidFill>
              </a:rPr>
              <a:t>Planını onlarla paylaş; sana nasıl destek olabileceklerini söyle.</a:t>
            </a:r>
            <a:endParaRPr lang="en-US" sz="1500" dirty="0"/>
          </a:p>
        </p:txBody>
      </p:sp>
      <p:pic>
        <p:nvPicPr>
          <p:cNvPr id="12" name="Simge" descr="book">    </p:cNvPr>
          <p:cNvPicPr>
            <a:picLocks noChangeAspect="1"/>
          </p:cNvPicPr>
          <p:nvPr/>
        </p:nvPicPr>
        <p:blipFill>
          <a:blip r:embed="rId2"/>
          <a:stretch>
            <a:fillRect/>
          </a:stretch>
        </p:blipFill>
        <p:spPr>
          <a:xfrm>
            <a:off x="5394960" y="3063240"/>
            <a:ext cx="365760" cy="365760"/>
          </a:xfrm>
          <a:prstGeom prst="rect">
            <a:avLst/>
          </a:prstGeom>
        </p:spPr>
      </p:pic>
      <p:sp>
        <p:nvSpPr>
          <p:cNvPr id="13" name="Text 8"/>
          <p:cNvSpPr txBox="1"/>
          <p:nvPr/>
        </p:nvSpPr>
        <p:spPr>
          <a:xfrm>
            <a:off x="5943600" y="3017520"/>
            <a:ext cx="5435194" cy="347472"/>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Öğretmenlerin</a:t>
            </a:r>
            <a:endParaRPr lang="en-US" sz="1900" dirty="0"/>
          </a:p>
        </p:txBody>
      </p:sp>
      <p:sp>
        <p:nvSpPr>
          <p:cNvPr id="14" name="Text 9"/>
          <p:cNvSpPr txBox="1"/>
          <p:nvPr/>
        </p:nvSpPr>
        <p:spPr>
          <a:xfrm>
            <a:off x="5943600" y="3383280"/>
            <a:ext cx="5435194" cy="411480"/>
          </a:xfrm>
          <a:prstGeom prst="rect">
            <a:avLst/>
          </a:prstGeom>
          <a:noFill/>
          <a:ln/>
        </p:spPr>
        <p:txBody>
          <a:bodyPr wrap="square" lIns="0" tIns="0" rIns="0" bIns="0" rtlCol="0" anchor="t"/>
          <a:lstStyle/>
          <a:p>
            <a:pPr indent="0" marL="0">
              <a:buNone/>
            </a:pPr>
            <a:r>
              <a:rPr lang="en-US" sz="1500" dirty="0">
                <a:solidFill>
                  <a:schemeClr val="tx2"/>
                </a:solidFill>
              </a:rPr>
              <a:t>Anlamadığın konuyu sormak zayıflık değil, güçlülüktür.</a:t>
            </a:r>
            <a:endParaRPr lang="en-US" sz="1500" dirty="0"/>
          </a:p>
        </p:txBody>
      </p:sp>
      <p:pic>
        <p:nvPicPr>
          <p:cNvPr id="15" name="Simge" descr="chat">    </p:cNvPr>
          <p:cNvPicPr>
            <a:picLocks noChangeAspect="1"/>
          </p:cNvPicPr>
          <p:nvPr/>
        </p:nvPicPr>
        <p:blipFill>
          <a:blip r:embed="rId3"/>
          <a:stretch>
            <a:fillRect/>
          </a:stretch>
        </p:blipFill>
        <p:spPr>
          <a:xfrm>
            <a:off x="5394960" y="3977640"/>
            <a:ext cx="365760" cy="365760"/>
          </a:xfrm>
          <a:prstGeom prst="rect">
            <a:avLst/>
          </a:prstGeom>
        </p:spPr>
      </p:pic>
      <p:sp>
        <p:nvSpPr>
          <p:cNvPr id="16" name="Text 10"/>
          <p:cNvSpPr txBox="1"/>
          <p:nvPr/>
        </p:nvSpPr>
        <p:spPr>
          <a:xfrm>
            <a:off x="5943600" y="3931920"/>
            <a:ext cx="5435194" cy="347472"/>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Rehber öğretmenin</a:t>
            </a:r>
            <a:endParaRPr lang="en-US" sz="1900" dirty="0"/>
          </a:p>
        </p:txBody>
      </p:sp>
      <p:sp>
        <p:nvSpPr>
          <p:cNvPr id="17" name="Text 11"/>
          <p:cNvSpPr txBox="1"/>
          <p:nvPr/>
        </p:nvSpPr>
        <p:spPr>
          <a:xfrm>
            <a:off x="5943600" y="4297680"/>
            <a:ext cx="5435194" cy="411480"/>
          </a:xfrm>
          <a:prstGeom prst="rect">
            <a:avLst/>
          </a:prstGeom>
          <a:noFill/>
          <a:ln/>
        </p:spPr>
        <p:txBody>
          <a:bodyPr wrap="square" lIns="0" tIns="0" rIns="0" bIns="0" rtlCol="0" anchor="t"/>
          <a:lstStyle/>
          <a:p>
            <a:pPr indent="0" marL="0">
              <a:buNone/>
            </a:pPr>
            <a:r>
              <a:rPr lang="en-US" sz="1500" dirty="0">
                <a:solidFill>
                  <a:schemeClr val="tx2"/>
                </a:solidFill>
              </a:rPr>
              <a:t>Hedef, tercih ve kaygı konularında kapısı her zaman açık.</a:t>
            </a:r>
            <a:endParaRPr lang="en-US" sz="1500" dirty="0"/>
          </a:p>
        </p:txBody>
      </p:sp>
      <p:pic>
        <p:nvPicPr>
          <p:cNvPr id="18" name="Simge" descr="users">    </p:cNvPr>
          <p:cNvPicPr>
            <a:picLocks noChangeAspect="1"/>
          </p:cNvPicPr>
          <p:nvPr/>
        </p:nvPicPr>
        <p:blipFill>
          <a:blip r:embed="rId4"/>
          <a:stretch>
            <a:fillRect/>
          </a:stretch>
        </p:blipFill>
        <p:spPr>
          <a:xfrm>
            <a:off x="5394960" y="4892040"/>
            <a:ext cx="365760" cy="365760"/>
          </a:xfrm>
          <a:prstGeom prst="rect">
            <a:avLst/>
          </a:prstGeom>
        </p:spPr>
      </p:pic>
      <p:sp>
        <p:nvSpPr>
          <p:cNvPr id="19" name="Text 12"/>
          <p:cNvSpPr txBox="1"/>
          <p:nvPr/>
        </p:nvSpPr>
        <p:spPr>
          <a:xfrm>
            <a:off x="5943600" y="4846320"/>
            <a:ext cx="5435194" cy="347472"/>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Arkadaşların</a:t>
            </a:r>
            <a:endParaRPr lang="en-US" sz="1900" dirty="0"/>
          </a:p>
        </p:txBody>
      </p:sp>
      <p:sp>
        <p:nvSpPr>
          <p:cNvPr id="20" name="Text 13"/>
          <p:cNvSpPr txBox="1"/>
          <p:nvPr/>
        </p:nvSpPr>
        <p:spPr>
          <a:xfrm>
            <a:off x="5943600" y="5212080"/>
            <a:ext cx="5435194" cy="411480"/>
          </a:xfrm>
          <a:prstGeom prst="rect">
            <a:avLst/>
          </a:prstGeom>
          <a:noFill/>
          <a:ln/>
        </p:spPr>
        <p:txBody>
          <a:bodyPr wrap="square" lIns="0" tIns="0" rIns="0" bIns="0" rtlCol="0" anchor="t"/>
          <a:lstStyle/>
          <a:p>
            <a:pPr indent="0" marL="0">
              <a:buNone/>
            </a:pPr>
            <a:r>
              <a:rPr lang="en-US" sz="1500" dirty="0">
                <a:solidFill>
                  <a:schemeClr val="tx2"/>
                </a:solidFill>
              </a:rPr>
              <a:t>Birlikte çalışın; birbirinizi kıyaslamak yerine destekleyin.</a:t>
            </a:r>
            <a:endParaRPr lang="en-US" sz="15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812902" y="1097280"/>
            <a:ext cx="10565892" cy="777240"/>
          </a:xfrm>
          <a:prstGeom prst="rect">
            <a:avLst/>
          </a:prstGeom>
          <a:noFill/>
          <a:ln/>
        </p:spPr>
        <p:txBody>
          <a:bodyPr wrap="square" lIns="0" tIns="0" rIns="0" bIns="0" rtlCol="0" anchor="t"/>
          <a:lstStyle/>
          <a:p>
            <a:pPr algn="l" indent="0" marL="0">
              <a:buNone/>
            </a:pPr>
            <a:r>
              <a:rPr lang="en-US" sz="3600" b="1" dirty="0">
                <a:solidFill>
                  <a:schemeClr val="tx1"/>
                </a:solidFill>
                <a:latin typeface="Arial" pitchFamily="34" charset="0"/>
                <a:ea typeface="Arial" pitchFamily="34" charset="-122"/>
                <a:cs typeface="Arial" pitchFamily="34" charset="-120"/>
              </a:rPr>
              <a:t>Gelecekteki kendine bir mektup yaz</a:t>
            </a:r>
            <a:endParaRPr lang="en-US" sz="3600" dirty="0"/>
          </a:p>
        </p:txBody>
      </p:sp>
      <p:sp>
        <p:nvSpPr>
          <p:cNvPr id="3" name="Üst başlık"/>
          <p:cNvSpPr txBox="1"/>
          <p:nvPr/>
        </p:nvSpPr>
        <p:spPr>
          <a:xfrm>
            <a:off x="812902" y="777240"/>
            <a:ext cx="7315200" cy="274320"/>
          </a:xfrm>
          <a:prstGeom prst="rect">
            <a:avLst/>
          </a:prstGeom>
          <a:noFill/>
          <a:ln/>
        </p:spPr>
        <p:txBody>
          <a:bodyPr wrap="square" lIns="0" tIns="0" rIns="0" bIns="0" rtlCol="0" anchor="ctr"/>
          <a:lstStyle/>
          <a:p>
            <a:pPr indent="0" marL="0">
              <a:buNone/>
            </a:pPr>
            <a:r>
              <a:rPr lang="en-US" sz="1400" b="1" spc="300" kern="0" dirty="0">
                <a:solidFill>
                  <a:schemeClr val="accent2"/>
                </a:solidFill>
              </a:rPr>
              <a:t>ETKİNLİK · 10 DAKİKA</a:t>
            </a:r>
            <a:endParaRPr lang="en-US" sz="1400" dirty="0"/>
          </a:p>
        </p:txBody>
      </p:sp>
      <p:sp>
        <p:nvSpPr>
          <p:cNvPr id="5" name="Soru 1"/>
          <p:cNvSpPr/>
          <p:nvPr/>
        </p:nvSpPr>
        <p:spPr>
          <a:xfrm>
            <a:off x="812902" y="2103120"/>
            <a:ext cx="3320796" cy="2148840"/>
          </a:xfrm>
          <a:prstGeom prst="roundRect">
            <a:avLst>
              <a:gd name="adj" fmla="val 7660"/>
            </a:avLst>
          </a:prstGeom>
          <a:solidFill>
            <a:schemeClr val="bg1"/>
          </a:solidFill>
          <a:ln/>
        </p:spPr>
      </p:sp>
      <p:sp>
        <p:nvSpPr>
          <p:cNvPr id="6" name="Text 3"/>
          <p:cNvSpPr txBox="1"/>
          <p:nvPr/>
        </p:nvSpPr>
        <p:spPr>
          <a:xfrm>
            <a:off x="1132942" y="23317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1</a:t>
            </a:r>
            <a:endParaRPr lang="en-US" sz="4000" dirty="0"/>
          </a:p>
        </p:txBody>
      </p:sp>
      <p:sp>
        <p:nvSpPr>
          <p:cNvPr id="7" name="Text 4"/>
          <p:cNvSpPr txBox="1"/>
          <p:nvPr/>
        </p:nvSpPr>
        <p:spPr>
          <a:xfrm>
            <a:off x="1132942" y="3063240"/>
            <a:ext cx="2680716" cy="1005840"/>
          </a:xfrm>
          <a:prstGeom prst="rect">
            <a:avLst/>
          </a:prstGeom>
          <a:noFill/>
          <a:ln/>
        </p:spPr>
        <p:txBody>
          <a:bodyPr wrap="square" lIns="0" tIns="0" rIns="0" bIns="0" rtlCol="0" anchor="t"/>
          <a:lstStyle/>
          <a:p>
            <a:pPr indent="0" marL="0">
              <a:buNone/>
            </a:pPr>
            <a:r>
              <a:rPr lang="en-US" sz="1900" b="1" dirty="0">
                <a:solidFill>
                  <a:schemeClr val="tx1"/>
                </a:solidFill>
              </a:rPr>
              <a:t>Bu yılın sonunda nerede olmak istiyorum?</a:t>
            </a:r>
            <a:endParaRPr lang="en-US" sz="1900" dirty="0"/>
          </a:p>
        </p:txBody>
      </p:sp>
      <p:sp>
        <p:nvSpPr>
          <p:cNvPr id="8" name="Soru 2"/>
          <p:cNvSpPr/>
          <p:nvPr/>
        </p:nvSpPr>
        <p:spPr>
          <a:xfrm>
            <a:off x="4435450" y="2103120"/>
            <a:ext cx="3320796" cy="2148840"/>
          </a:xfrm>
          <a:prstGeom prst="roundRect">
            <a:avLst>
              <a:gd name="adj" fmla="val 7660"/>
            </a:avLst>
          </a:prstGeom>
          <a:solidFill>
            <a:schemeClr val="bg1"/>
          </a:solidFill>
          <a:ln/>
        </p:spPr>
      </p:sp>
      <p:sp>
        <p:nvSpPr>
          <p:cNvPr id="9" name="Text 6"/>
          <p:cNvSpPr txBox="1"/>
          <p:nvPr/>
        </p:nvSpPr>
        <p:spPr>
          <a:xfrm>
            <a:off x="4755490" y="23317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4755490" y="3063240"/>
            <a:ext cx="2680716" cy="1005840"/>
          </a:xfrm>
          <a:prstGeom prst="rect">
            <a:avLst/>
          </a:prstGeom>
          <a:noFill/>
          <a:ln/>
        </p:spPr>
        <p:txBody>
          <a:bodyPr wrap="square" lIns="0" tIns="0" rIns="0" bIns="0" rtlCol="0" anchor="t"/>
          <a:lstStyle/>
          <a:p>
            <a:pPr indent="0" marL="0">
              <a:buNone/>
            </a:pPr>
            <a:r>
              <a:rPr lang="en-US" sz="1900" b="1" dirty="0">
                <a:solidFill>
                  <a:schemeClr val="tx1"/>
                </a:solidFill>
              </a:rPr>
              <a:t>Bu hedef benim için neden önemli?</a:t>
            </a:r>
            <a:endParaRPr lang="en-US" sz="1900" dirty="0"/>
          </a:p>
        </p:txBody>
      </p:sp>
      <p:sp>
        <p:nvSpPr>
          <p:cNvPr id="11" name="Soru 3"/>
          <p:cNvSpPr/>
          <p:nvPr/>
        </p:nvSpPr>
        <p:spPr>
          <a:xfrm>
            <a:off x="8057998" y="2103120"/>
            <a:ext cx="3320796" cy="2148840"/>
          </a:xfrm>
          <a:prstGeom prst="roundRect">
            <a:avLst>
              <a:gd name="adj" fmla="val 7660"/>
            </a:avLst>
          </a:prstGeom>
          <a:solidFill>
            <a:schemeClr val="bg1"/>
          </a:solidFill>
          <a:ln/>
        </p:spPr>
      </p:sp>
      <p:sp>
        <p:nvSpPr>
          <p:cNvPr id="12" name="Text 9"/>
          <p:cNvSpPr txBox="1"/>
          <p:nvPr/>
        </p:nvSpPr>
        <p:spPr>
          <a:xfrm>
            <a:off x="8378038" y="2331720"/>
            <a:ext cx="91440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3</a:t>
            </a:r>
            <a:endParaRPr lang="en-US" sz="4000" dirty="0"/>
          </a:p>
        </p:txBody>
      </p:sp>
      <p:sp>
        <p:nvSpPr>
          <p:cNvPr id="13" name="Text 10"/>
          <p:cNvSpPr txBox="1"/>
          <p:nvPr/>
        </p:nvSpPr>
        <p:spPr>
          <a:xfrm>
            <a:off x="8378038" y="3063240"/>
            <a:ext cx="2680716" cy="1005840"/>
          </a:xfrm>
          <a:prstGeom prst="rect">
            <a:avLst/>
          </a:prstGeom>
          <a:noFill/>
          <a:ln/>
        </p:spPr>
        <p:txBody>
          <a:bodyPr wrap="square" lIns="0" tIns="0" rIns="0" bIns="0" rtlCol="0" anchor="t"/>
          <a:lstStyle/>
          <a:p>
            <a:pPr indent="0" marL="0">
              <a:buNone/>
            </a:pPr>
            <a:r>
              <a:rPr lang="en-US" sz="1900" b="1" dirty="0">
                <a:solidFill>
                  <a:schemeClr val="tx1"/>
                </a:solidFill>
              </a:rPr>
              <a:t>Zorlandığımda kendime ne hatırlatmalıyım?</a:t>
            </a:r>
            <a:endParaRPr lang="en-US" sz="1900" dirty="0"/>
          </a:p>
        </p:txBody>
      </p:sp>
      <p:sp>
        <p:nvSpPr>
          <p:cNvPr id="14" name="Text 11"/>
          <p:cNvSpPr txBox="1"/>
          <p:nvPr/>
        </p:nvSpPr>
        <p:spPr>
          <a:xfrm>
            <a:off x="812902" y="4572000"/>
            <a:ext cx="10565892" cy="457200"/>
          </a:xfrm>
          <a:prstGeom prst="rect">
            <a:avLst/>
          </a:prstGeom>
          <a:noFill/>
          <a:ln/>
        </p:spPr>
        <p:txBody>
          <a:bodyPr wrap="square" lIns="0" tIns="0" rIns="0" bIns="0" rtlCol="0" anchor="t"/>
          <a:lstStyle/>
          <a:p>
            <a:pPr indent="0" marL="0">
              <a:buNone/>
            </a:pPr>
            <a:r>
              <a:rPr lang="en-US" sz="1800" dirty="0">
                <a:solidFill>
                  <a:schemeClr val="tx2"/>
                </a:solidFill>
              </a:rPr>
              <a:t>Mektubu zarfa koy ve üzerine adını yaz. Öğretmenin onu yıl sonunda sana geri verecek.</a:t>
            </a:r>
            <a:endParaRPr lang="en-US" sz="1800" dirty="0"/>
          </a:p>
        </p:txBody>
      </p:sp>
      <p:sp>
        <p:nvSpPr>
          <p:cNvPr id="25" name="Slide Number Placeholder 0"/>
          <p:cNvSpPr>
            <a:spLocks noGrp="1"/>
          </p:cNvSpPr>
          <p:nvPr>
            <p:ph type="sldNum" sz="quarter" idx="4294967295"/>
          </p:nvPr>
        </p:nvSpPr>
        <p:spPr>
          <a:xfrm>
            <a:off x="10464394" y="6217920"/>
            <a:ext cx="914400" cy="32004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812902" y="2240280"/>
            <a:ext cx="6766560" cy="2103120"/>
          </a:xfrm>
          <a:prstGeom prst="rect">
            <a:avLst/>
          </a:prstGeom>
          <a:noFill/>
          <a:ln/>
        </p:spPr>
        <p:txBody>
          <a:bodyPr wrap="square" lIns="0" tIns="0" rIns="0" bIns="0" rtlCol="0" anchor="t"/>
          <a:lstStyle/>
          <a:p>
            <a:pPr algn="l" indent="0" marL="0">
              <a:buNone/>
            </a:pPr>
            <a:r>
              <a:rPr lang="en-US" sz="4800" b="1" dirty="0">
                <a:solidFill>
                  <a:schemeClr val="bg1"/>
                </a:solidFill>
                <a:latin typeface="Arial" pitchFamily="34" charset="0"/>
                <a:ea typeface="Arial" pitchFamily="34" charset="-122"/>
                <a:cs typeface="Arial" pitchFamily="34" charset="-120"/>
              </a:rPr>
              <a:t>Küçük adımlar,</a:t>
            </a:r>
            <a:endParaRPr lang="en-US" sz="4800" dirty="0"/>
          </a:p>
          <a:p>
            <a:pPr algn="l" indent="0" marL="0">
              <a:buNone/>
            </a:pPr>
            <a:r>
              <a:rPr lang="en-US" sz="4800" b="1" dirty="0">
                <a:solidFill>
                  <a:schemeClr val="bg1"/>
                </a:solidFill>
                <a:latin typeface="Arial" pitchFamily="34" charset="0"/>
                <a:ea typeface="Arial" pitchFamily="34" charset="-122"/>
                <a:cs typeface="Arial" pitchFamily="34" charset="-120"/>
              </a:rPr>
              <a:t>büyük yol.</a:t>
            </a:r>
            <a:endParaRPr lang="en-US" sz="4800" dirty="0"/>
          </a:p>
        </p:txBody>
      </p:sp>
      <p:sp>
        <p:nvSpPr>
          <p:cNvPr id="3" name="Üst başlık"/>
          <p:cNvSpPr txBox="1"/>
          <p:nvPr/>
        </p:nvSpPr>
        <p:spPr>
          <a:xfrm>
            <a:off x="812902" y="1783080"/>
            <a:ext cx="731520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KAPANIŞ</a:t>
            </a:r>
            <a:endParaRPr lang="en-US" sz="1400" dirty="0"/>
          </a:p>
        </p:txBody>
      </p:sp>
      <p:sp>
        <p:nvSpPr>
          <p:cNvPr id="5" name="Dekor daire"/>
          <p:cNvSpPr/>
          <p:nvPr/>
        </p:nvSpPr>
        <p:spPr>
          <a:xfrm>
            <a:off x="7823606" y="1651406"/>
            <a:ext cx="3556102" cy="3556102"/>
          </a:xfrm>
          <a:prstGeom prst="ellipse">
            <a:avLst/>
          </a:prstGeom>
          <a:solidFill>
            <a:schemeClr val="accent1"/>
          </a:solidFill>
          <a:ln/>
        </p:spPr>
      </p:sp>
      <p:pic>
        <p:nvPicPr>
          <p:cNvPr id="6" name="Simge" descr="star">    </p:cNvPr>
          <p:cNvPicPr>
            <a:picLocks noChangeAspect="1"/>
          </p:cNvPicPr>
          <p:nvPr/>
        </p:nvPicPr>
        <p:blipFill>
          <a:blip r:embed="rId1"/>
          <a:stretch>
            <a:fillRect/>
          </a:stretch>
        </p:blipFill>
        <p:spPr>
          <a:xfrm>
            <a:off x="8966606" y="2794406"/>
            <a:ext cx="1270102" cy="1270102"/>
          </a:xfrm>
          <a:prstGeom prst="rect">
            <a:avLst/>
          </a:prstGeom>
        </p:spPr>
      </p:pic>
      <p:sp>
        <p:nvSpPr>
          <p:cNvPr id="7" name="Text 3"/>
          <p:cNvSpPr txBox="1"/>
          <p:nvPr/>
        </p:nvSpPr>
        <p:spPr>
          <a:xfrm>
            <a:off x="812902" y="3931920"/>
            <a:ext cx="6766560" cy="457200"/>
          </a:xfrm>
          <a:prstGeom prst="rect">
            <a:avLst/>
          </a:prstGeom>
          <a:noFill/>
          <a:ln/>
        </p:spPr>
        <p:txBody>
          <a:bodyPr wrap="square" lIns="0" tIns="0" rIns="0" bIns="0" rtlCol="0" anchor="t"/>
          <a:lstStyle/>
          <a:p>
            <a:pPr indent="0" marL="0">
              <a:buNone/>
            </a:pPr>
            <a:r>
              <a:rPr lang="en-US" sz="2400" dirty="0">
                <a:solidFill>
                  <a:schemeClr val="accent3"/>
                </a:solidFill>
              </a:rPr>
              <a:t>Bu hafta atacağın ilk küçük adım ne?</a:t>
            </a:r>
            <a:endParaRPr lang="en-US" sz="2400" dirty="0"/>
          </a:p>
        </p:txBody>
      </p:sp>
      <p:sp>
        <p:nvSpPr>
          <p:cNvPr id="8" name="Text 4"/>
          <p:cNvSpPr txBox="1"/>
          <p:nvPr/>
        </p:nvSpPr>
        <p:spPr>
          <a:xfrm>
            <a:off x="812902" y="4572000"/>
            <a:ext cx="6766560" cy="457200"/>
          </a:xfrm>
          <a:prstGeom prst="rect">
            <a:avLst/>
          </a:prstGeom>
          <a:noFill/>
          <a:ln/>
        </p:spPr>
        <p:txBody>
          <a:bodyPr wrap="square" lIns="0" tIns="0" rIns="0" bIns="0" rtlCol="0" anchor="t"/>
          <a:lstStyle/>
          <a:p>
            <a:pPr indent="0" marL="0">
              <a:buNone/>
            </a:pPr>
            <a:r>
              <a:rPr lang="en-US" sz="1800" dirty="0">
                <a:solidFill>
                  <a:schemeClr val="accent5"/>
                </a:solidFill>
              </a:rPr>
              <a:t>Sorularınızı ve düşüncelerinizi dinlemeye hazırım.</a:t>
            </a:r>
            <a:endParaRPr lang="en-US" sz="1800" dirty="0"/>
          </a:p>
        </p:txBody>
      </p:sp>
    </p:spTree>
  </p:cSld>
  <p:clrMapOvr>
    <a:masterClrMapping/>
  </p:clrMapOvr>
</p:sld>
</file>

<file path=ppt/theme/theme1.xml><?xml version="1.0" encoding="utf-8"?>
<a:theme xmlns:a="http://schemas.openxmlformats.org/drawingml/2006/main" name="Motivasyon">
  <a:themeElements>
    <a:clrScheme name="Motivasyon">
      <a:dk1>
        <a:srgbClr val="1F2A44"/>
      </a:dk1>
      <a:lt1>
        <a:srgbClr val="FBF6EE"/>
      </a:lt1>
      <a:dk2>
        <a:srgbClr val="4A4F5E"/>
      </a:dk2>
      <a:lt2>
        <a:srgbClr val="F3E8D8"/>
      </a:lt2>
      <a:accent1>
        <a:srgbClr val="E8772E"/>
      </a:accent1>
      <a:accent2>
        <a:srgbClr val="A04614"/>
      </a:accent2>
      <a:accent3>
        <a:srgbClr val="F2A25C"/>
      </a:accent3>
      <a:accent4>
        <a:srgbClr val="F6D3B3"/>
      </a:accent4>
      <a:accent5>
        <a:srgbClr val="C9D1E3"/>
      </a:accent5>
      <a:accent6>
        <a:srgbClr val="5E6372"/>
      </a:accent6>
      <a:hlink>
        <a:srgbClr val="A04614"/>
      </a:hlink>
      <a:folHlink>
        <a:srgbClr val="5E6372"/>
      </a:folHlink>
    </a:clrScheme>
    <a:fontScheme name="Motivasy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 Sınıf Motivasyon</dc:title>
  <dc:subject>PptxGenJS Presentation</dc:subject>
  <dc:creator>8. Sınıf Rehberlik</dc:creator>
  <cp:lastModifiedBy>8. Sınıf Rehberlik</cp:lastModifiedBy>
  <cp:revision>1</cp:revision>
  <dcterms:created xsi:type="dcterms:W3CDTF">2026-10-05T06:57:56Z</dcterms:created>
  <dcterms:modified xsi:type="dcterms:W3CDTF">2026-10-05T06:57:56Z</dcterms:modified>
</cp:coreProperties>
</file>