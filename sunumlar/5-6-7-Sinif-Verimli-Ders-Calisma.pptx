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çılış" id="{e6241448-16c5-37e6-1175-9a85fc4110da}">
          <p14:sldIdLst>
            <p14:sldId id="256"/>
            <p14:sldId id="257"/>
          </p14:sldIdLst>
        </p14:section>
        <p14:section name="Ortam ve plan" id="{c272ed51-89f9-f3a5-f6f9-1657ea271ea7}">
          <p14:sldIdLst>
            <p14:sldId id="258"/>
            <p14:sldId id="259"/>
          </p14:sldIdLst>
        </p14:section>
        <p14:section name="Çalışma teknikleri" id="{2a946118-2b10-e539-8022-efd4dea06fba}">
          <p14:sldIdLst>
            <p14:sldId id="260"/>
            <p14:sldId id="261"/>
            <p14:sldId id="262"/>
            <p14:sldId id="263"/>
            <p14:sldId id="264"/>
          </p14:sldIdLst>
        </p14:section>
        <p14:section name="Soru çözme ve hatalar" id="{0872c0a0-5d06-bc12-6c39-6b2ca3b92baa}">
          <p14:sldIdLst>
            <p14:sldId id="265"/>
            <p14:sldId id="266"/>
          </p14:sldIdLst>
        </p14:section>
        <p14:section name="Okuma ve sağlık" id="{79f9fa56-9e73-f41f-d2af-106fc30cc6fa}">
          <p14:sldIdLst>
            <p14:sldId id="267"/>
            <p14:sldId id="268"/>
            <p14:sldId id="269"/>
          </p14:sldIdLst>
        </p14:section>
        <p14:section name="Etkinlik ve kapanış" id="{45847ce0-2864-ccc8-c8ab-ecbaed3f7999}">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Hoş geldiniz. Bu derste ders çalışırken zamanımızı nasıl daha verimli kullanabileceğimizi konuşacağız: çalışma ortamı, günlük rutin, işe yarayan çalışma teknikleri, soru çözme, hatalardan öğrenme, kitap okuma ve sağlıklı alışkanlıklar. Sunum yaklaşık 40 dakika sürer; sonunda bir kelime bulmacası etkinliği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sorun: "Sizce hangisi daha çok işe yarar?" Ardından alttaki soruyu sorun ve birkaç öğrencinin deneyimini dinleyin. Mesaj: Ne kadar süre çalıştığımız önemli ama tek başına yeterli değil; nasıl çalıştığımız en az o kadar önemli.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evde ders çalıştıkları yeri düşünmelerini ve bu listeden kaç maddeyi sağladıklarını saymalarını isteyin. En zor maddeler genellikle telefon, tablet ve televizyondur. Bildirim gelmese bile "bir bakayım" düşüncesi dikkati böler.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Rutin, "Şimdi ne yapmalıyım?" sorusunu her gün yeniden düşünmemizi engeller ve çalışmaya başlamayı kolaylaştırır. Süreler örnektir; 5. sınıflar daha kısa, 7. sınıflar biraz daha uzun sürelerle başlayabilir. Öğrencilerden kendi rutinlerini bir kâğıda yazıp masalarının yanına asmalarını isteyebilirsiniz.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Pomodoro, adını domates şeklindeki mutfak zamanlayıcısından alır. Klasik hâli 25 dakika çalışma ve 5 dakika moladır; bu yaş grubu için 20 dakikayla başlamak daha uygundur. Zamanlayıcı olarak telefon kullanılacaksa uçak modunda kullanılmalı. Sınıfta kısa bir deneme yapabilirsiniz.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Tekrar okumak "biliyorum" hissi verir çünkü metin tanıdık gelir; ama bu, bilgiyi hatırlayabildiğimiz anlamına gelmez. Hatırlamaya çalışmak biraz zordur ve bu zorluk öğrenmeyi güçlendirir. Mini deneme: Öğrencilerden önceki slayta bakmadan çalışma ortamı için 6 maddeyi hatırlamalarını isteyin.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Öğrendiğimiz bir şeyi tekrar etmezsek zamanla unuturuz; her tekrar unutmayı yavaşlatır. Bu yüzden sınavdan önceki akşam her şeyi çalışmak yerine konuları gün gün ve hafta hafta tekrar etmek daha etkilidir. Günlük rutindeki 15 dakikalık tekrar bu takvimin ilk adımıdır.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Sınıf içi uygulama: Öğrencileri ikişerli eşleştirin. Her öğrenci son işlenen bir konuyu 2 dakikada eşine anlatsın, eşi de anlamadığı yerleri sorsun. Ardından roller değişsin. Evde aileye, kardeşe, hatta oyuncaklara anlatarak da yapılabilir.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Zihin haritası, bir konuyu ortadan dışarıya doğru dallara ayırarak gösterir; ana fikirleri ve aralarındaki bağlantıları bir bakışta görmeyi sağlar. Tahtada öğrencilerle birlikte bir zihin haritası çizin. Örnekteki harita bu sunumun kendisidir: Öğrenciler dersin sonunda kendi haritalarını çizerek özet çıkarabilir.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Tahtaya örnek bir soru yansıtıp 4 adımı birlikte uygulayın: [örnek soru]. "Değildir", "yanlıştır", "en az" gibi önemli kelimelerin altını çizmeyi vurgulayın. Takıldıkları bir soruda uzun süre kalmak yerine işaretleyip geçmelerini, sonra geri dönmelerini önerin.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Yanlış defteri, hataları öğrenme fırsatına çevirir. Her yanlışı yazmak gerekmez; özellikle "bunu biliyordum ama yanlış yaptım" denilen soruları yazmak yeterli. Tekrar sütunu, aralıklı tekrar slaytıyla bağlantılıdır. Öğrencilere bir sonraki dersten itibaren küçük bir yanlış defteri tutmalarını önerin.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Düzenli okumak kelime dağarcığını geliştirir ve tüm derslerde soruları daha kolay anlamaya yardımcı olur. Öğrencilere en son okudukları kitabı sorun ve birkaç kitap önerisi paylaşmalarını isteyin. Okul ya da sınıf kütüphanesini hatırlatın: [kütüphane bilgisi].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Uykunun öğrenme ve dikkat için önemini anlatın. Bu yaş grubu (6–13 yaş) için önerilen uyku süresi 9–11 saattir. Öğrencilere bu hafta yatış saatlerini sabitlemeyi deneyip deneyemeyeceklerini ve yatmadan önce ekranı ne zaman kapattıklarını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 bir duraklama slaytı. Öğrencilere sorun: "Hafta sonu 5 saat mi, her gün yarım saat mi?" Her gün düzenli çalışmanın hem aralıklı tekrarı kendiliğinden sağladığını hem de çalışmayı bir alışkanlığa dönüştürdüğünü vurgulayın.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Kelime bulmacası çalışma kâğıdını dağıtın (Verimli-Ders-Calisma-Kelime-Bulmacasi.pdf). 1. sayfada bulmaca, 2. sayfada kelimelerle tamamlanacak cümleler var; 3. sayfa cevap anahtarıdır ve öğrencilere dağıtılmamalıdır. 5. sınıflar için yalnızca bulmacayı, 6 ve 7. sınıflar için bulmacayla birlikte cümle tamamlama bölümünü kullanabilirsiniz.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öğrenciye küçük bir kâğıt (çıkış kartı) verin ve üç soruyu yanıtlamalarını isteyin. Kartları toplayıp bir hafta sonra kısa bir sınıf sohbetiyle "Kim hangi tekniği denedi, nasıl geçti?" diye takip edin. Sorular ve paylaşımlarla dersi kapatın.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ERIK_ACIK">
    <p:bg>
      <p:bgPr>
        <a:solidFill>
          <a:srgbClr val="F5F7F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rtlCol="0"/>
          <a:lstStyle>
            <a:lvl1pPr algn="l" indent="0" marL="0">
              <a:buNone/>
              <a:defRPr lang="en-US" sz="3600" b="1" dirty="0">
                <a:solidFill>
                  <a:schemeClr val="tx1"/>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3" name="Text 0"/>
          <p:cNvSpPr txBox="1"/>
          <p:nvPr/>
        </p:nvSpPr>
        <p:spPr>
          <a:xfrm>
            <a:off x="812902" y="6217920"/>
            <a:ext cx="7315200" cy="320040"/>
          </a:xfrm>
          <a:prstGeom prst="rect">
            <a:avLst/>
          </a:prstGeom>
          <a:noFill/>
          <a:ln/>
        </p:spPr>
        <p:txBody>
          <a:bodyPr wrap="square" lIns="0" tIns="0" rIns="0" bIns="0" rtlCol="0" anchor="ctr"/>
          <a:lstStyle/>
          <a:p>
            <a:pPr indent="0" marL="0">
              <a:buNone/>
            </a:pPr>
            <a:r>
              <a:rPr lang="en-US" sz="1200" dirty="0">
                <a:solidFill>
                  <a:schemeClr val="accent6"/>
                </a:solidFill>
              </a:rPr>
              <a:t>Verimli Ders Çalışma · 5, 6 ve 7. Sınıflar</a:t>
            </a:r>
            <a:endParaRPr lang="en-US" sz="12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ERIK_IKINCI">
    <p:bg>
      <p:bgPr>
        <a:solidFill>
          <a:srgbClr val="E3EDE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rtlCol="0"/>
          <a:lstStyle>
            <a:lvl1pPr algn="l" indent="0" marL="0">
              <a:buNone/>
              <a:defRPr lang="en-US" sz="3600" b="1" dirty="0">
                <a:solidFill>
                  <a:schemeClr val="tx1"/>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3" name="Text 0"/>
          <p:cNvSpPr txBox="1"/>
          <p:nvPr/>
        </p:nvSpPr>
        <p:spPr>
          <a:xfrm>
            <a:off x="812902" y="6217920"/>
            <a:ext cx="7315200" cy="320040"/>
          </a:xfrm>
          <a:prstGeom prst="rect">
            <a:avLst/>
          </a:prstGeom>
          <a:noFill/>
          <a:ln/>
        </p:spPr>
        <p:txBody>
          <a:bodyPr wrap="square" lIns="0" tIns="0" rIns="0" bIns="0" rtlCol="0" anchor="ctr"/>
          <a:lstStyle/>
          <a:p>
            <a:pPr indent="0" marL="0">
              <a:buNone/>
            </a:pPr>
            <a:r>
              <a:rPr lang="en-US" sz="1200" dirty="0">
                <a:solidFill>
                  <a:schemeClr val="accent6"/>
                </a:solidFill>
              </a:rPr>
              <a:t>Verimli Ders Çalışma · 5, 6 ve 7. Sınıflar</a:t>
            </a:r>
            <a:endParaRPr lang="en-US" sz="12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YU">
    <p:bg>
      <p:bgPr>
        <a:solidFill>
          <a:srgbClr val="1632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902" y="2240280"/>
            <a:ext cx="6766560" cy="2103120"/>
          </a:xfrm>
          <a:prstGeom prst="rect">
            <a:avLst/>
          </a:prstGeom>
          <a:noFill/>
          <a:ln/>
        </p:spPr>
        <p:txBody>
          <a:bodyPr wrap="square" rtlCol="0"/>
          <a:lstStyle>
            <a:lvl1pPr algn="l" indent="0" marL="0">
              <a:buNone/>
              <a:defRPr lang="en-US" sz="4800" b="1" dirty="0">
                <a:solidFill>
                  <a:schemeClr val="bg1"/>
                </a:solidFill>
                <a:latin typeface="Arial" pitchFamily="34" charset="0"/>
                <a:ea typeface="Arial" pitchFamily="34" charset="-122"/>
                <a:cs typeface="Arial" pitchFamily="34" charset="-120"/>
              </a:defRPr>
            </a:lvl1pPr>
          </a:lstStyle>
          <a:p>
            <a:pPr algn="l" indent="0" marL="0">
              <a:buNone/>
            </a:pPr>
            <a:endParaRPr lang="en-US" sz="4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URGU">
    <p:bg>
      <p:bgPr>
        <a:solidFill>
          <a:srgbClr val="F4C54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902" y="1920240"/>
            <a:ext cx="10565892" cy="2194560"/>
          </a:xfrm>
          <a:prstGeom prst="rect">
            <a:avLst/>
          </a:prstGeom>
          <a:noFill/>
          <a:ln/>
        </p:spPr>
        <p:txBody>
          <a:bodyPr wrap="square" rtlCol="0"/>
          <a:lstStyle>
            <a:lvl1pPr algn="l" indent="0" marL="0">
              <a:buNone/>
              <a:defRPr lang="en-US" sz="5200" b="1" dirty="0">
                <a:solidFill>
                  <a:schemeClr val="tx1"/>
                </a:solidFill>
                <a:latin typeface="Arial" pitchFamily="34" charset="0"/>
                <a:ea typeface="Arial" pitchFamily="34" charset="-122"/>
                <a:cs typeface="Arial" pitchFamily="34" charset="-120"/>
              </a:defRPr>
            </a:lvl1pPr>
          </a:lstStyle>
          <a:p>
            <a:pPr algn="l" indent="0" marL="0">
              <a:buNone/>
            </a:pPr>
            <a:endParaRPr lang="en-US" sz="5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12902" y="2240280"/>
            <a:ext cx="6766560" cy="2103120"/>
          </a:xfrm>
          <a:prstGeom prst="rect">
            <a:avLst/>
          </a:prstGeom>
          <a:noFill/>
          <a:ln/>
        </p:spPr>
        <p:txBody>
          <a:bodyPr wrap="square" lIns="0" tIns="0" rIns="0" bIns="0" rtlCol="0" anchor="t"/>
          <a:lstStyle/>
          <a:p>
            <a:pPr algn="l" indent="0" marL="0">
              <a:buNone/>
            </a:pPr>
            <a:r>
              <a:rPr lang="en-US" sz="4800" b="1" dirty="0">
                <a:solidFill>
                  <a:schemeClr val="bg1"/>
                </a:solidFill>
                <a:latin typeface="Arial" pitchFamily="34" charset="0"/>
                <a:ea typeface="Arial" pitchFamily="34" charset="-122"/>
                <a:cs typeface="Arial" pitchFamily="34" charset="-120"/>
              </a:rPr>
              <a:t>Verimli Ders</a:t>
            </a:r>
            <a:endParaRPr lang="en-US" sz="4800" dirty="0"/>
          </a:p>
          <a:p>
            <a:pPr algn="l" indent="0" marL="0">
              <a:buNone/>
            </a:pPr>
            <a:r>
              <a:rPr lang="en-US" sz="4800" b="1" dirty="0">
                <a:solidFill>
                  <a:schemeClr val="bg1"/>
                </a:solidFill>
                <a:latin typeface="Arial" pitchFamily="34" charset="0"/>
                <a:ea typeface="Arial" pitchFamily="34" charset="-122"/>
                <a:cs typeface="Arial" pitchFamily="34" charset="-120"/>
              </a:rPr>
              <a:t>Çalışma</a:t>
            </a:r>
            <a:endParaRPr lang="en-US" sz="4800" dirty="0"/>
          </a:p>
        </p:txBody>
      </p:sp>
      <p:sp>
        <p:nvSpPr>
          <p:cNvPr id="3" name="Üst başlık"/>
          <p:cNvSpPr txBox="1"/>
          <p:nvPr/>
        </p:nvSpPr>
        <p:spPr>
          <a:xfrm>
            <a:off x="812902" y="1783080"/>
            <a:ext cx="7315200" cy="274320"/>
          </a:xfrm>
          <a:prstGeom prst="rect">
            <a:avLst/>
          </a:prstGeom>
          <a:noFill/>
          <a:ln/>
        </p:spPr>
        <p:txBody>
          <a:bodyPr wrap="square" lIns="0" tIns="0" rIns="0" bIns="0" rtlCol="0" anchor="ctr"/>
          <a:lstStyle/>
          <a:p>
            <a:pPr indent="0" marL="0">
              <a:buNone/>
            </a:pPr>
            <a:r>
              <a:rPr lang="en-US" sz="1400" b="1" spc="300" kern="0" dirty="0">
                <a:solidFill>
                  <a:schemeClr val="accent3"/>
                </a:solidFill>
              </a:rPr>
              <a:t>5, 6 VE 7. SINIFLAR · REHBERLİK SAATİ</a:t>
            </a:r>
            <a:endParaRPr lang="en-US" sz="1400" dirty="0"/>
          </a:p>
        </p:txBody>
      </p:sp>
      <p:sp>
        <p:nvSpPr>
          <p:cNvPr id="5" name="Dekor kare"/>
          <p:cNvSpPr/>
          <p:nvPr/>
        </p:nvSpPr>
        <p:spPr>
          <a:xfrm rot="360000">
            <a:off x="7823606" y="1651406"/>
            <a:ext cx="3556102" cy="3556102"/>
          </a:xfrm>
          <a:prstGeom prst="roundRect">
            <a:avLst>
              <a:gd name="adj" fmla="val 6428"/>
            </a:avLst>
          </a:prstGeom>
          <a:solidFill>
            <a:schemeClr val="accent1"/>
          </a:solidFill>
          <a:ln/>
        </p:spPr>
      </p:sp>
      <p:pic>
        <p:nvPicPr>
          <p:cNvPr id="6" name="Simge" descr="book">    </p:cNvPr>
          <p:cNvPicPr>
            <a:picLocks noChangeAspect="1"/>
          </p:cNvPicPr>
          <p:nvPr/>
        </p:nvPicPr>
        <p:blipFill>
          <a:blip r:embed="rId1"/>
          <a:stretch>
            <a:fillRect/>
          </a:stretch>
        </p:blipFill>
        <p:spPr>
          <a:xfrm>
            <a:off x="8966606" y="2794406"/>
            <a:ext cx="1270102" cy="1270102"/>
          </a:xfrm>
          <a:prstGeom prst="rect">
            <a:avLst/>
          </a:prstGeom>
        </p:spPr>
      </p:pic>
      <p:sp>
        <p:nvSpPr>
          <p:cNvPr id="7" name="Text 3"/>
          <p:cNvSpPr txBox="1"/>
          <p:nvPr/>
        </p:nvSpPr>
        <p:spPr>
          <a:xfrm>
            <a:off x="812902" y="3931920"/>
            <a:ext cx="6766560" cy="457200"/>
          </a:xfrm>
          <a:prstGeom prst="rect">
            <a:avLst/>
          </a:prstGeom>
          <a:noFill/>
          <a:ln/>
        </p:spPr>
        <p:txBody>
          <a:bodyPr wrap="square" lIns="0" tIns="0" rIns="0" bIns="0" rtlCol="0" anchor="t"/>
          <a:lstStyle/>
          <a:p>
            <a:pPr indent="0" marL="0">
              <a:buNone/>
            </a:pPr>
            <a:r>
              <a:rPr lang="en-US" sz="2000" dirty="0">
                <a:solidFill>
                  <a:schemeClr val="accent5"/>
                </a:solidFill>
              </a:rPr>
              <a:t>Daha çok değil, daha akıllıca çalışmanın yolları.</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Çok çalışmak mı, doğru çalışmak mı?</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ISINMA</a:t>
            </a:r>
            <a:endParaRPr lang="en-US" sz="1400" dirty="0"/>
          </a:p>
        </p:txBody>
      </p:sp>
      <p:sp>
        <p:nvSpPr>
          <p:cNvPr id="5" name="Saatlerce masada oturmak"/>
          <p:cNvSpPr/>
          <p:nvPr/>
        </p:nvSpPr>
        <p:spPr>
          <a:xfrm>
            <a:off x="812902" y="2103120"/>
            <a:ext cx="5122926" cy="2377440"/>
          </a:xfrm>
          <a:prstGeom prst="roundRect">
            <a:avLst>
              <a:gd name="adj" fmla="val 6923"/>
            </a:avLst>
          </a:prstGeom>
          <a:solidFill>
            <a:schemeClr val="bg1"/>
          </a:solidFill>
          <a:ln/>
        </p:spPr>
      </p:sp>
      <p:sp>
        <p:nvSpPr>
          <p:cNvPr id="6" name="Text 3"/>
          <p:cNvSpPr txBox="1"/>
          <p:nvPr/>
        </p:nvSpPr>
        <p:spPr>
          <a:xfrm>
            <a:off x="1132942" y="2377440"/>
            <a:ext cx="4482846" cy="411480"/>
          </a:xfrm>
          <a:prstGeom prst="rect">
            <a:avLst/>
          </a:prstGeom>
          <a:noFill/>
          <a:ln/>
        </p:spPr>
        <p:txBody>
          <a:bodyPr wrap="square" lIns="0" tIns="0" rIns="0" bIns="0" rtlCol="0" anchor="t"/>
          <a:lstStyle/>
          <a:p>
            <a:pPr indent="0" marL="0">
              <a:buNone/>
            </a:pPr>
            <a:r>
              <a:rPr lang="en-US" sz="2100" b="1" dirty="0">
                <a:solidFill>
                  <a:schemeClr val="tx1"/>
                </a:solidFill>
                <a:latin typeface="Arial" pitchFamily="34" charset="0"/>
                <a:ea typeface="Arial" pitchFamily="34" charset="-122"/>
                <a:cs typeface="Arial" pitchFamily="34" charset="-120"/>
              </a:rPr>
              <a:t>Saatlerce masada oturmak</a:t>
            </a:r>
            <a:endParaRPr lang="en-US" sz="2100" dirty="0"/>
          </a:p>
        </p:txBody>
      </p:sp>
      <p:sp>
        <p:nvSpPr>
          <p:cNvPr id="7" name="Text 4"/>
          <p:cNvSpPr txBox="1"/>
          <p:nvPr/>
        </p:nvSpPr>
        <p:spPr>
          <a:xfrm>
            <a:off x="1132942" y="2926080"/>
            <a:ext cx="4482846" cy="13716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2"/>
                </a:solidFill>
              </a:rPr>
              <a:t>Televizyon açık, telefon yanında.</a:t>
            </a:r>
            <a:endParaRPr lang="en-US" sz="1700" dirty="0"/>
          </a:p>
          <a:p>
            <a:pPr marL="342900" indent="-342900">
              <a:spcAft>
                <a:spcPts val="600"/>
              </a:spcAft>
              <a:buSzPct val="100000"/>
              <a:buChar char="•"/>
            </a:pPr>
            <a:r>
              <a:rPr lang="en-US" sz="1700" dirty="0">
                <a:solidFill>
                  <a:schemeClr val="tx2"/>
                </a:solidFill>
              </a:rPr>
              <a:t>Aynı sayfayı tekrar tekrar okumak.</a:t>
            </a:r>
            <a:endParaRPr lang="en-US" sz="1700" dirty="0"/>
          </a:p>
          <a:p>
            <a:pPr marL="342900" indent="-342900">
              <a:spcAft>
                <a:spcPts val="600"/>
              </a:spcAft>
              <a:buSzPct val="100000"/>
              <a:buChar char="•"/>
            </a:pPr>
            <a:r>
              <a:rPr lang="en-US" sz="1700" dirty="0">
                <a:solidFill>
                  <a:schemeClr val="tx2"/>
                </a:solidFill>
              </a:rPr>
              <a:t>Çok yorgunluk, akılda kalan az.</a:t>
            </a:r>
            <a:endParaRPr lang="en-US" sz="1700" dirty="0"/>
          </a:p>
        </p:txBody>
      </p:sp>
      <p:sp>
        <p:nvSpPr>
          <p:cNvPr id="8" name="Odaklı ve planlı çalışmak"/>
          <p:cNvSpPr/>
          <p:nvPr/>
        </p:nvSpPr>
        <p:spPr>
          <a:xfrm>
            <a:off x="6255868" y="2103120"/>
            <a:ext cx="5122926" cy="2377440"/>
          </a:xfrm>
          <a:prstGeom prst="roundRect">
            <a:avLst>
              <a:gd name="adj" fmla="val 6923"/>
            </a:avLst>
          </a:prstGeom>
          <a:solidFill>
            <a:schemeClr val="accent1"/>
          </a:solidFill>
          <a:ln/>
        </p:spPr>
      </p:sp>
      <p:sp>
        <p:nvSpPr>
          <p:cNvPr id="9" name="Text 6"/>
          <p:cNvSpPr txBox="1"/>
          <p:nvPr/>
        </p:nvSpPr>
        <p:spPr>
          <a:xfrm>
            <a:off x="6575908" y="2377440"/>
            <a:ext cx="4482846" cy="411480"/>
          </a:xfrm>
          <a:prstGeom prst="rect">
            <a:avLst/>
          </a:prstGeom>
          <a:noFill/>
          <a:ln/>
        </p:spPr>
        <p:txBody>
          <a:bodyPr wrap="square" lIns="0" tIns="0" rIns="0" bIns="0" rtlCol="0" anchor="t"/>
          <a:lstStyle/>
          <a:p>
            <a:pPr indent="0" marL="0">
              <a:buNone/>
            </a:pPr>
            <a:r>
              <a:rPr lang="en-US" sz="2100" b="1" dirty="0">
                <a:solidFill>
                  <a:schemeClr val="tx1"/>
                </a:solidFill>
                <a:latin typeface="Arial" pitchFamily="34" charset="0"/>
                <a:ea typeface="Arial" pitchFamily="34" charset="-122"/>
                <a:cs typeface="Arial" pitchFamily="34" charset="-120"/>
              </a:rPr>
              <a:t>Odaklı ve planlı çalışmak</a:t>
            </a:r>
            <a:endParaRPr lang="en-US" sz="2100" dirty="0"/>
          </a:p>
        </p:txBody>
      </p:sp>
      <p:sp>
        <p:nvSpPr>
          <p:cNvPr id="10" name="Text 7"/>
          <p:cNvSpPr txBox="1"/>
          <p:nvPr/>
        </p:nvSpPr>
        <p:spPr>
          <a:xfrm>
            <a:off x="6575908" y="2926080"/>
            <a:ext cx="4482846" cy="13716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1"/>
                </a:solidFill>
              </a:rPr>
              <a:t>Kısa ve dikkat dağıtıcısız oturumlar.</a:t>
            </a:r>
            <a:endParaRPr lang="en-US" sz="1700" dirty="0"/>
          </a:p>
          <a:p>
            <a:pPr marL="342900" indent="-342900">
              <a:spcAft>
                <a:spcPts val="600"/>
              </a:spcAft>
              <a:buSzPct val="100000"/>
              <a:buChar char="•"/>
            </a:pPr>
            <a:r>
              <a:rPr lang="en-US" sz="1700" dirty="0">
                <a:solidFill>
                  <a:schemeClr val="tx1"/>
                </a:solidFill>
              </a:rPr>
              <a:t>Kendini test etmek, soru çözmek.</a:t>
            </a:r>
            <a:endParaRPr lang="en-US" sz="1700" dirty="0"/>
          </a:p>
          <a:p>
            <a:pPr marL="342900" indent="-342900">
              <a:spcAft>
                <a:spcPts val="600"/>
              </a:spcAft>
              <a:buSzPct val="100000"/>
              <a:buChar char="•"/>
            </a:pPr>
            <a:r>
              <a:rPr lang="en-US" sz="1700" dirty="0">
                <a:solidFill>
                  <a:schemeClr val="tx1"/>
                </a:solidFill>
              </a:rPr>
              <a:t>Daha az süre, daha kalıcı bilgi.</a:t>
            </a:r>
            <a:endParaRPr lang="en-US" sz="1700" dirty="0"/>
          </a:p>
        </p:txBody>
      </p:sp>
      <p:sp>
        <p:nvSpPr>
          <p:cNvPr id="11" name="Text 8"/>
          <p:cNvSpPr txBox="1"/>
          <p:nvPr/>
        </p:nvSpPr>
        <p:spPr>
          <a:xfrm>
            <a:off x="812902" y="4800600"/>
            <a:ext cx="10565892" cy="457200"/>
          </a:xfrm>
          <a:prstGeom prst="rect">
            <a:avLst/>
          </a:prstGeom>
          <a:noFill/>
          <a:ln/>
        </p:spPr>
        <p:txBody>
          <a:bodyPr wrap="square" lIns="0" tIns="0" rIns="0" bIns="0" rtlCol="0" anchor="t"/>
          <a:lstStyle/>
          <a:p>
            <a:pPr indent="0" marL="0">
              <a:buNone/>
            </a:pPr>
            <a:r>
              <a:rPr lang="en-US" sz="2000" dirty="0">
                <a:solidFill>
                  <a:schemeClr val="tx2"/>
                </a:solidFill>
              </a:rPr>
              <a:t>Sen en son ne zaman “Çok çalıştım ama aklımda kalmadı.” dedin?</a:t>
            </a:r>
            <a:endParaRPr lang="en-US" sz="20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Çalışma ortamını hazırla</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HAZIRLIK</a:t>
            </a:r>
            <a:endParaRPr lang="en-US" sz="1400" dirty="0"/>
          </a:p>
        </p:txBody>
      </p:sp>
      <p:sp>
        <p:nvSpPr>
          <p:cNvPr id="5" name="Telefon ve tablet başka odada"/>
          <p:cNvSpPr/>
          <p:nvPr/>
        </p:nvSpPr>
        <p:spPr>
          <a:xfrm>
            <a:off x="812902" y="2057400"/>
            <a:ext cx="5122926" cy="731520"/>
          </a:xfrm>
          <a:prstGeom prst="roundRect">
            <a:avLst>
              <a:gd name="adj" fmla="val 22500"/>
            </a:avLst>
          </a:prstGeom>
          <a:solidFill>
            <a:schemeClr val="bg2"/>
          </a:solidFill>
          <a:ln/>
        </p:spPr>
      </p:sp>
      <p:pic>
        <p:nvPicPr>
          <p:cNvPr id="6" name="Simge" descr="check">    </p:cNvPr>
          <p:cNvPicPr>
            <a:picLocks noChangeAspect="1"/>
          </p:cNvPicPr>
          <p:nvPr/>
        </p:nvPicPr>
        <p:blipFill>
          <a:blip r:embed="rId1"/>
          <a:stretch>
            <a:fillRect/>
          </a:stretch>
        </p:blipFill>
        <p:spPr>
          <a:xfrm>
            <a:off x="1087222" y="2258568"/>
            <a:ext cx="329184" cy="329184"/>
          </a:xfrm>
          <a:prstGeom prst="rect">
            <a:avLst/>
          </a:prstGeom>
        </p:spPr>
      </p:pic>
      <p:sp>
        <p:nvSpPr>
          <p:cNvPr id="7" name="Text 3"/>
          <p:cNvSpPr txBox="1"/>
          <p:nvPr/>
        </p:nvSpPr>
        <p:spPr>
          <a:xfrm>
            <a:off x="1635862" y="2057400"/>
            <a:ext cx="4117086" cy="731520"/>
          </a:xfrm>
          <a:prstGeom prst="rect">
            <a:avLst/>
          </a:prstGeom>
          <a:noFill/>
          <a:ln/>
        </p:spPr>
        <p:txBody>
          <a:bodyPr wrap="square" lIns="0" tIns="0" rIns="0" bIns="0" rtlCol="0" anchor="ctr"/>
          <a:lstStyle/>
          <a:p>
            <a:pPr indent="0" marL="0">
              <a:buNone/>
            </a:pPr>
            <a:r>
              <a:rPr lang="en-US" sz="1900" dirty="0">
                <a:solidFill>
                  <a:schemeClr val="tx1"/>
                </a:solidFill>
              </a:rPr>
              <a:t>Telefon ve tablet başka odada</a:t>
            </a:r>
            <a:endParaRPr lang="en-US" sz="1900" dirty="0"/>
          </a:p>
        </p:txBody>
      </p:sp>
      <p:sp>
        <p:nvSpPr>
          <p:cNvPr id="8" name="Masada yalnızca o dersin malzemeleri"/>
          <p:cNvSpPr/>
          <p:nvPr/>
        </p:nvSpPr>
        <p:spPr>
          <a:xfrm>
            <a:off x="6255868" y="2057400"/>
            <a:ext cx="5122926" cy="731520"/>
          </a:xfrm>
          <a:prstGeom prst="roundRect">
            <a:avLst>
              <a:gd name="adj" fmla="val 22500"/>
            </a:avLst>
          </a:prstGeom>
          <a:solidFill>
            <a:schemeClr val="bg2"/>
          </a:solidFill>
          <a:ln/>
        </p:spPr>
      </p:sp>
      <p:pic>
        <p:nvPicPr>
          <p:cNvPr id="9" name="Simge" descr="check">    </p:cNvPr>
          <p:cNvPicPr>
            <a:picLocks noChangeAspect="1"/>
          </p:cNvPicPr>
          <p:nvPr/>
        </p:nvPicPr>
        <p:blipFill>
          <a:blip r:embed="rId2"/>
          <a:stretch>
            <a:fillRect/>
          </a:stretch>
        </p:blipFill>
        <p:spPr>
          <a:xfrm>
            <a:off x="6530188" y="2258568"/>
            <a:ext cx="329184" cy="329184"/>
          </a:xfrm>
          <a:prstGeom prst="rect">
            <a:avLst/>
          </a:prstGeom>
        </p:spPr>
      </p:pic>
      <p:sp>
        <p:nvSpPr>
          <p:cNvPr id="10" name="Text 5"/>
          <p:cNvSpPr txBox="1"/>
          <p:nvPr/>
        </p:nvSpPr>
        <p:spPr>
          <a:xfrm>
            <a:off x="7078828" y="2057400"/>
            <a:ext cx="4117086" cy="731520"/>
          </a:xfrm>
          <a:prstGeom prst="rect">
            <a:avLst/>
          </a:prstGeom>
          <a:noFill/>
          <a:ln/>
        </p:spPr>
        <p:txBody>
          <a:bodyPr wrap="square" lIns="0" tIns="0" rIns="0" bIns="0" rtlCol="0" anchor="ctr"/>
          <a:lstStyle/>
          <a:p>
            <a:pPr indent="0" marL="0">
              <a:buNone/>
            </a:pPr>
            <a:r>
              <a:rPr lang="en-US" sz="1900" dirty="0">
                <a:solidFill>
                  <a:schemeClr val="tx1"/>
                </a:solidFill>
              </a:rPr>
              <a:t>Masada yalnızca o dersin malzemeleri</a:t>
            </a:r>
            <a:endParaRPr lang="en-US" sz="1900" dirty="0"/>
          </a:p>
        </p:txBody>
      </p:sp>
      <p:sp>
        <p:nvSpPr>
          <p:cNvPr id="11" name="Bol ışık ve düzenli bir masa"/>
          <p:cNvSpPr/>
          <p:nvPr/>
        </p:nvSpPr>
        <p:spPr>
          <a:xfrm>
            <a:off x="812902" y="2953512"/>
            <a:ext cx="5122926" cy="731520"/>
          </a:xfrm>
          <a:prstGeom prst="roundRect">
            <a:avLst>
              <a:gd name="adj" fmla="val 22500"/>
            </a:avLst>
          </a:prstGeom>
          <a:solidFill>
            <a:schemeClr val="bg2"/>
          </a:solidFill>
          <a:ln/>
        </p:spPr>
      </p:sp>
      <p:pic>
        <p:nvPicPr>
          <p:cNvPr id="12" name="Simge" descr="check">    </p:cNvPr>
          <p:cNvPicPr>
            <a:picLocks noChangeAspect="1"/>
          </p:cNvPicPr>
          <p:nvPr/>
        </p:nvPicPr>
        <p:blipFill>
          <a:blip r:embed="rId3"/>
          <a:stretch>
            <a:fillRect/>
          </a:stretch>
        </p:blipFill>
        <p:spPr>
          <a:xfrm>
            <a:off x="1087222" y="3154680"/>
            <a:ext cx="329184" cy="329184"/>
          </a:xfrm>
          <a:prstGeom prst="rect">
            <a:avLst/>
          </a:prstGeom>
        </p:spPr>
      </p:pic>
      <p:sp>
        <p:nvSpPr>
          <p:cNvPr id="13" name="Text 7"/>
          <p:cNvSpPr txBox="1"/>
          <p:nvPr/>
        </p:nvSpPr>
        <p:spPr>
          <a:xfrm>
            <a:off x="1635862" y="2953512"/>
            <a:ext cx="4117086" cy="731520"/>
          </a:xfrm>
          <a:prstGeom prst="rect">
            <a:avLst/>
          </a:prstGeom>
          <a:noFill/>
          <a:ln/>
        </p:spPr>
        <p:txBody>
          <a:bodyPr wrap="square" lIns="0" tIns="0" rIns="0" bIns="0" rtlCol="0" anchor="ctr"/>
          <a:lstStyle/>
          <a:p>
            <a:pPr indent="0" marL="0">
              <a:buNone/>
            </a:pPr>
            <a:r>
              <a:rPr lang="en-US" sz="1900" dirty="0">
                <a:solidFill>
                  <a:schemeClr val="tx1"/>
                </a:solidFill>
              </a:rPr>
              <a:t>Bol ışık ve düzenli bir masa</a:t>
            </a:r>
            <a:endParaRPr lang="en-US" sz="1900" dirty="0"/>
          </a:p>
        </p:txBody>
      </p:sp>
      <p:sp>
        <p:nvSpPr>
          <p:cNvPr id="14" name="Yanında bir şişe su"/>
          <p:cNvSpPr/>
          <p:nvPr/>
        </p:nvSpPr>
        <p:spPr>
          <a:xfrm>
            <a:off x="6255868" y="2953512"/>
            <a:ext cx="5122926" cy="731520"/>
          </a:xfrm>
          <a:prstGeom prst="roundRect">
            <a:avLst>
              <a:gd name="adj" fmla="val 22500"/>
            </a:avLst>
          </a:prstGeom>
          <a:solidFill>
            <a:schemeClr val="bg2"/>
          </a:solidFill>
          <a:ln/>
        </p:spPr>
      </p:sp>
      <p:pic>
        <p:nvPicPr>
          <p:cNvPr id="15" name="Simge" descr="check">    </p:cNvPr>
          <p:cNvPicPr>
            <a:picLocks noChangeAspect="1"/>
          </p:cNvPicPr>
          <p:nvPr/>
        </p:nvPicPr>
        <p:blipFill>
          <a:blip r:embed="rId4"/>
          <a:stretch>
            <a:fillRect/>
          </a:stretch>
        </p:blipFill>
        <p:spPr>
          <a:xfrm>
            <a:off x="6530188" y="3154680"/>
            <a:ext cx="329184" cy="329184"/>
          </a:xfrm>
          <a:prstGeom prst="rect">
            <a:avLst/>
          </a:prstGeom>
        </p:spPr>
      </p:pic>
      <p:sp>
        <p:nvSpPr>
          <p:cNvPr id="16" name="Text 9"/>
          <p:cNvSpPr txBox="1"/>
          <p:nvPr/>
        </p:nvSpPr>
        <p:spPr>
          <a:xfrm>
            <a:off x="7078828" y="2953512"/>
            <a:ext cx="4117086" cy="731520"/>
          </a:xfrm>
          <a:prstGeom prst="rect">
            <a:avLst/>
          </a:prstGeom>
          <a:noFill/>
          <a:ln/>
        </p:spPr>
        <p:txBody>
          <a:bodyPr wrap="square" lIns="0" tIns="0" rIns="0" bIns="0" rtlCol="0" anchor="ctr"/>
          <a:lstStyle/>
          <a:p>
            <a:pPr indent="0" marL="0">
              <a:buNone/>
            </a:pPr>
            <a:r>
              <a:rPr lang="en-US" sz="1900" dirty="0">
                <a:solidFill>
                  <a:schemeClr val="tx1"/>
                </a:solidFill>
              </a:rPr>
              <a:t>Yanında bir şişe su</a:t>
            </a:r>
            <a:endParaRPr lang="en-US" sz="1900" dirty="0"/>
          </a:p>
        </p:txBody>
      </p:sp>
      <p:sp>
        <p:nvSpPr>
          <p:cNvPr id="17" name="Her gün aynı yer, aynı saat"/>
          <p:cNvSpPr/>
          <p:nvPr/>
        </p:nvSpPr>
        <p:spPr>
          <a:xfrm>
            <a:off x="812902" y="3849624"/>
            <a:ext cx="5122926" cy="731520"/>
          </a:xfrm>
          <a:prstGeom prst="roundRect">
            <a:avLst>
              <a:gd name="adj" fmla="val 22500"/>
            </a:avLst>
          </a:prstGeom>
          <a:solidFill>
            <a:schemeClr val="bg2"/>
          </a:solidFill>
          <a:ln/>
        </p:spPr>
      </p:sp>
      <p:pic>
        <p:nvPicPr>
          <p:cNvPr id="18" name="Simge" descr="check">    </p:cNvPr>
          <p:cNvPicPr>
            <a:picLocks noChangeAspect="1"/>
          </p:cNvPicPr>
          <p:nvPr/>
        </p:nvPicPr>
        <p:blipFill>
          <a:blip r:embed="rId5"/>
          <a:stretch>
            <a:fillRect/>
          </a:stretch>
        </p:blipFill>
        <p:spPr>
          <a:xfrm>
            <a:off x="1087222" y="4050792"/>
            <a:ext cx="329184" cy="329184"/>
          </a:xfrm>
          <a:prstGeom prst="rect">
            <a:avLst/>
          </a:prstGeom>
        </p:spPr>
      </p:pic>
      <p:sp>
        <p:nvSpPr>
          <p:cNvPr id="19" name="Text 11"/>
          <p:cNvSpPr txBox="1"/>
          <p:nvPr/>
        </p:nvSpPr>
        <p:spPr>
          <a:xfrm>
            <a:off x="1635862" y="3849624"/>
            <a:ext cx="4117086" cy="731520"/>
          </a:xfrm>
          <a:prstGeom prst="rect">
            <a:avLst/>
          </a:prstGeom>
          <a:noFill/>
          <a:ln/>
        </p:spPr>
        <p:txBody>
          <a:bodyPr wrap="square" lIns="0" tIns="0" rIns="0" bIns="0" rtlCol="0" anchor="ctr"/>
          <a:lstStyle/>
          <a:p>
            <a:pPr indent="0" marL="0">
              <a:buNone/>
            </a:pPr>
            <a:r>
              <a:rPr lang="en-US" sz="1900" dirty="0">
                <a:solidFill>
                  <a:schemeClr val="tx1"/>
                </a:solidFill>
              </a:rPr>
              <a:t>Her gün aynı yer, aynı saat</a:t>
            </a:r>
            <a:endParaRPr lang="en-US" sz="1900" dirty="0"/>
          </a:p>
        </p:txBody>
      </p:sp>
      <p:sp>
        <p:nvSpPr>
          <p:cNvPr id="20" name="Televizyon kapalı, ortam sessiz"/>
          <p:cNvSpPr/>
          <p:nvPr/>
        </p:nvSpPr>
        <p:spPr>
          <a:xfrm>
            <a:off x="6255868" y="3849624"/>
            <a:ext cx="5122926" cy="731520"/>
          </a:xfrm>
          <a:prstGeom prst="roundRect">
            <a:avLst>
              <a:gd name="adj" fmla="val 22500"/>
            </a:avLst>
          </a:prstGeom>
          <a:solidFill>
            <a:schemeClr val="bg2"/>
          </a:solidFill>
          <a:ln/>
        </p:spPr>
      </p:sp>
      <p:pic>
        <p:nvPicPr>
          <p:cNvPr id="21" name="Simge" descr="check">    </p:cNvPr>
          <p:cNvPicPr>
            <a:picLocks noChangeAspect="1"/>
          </p:cNvPicPr>
          <p:nvPr/>
        </p:nvPicPr>
        <p:blipFill>
          <a:blip r:embed="rId6"/>
          <a:stretch>
            <a:fillRect/>
          </a:stretch>
        </p:blipFill>
        <p:spPr>
          <a:xfrm>
            <a:off x="6530188" y="4050792"/>
            <a:ext cx="329184" cy="329184"/>
          </a:xfrm>
          <a:prstGeom prst="rect">
            <a:avLst/>
          </a:prstGeom>
        </p:spPr>
      </p:pic>
      <p:sp>
        <p:nvSpPr>
          <p:cNvPr id="22" name="Text 13"/>
          <p:cNvSpPr txBox="1"/>
          <p:nvPr/>
        </p:nvSpPr>
        <p:spPr>
          <a:xfrm>
            <a:off x="7078828" y="3849624"/>
            <a:ext cx="4117086" cy="731520"/>
          </a:xfrm>
          <a:prstGeom prst="rect">
            <a:avLst/>
          </a:prstGeom>
          <a:noFill/>
          <a:ln/>
        </p:spPr>
        <p:txBody>
          <a:bodyPr wrap="square" lIns="0" tIns="0" rIns="0" bIns="0" rtlCol="0" anchor="ctr"/>
          <a:lstStyle/>
          <a:p>
            <a:pPr indent="0" marL="0">
              <a:buNone/>
            </a:pPr>
            <a:r>
              <a:rPr lang="en-US" sz="1900" dirty="0">
                <a:solidFill>
                  <a:schemeClr val="tx1"/>
                </a:solidFill>
              </a:rPr>
              <a:t>Televizyon kapalı, ortam sessiz</a:t>
            </a:r>
            <a:endParaRPr lang="en-US" sz="1900" dirty="0"/>
          </a:p>
        </p:txBody>
      </p:sp>
      <p:sp>
        <p:nvSpPr>
          <p:cNvPr id="23" name="Text 14"/>
          <p:cNvSpPr txBox="1"/>
          <p:nvPr/>
        </p:nvSpPr>
        <p:spPr>
          <a:xfrm>
            <a:off x="812902" y="4892040"/>
            <a:ext cx="10565892" cy="457200"/>
          </a:xfrm>
          <a:prstGeom prst="rect">
            <a:avLst/>
          </a:prstGeom>
          <a:noFill/>
          <a:ln/>
        </p:spPr>
        <p:txBody>
          <a:bodyPr wrap="square" lIns="0" tIns="0" rIns="0" bIns="0" rtlCol="0" anchor="t"/>
          <a:lstStyle/>
          <a:p>
            <a:pPr indent="0" marL="0">
              <a:buNone/>
            </a:pPr>
            <a:r>
              <a:rPr lang="en-US" sz="1800" b="1" dirty="0">
                <a:solidFill>
                  <a:schemeClr val="tx2"/>
                </a:solidFill>
              </a:rPr>
              <a:t>İpucu: </a:t>
            </a:r>
            <a:pPr indent="0" marL="0">
              <a:buNone/>
            </a:pPr>
            <a:r>
              <a:rPr lang="en-US" sz="1800" dirty="0">
                <a:solidFill>
                  <a:schemeClr val="tx2"/>
                </a:solidFill>
              </a:rPr>
              <a:t>Çalışmaya başlamadan önce 2 dakika ayırıp masanı hazırla; sonra kalkmak zorunda kalma.</a:t>
            </a:r>
            <a:endParaRPr lang="en-US" sz="18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Okuldan sonra günlük rutinin</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PLANLAMA</a:t>
            </a:r>
            <a:endParaRPr lang="en-US" sz="1400" dirty="0"/>
          </a:p>
        </p:txBody>
      </p:sp>
      <p:sp>
        <p:nvSpPr>
          <p:cNvPr id="5" name="Dinlen"/>
          <p:cNvSpPr/>
          <p:nvPr/>
        </p:nvSpPr>
        <p:spPr>
          <a:xfrm>
            <a:off x="812902" y="2057400"/>
            <a:ext cx="1930298" cy="2606040"/>
          </a:xfrm>
          <a:prstGeom prst="roundRect">
            <a:avLst>
              <a:gd name="adj" fmla="val 8527"/>
            </a:avLst>
          </a:prstGeom>
          <a:solidFill>
            <a:schemeClr val="bg1"/>
          </a:solidFill>
          <a:ln/>
        </p:spPr>
      </p:sp>
      <p:sp>
        <p:nvSpPr>
          <p:cNvPr id="6" name="Simge zemini"/>
          <p:cNvSpPr/>
          <p:nvPr/>
        </p:nvSpPr>
        <p:spPr>
          <a:xfrm>
            <a:off x="1087222" y="2286000"/>
            <a:ext cx="685800" cy="685800"/>
          </a:xfrm>
          <a:prstGeom prst="ellipse">
            <a:avLst/>
          </a:prstGeom>
          <a:solidFill>
            <a:schemeClr val="accent1"/>
          </a:solidFill>
          <a:ln/>
        </p:spPr>
      </p:sp>
      <p:pic>
        <p:nvPicPr>
          <p:cNvPr id="7" name="Simge" descr="smile">    </p:cNvPr>
          <p:cNvPicPr>
            <a:picLocks noChangeAspect="1"/>
          </p:cNvPicPr>
          <p:nvPr/>
        </p:nvPicPr>
        <p:blipFill>
          <a:blip r:embed="rId1"/>
          <a:stretch>
            <a:fillRect/>
          </a:stretch>
        </p:blipFill>
        <p:spPr>
          <a:xfrm>
            <a:off x="1242670" y="2441448"/>
            <a:ext cx="374904" cy="374904"/>
          </a:xfrm>
          <a:prstGeom prst="rect">
            <a:avLst/>
          </a:prstGeom>
        </p:spPr>
      </p:pic>
      <p:sp>
        <p:nvSpPr>
          <p:cNvPr id="8" name="Text 4"/>
          <p:cNvSpPr txBox="1"/>
          <p:nvPr/>
        </p:nvSpPr>
        <p:spPr>
          <a:xfrm>
            <a:off x="1645920" y="2395728"/>
            <a:ext cx="822960" cy="457200"/>
          </a:xfrm>
          <a:prstGeom prst="rect">
            <a:avLst/>
          </a:prstGeom>
          <a:noFill/>
          <a:ln/>
        </p:spPr>
        <p:txBody>
          <a:bodyPr wrap="square" lIns="0" tIns="0" rIns="0" bIns="0" rtlCol="0" anchor="ctr"/>
          <a:lstStyle/>
          <a:p>
            <a:pPr algn="r" indent="0" marL="0">
              <a:buNone/>
            </a:pPr>
            <a:r>
              <a:rPr lang="en-US" sz="1500" b="1" dirty="0">
                <a:solidFill>
                  <a:schemeClr val="accent2"/>
                </a:solidFill>
              </a:rPr>
              <a:t>30 dk</a:t>
            </a:r>
            <a:endParaRPr lang="en-US" sz="1500" dirty="0"/>
          </a:p>
        </p:txBody>
      </p:sp>
      <p:sp>
        <p:nvSpPr>
          <p:cNvPr id="9" name="Text 5"/>
          <p:cNvSpPr txBox="1"/>
          <p:nvPr/>
        </p:nvSpPr>
        <p:spPr>
          <a:xfrm>
            <a:off x="1087222" y="3154680"/>
            <a:ext cx="1381658" cy="384048"/>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1. Dinlen</a:t>
            </a:r>
            <a:endParaRPr lang="en-US" sz="1900" dirty="0"/>
          </a:p>
        </p:txBody>
      </p:sp>
      <p:sp>
        <p:nvSpPr>
          <p:cNvPr id="10" name="Text 6"/>
          <p:cNvSpPr txBox="1"/>
          <p:nvPr/>
        </p:nvSpPr>
        <p:spPr>
          <a:xfrm>
            <a:off x="1087222" y="3611880"/>
            <a:ext cx="1381658" cy="1280160"/>
          </a:xfrm>
          <a:prstGeom prst="rect">
            <a:avLst/>
          </a:prstGeom>
          <a:noFill/>
          <a:ln/>
        </p:spPr>
        <p:txBody>
          <a:bodyPr wrap="square" lIns="0" tIns="0" rIns="0" bIns="0" rtlCol="0" anchor="t"/>
          <a:lstStyle/>
          <a:p>
            <a:pPr indent="0" marL="0">
              <a:buNone/>
            </a:pPr>
            <a:r>
              <a:rPr lang="en-US" sz="1500" dirty="0">
                <a:solidFill>
                  <a:schemeClr val="tx2"/>
                </a:solidFill>
              </a:rPr>
              <a:t>Bir şeyler atıştır, biraz hareket et.</a:t>
            </a:r>
            <a:endParaRPr lang="en-US" sz="1500" dirty="0"/>
          </a:p>
        </p:txBody>
      </p:sp>
      <p:sp>
        <p:nvSpPr>
          <p:cNvPr id="11" name="Ödev"/>
          <p:cNvSpPr/>
          <p:nvPr/>
        </p:nvSpPr>
        <p:spPr>
          <a:xfrm>
            <a:off x="2971800" y="2057400"/>
            <a:ext cx="1930298" cy="2606040"/>
          </a:xfrm>
          <a:prstGeom prst="roundRect">
            <a:avLst>
              <a:gd name="adj" fmla="val 8527"/>
            </a:avLst>
          </a:prstGeom>
          <a:solidFill>
            <a:schemeClr val="bg1"/>
          </a:solidFill>
          <a:ln/>
        </p:spPr>
      </p:sp>
      <p:sp>
        <p:nvSpPr>
          <p:cNvPr id="12" name="Simge zemini"/>
          <p:cNvSpPr/>
          <p:nvPr/>
        </p:nvSpPr>
        <p:spPr>
          <a:xfrm>
            <a:off x="3246120" y="2286000"/>
            <a:ext cx="685800" cy="685800"/>
          </a:xfrm>
          <a:prstGeom prst="ellipse">
            <a:avLst/>
          </a:prstGeom>
          <a:solidFill>
            <a:schemeClr val="accent1"/>
          </a:solidFill>
          <a:ln/>
        </p:spPr>
      </p:sp>
      <p:pic>
        <p:nvPicPr>
          <p:cNvPr id="13" name="Simge" descr="pencil">    </p:cNvPr>
          <p:cNvPicPr>
            <a:picLocks noChangeAspect="1"/>
          </p:cNvPicPr>
          <p:nvPr/>
        </p:nvPicPr>
        <p:blipFill>
          <a:blip r:embed="rId2"/>
          <a:stretch>
            <a:fillRect/>
          </a:stretch>
        </p:blipFill>
        <p:spPr>
          <a:xfrm>
            <a:off x="3401568" y="2441448"/>
            <a:ext cx="374904" cy="374904"/>
          </a:xfrm>
          <a:prstGeom prst="rect">
            <a:avLst/>
          </a:prstGeom>
        </p:spPr>
      </p:pic>
      <p:sp>
        <p:nvSpPr>
          <p:cNvPr id="14" name="Text 9"/>
          <p:cNvSpPr txBox="1"/>
          <p:nvPr/>
        </p:nvSpPr>
        <p:spPr>
          <a:xfrm>
            <a:off x="3804818" y="2395728"/>
            <a:ext cx="822960" cy="457200"/>
          </a:xfrm>
          <a:prstGeom prst="rect">
            <a:avLst/>
          </a:prstGeom>
          <a:noFill/>
          <a:ln/>
        </p:spPr>
        <p:txBody>
          <a:bodyPr wrap="square" lIns="0" tIns="0" rIns="0" bIns="0" rtlCol="0" anchor="ctr"/>
          <a:lstStyle/>
          <a:p>
            <a:pPr algn="r" indent="0" marL="0">
              <a:buNone/>
            </a:pPr>
            <a:r>
              <a:rPr lang="en-US" sz="1500" b="1" dirty="0">
                <a:solidFill>
                  <a:schemeClr val="accent2"/>
                </a:solidFill>
              </a:rPr>
              <a:t>Önce</a:t>
            </a:r>
            <a:endParaRPr lang="en-US" sz="1500" dirty="0"/>
          </a:p>
        </p:txBody>
      </p:sp>
      <p:sp>
        <p:nvSpPr>
          <p:cNvPr id="15" name="Text 10"/>
          <p:cNvSpPr txBox="1"/>
          <p:nvPr/>
        </p:nvSpPr>
        <p:spPr>
          <a:xfrm>
            <a:off x="3246120" y="3154680"/>
            <a:ext cx="1381658" cy="384048"/>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2. Ödev</a:t>
            </a:r>
            <a:endParaRPr lang="en-US" sz="1900" dirty="0"/>
          </a:p>
        </p:txBody>
      </p:sp>
      <p:sp>
        <p:nvSpPr>
          <p:cNvPr id="16" name="Text 11"/>
          <p:cNvSpPr txBox="1"/>
          <p:nvPr/>
        </p:nvSpPr>
        <p:spPr>
          <a:xfrm>
            <a:off x="3246120" y="3611880"/>
            <a:ext cx="1381658" cy="1280160"/>
          </a:xfrm>
          <a:prstGeom prst="rect">
            <a:avLst/>
          </a:prstGeom>
          <a:noFill/>
          <a:ln/>
        </p:spPr>
        <p:txBody>
          <a:bodyPr wrap="square" lIns="0" tIns="0" rIns="0" bIns="0" rtlCol="0" anchor="t"/>
          <a:lstStyle/>
          <a:p>
            <a:pPr indent="0" marL="0">
              <a:buNone/>
            </a:pPr>
            <a:r>
              <a:rPr lang="en-US" sz="1500" dirty="0">
                <a:solidFill>
                  <a:schemeClr val="tx2"/>
                </a:solidFill>
              </a:rPr>
              <a:t>Ödevlerini tamamla.</a:t>
            </a:r>
            <a:endParaRPr lang="en-US" sz="1500" dirty="0"/>
          </a:p>
        </p:txBody>
      </p:sp>
      <p:sp>
        <p:nvSpPr>
          <p:cNvPr id="17" name="Tekrar"/>
          <p:cNvSpPr/>
          <p:nvPr/>
        </p:nvSpPr>
        <p:spPr>
          <a:xfrm>
            <a:off x="5130698" y="2057400"/>
            <a:ext cx="1930298" cy="2606040"/>
          </a:xfrm>
          <a:prstGeom prst="roundRect">
            <a:avLst>
              <a:gd name="adj" fmla="val 8527"/>
            </a:avLst>
          </a:prstGeom>
          <a:solidFill>
            <a:schemeClr val="bg1"/>
          </a:solidFill>
          <a:ln/>
        </p:spPr>
      </p:sp>
      <p:sp>
        <p:nvSpPr>
          <p:cNvPr id="18" name="Simge zemini"/>
          <p:cNvSpPr/>
          <p:nvPr/>
        </p:nvSpPr>
        <p:spPr>
          <a:xfrm>
            <a:off x="5405018" y="2286000"/>
            <a:ext cx="685800" cy="685800"/>
          </a:xfrm>
          <a:prstGeom prst="ellipse">
            <a:avLst/>
          </a:prstGeom>
          <a:solidFill>
            <a:schemeClr val="accent1"/>
          </a:solidFill>
          <a:ln/>
        </p:spPr>
      </p:sp>
      <p:pic>
        <p:nvPicPr>
          <p:cNvPr id="19" name="Simge" descr="clock">    </p:cNvPr>
          <p:cNvPicPr>
            <a:picLocks noChangeAspect="1"/>
          </p:cNvPicPr>
          <p:nvPr/>
        </p:nvPicPr>
        <p:blipFill>
          <a:blip r:embed="rId3"/>
          <a:stretch>
            <a:fillRect/>
          </a:stretch>
        </p:blipFill>
        <p:spPr>
          <a:xfrm>
            <a:off x="5560466" y="2441448"/>
            <a:ext cx="374904" cy="374904"/>
          </a:xfrm>
          <a:prstGeom prst="rect">
            <a:avLst/>
          </a:prstGeom>
        </p:spPr>
      </p:pic>
      <p:sp>
        <p:nvSpPr>
          <p:cNvPr id="20" name="Text 14"/>
          <p:cNvSpPr txBox="1"/>
          <p:nvPr/>
        </p:nvSpPr>
        <p:spPr>
          <a:xfrm>
            <a:off x="5963717" y="2395728"/>
            <a:ext cx="822960" cy="457200"/>
          </a:xfrm>
          <a:prstGeom prst="rect">
            <a:avLst/>
          </a:prstGeom>
          <a:noFill/>
          <a:ln/>
        </p:spPr>
        <p:txBody>
          <a:bodyPr wrap="square" lIns="0" tIns="0" rIns="0" bIns="0" rtlCol="0" anchor="ctr"/>
          <a:lstStyle/>
          <a:p>
            <a:pPr algn="r" indent="0" marL="0">
              <a:buNone/>
            </a:pPr>
            <a:r>
              <a:rPr lang="en-US" sz="1500" b="1" dirty="0">
                <a:solidFill>
                  <a:schemeClr val="accent2"/>
                </a:solidFill>
              </a:rPr>
              <a:t>15 dk</a:t>
            </a:r>
            <a:endParaRPr lang="en-US" sz="1500" dirty="0"/>
          </a:p>
        </p:txBody>
      </p:sp>
      <p:sp>
        <p:nvSpPr>
          <p:cNvPr id="21" name="Text 15"/>
          <p:cNvSpPr txBox="1"/>
          <p:nvPr/>
        </p:nvSpPr>
        <p:spPr>
          <a:xfrm>
            <a:off x="5405018" y="3154680"/>
            <a:ext cx="1381658" cy="384048"/>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3. Tekrar</a:t>
            </a:r>
            <a:endParaRPr lang="en-US" sz="1900" dirty="0"/>
          </a:p>
        </p:txBody>
      </p:sp>
      <p:sp>
        <p:nvSpPr>
          <p:cNvPr id="22" name="Text 16"/>
          <p:cNvSpPr txBox="1"/>
          <p:nvPr/>
        </p:nvSpPr>
        <p:spPr>
          <a:xfrm>
            <a:off x="5405018" y="3611880"/>
            <a:ext cx="1381658" cy="1280160"/>
          </a:xfrm>
          <a:prstGeom prst="rect">
            <a:avLst/>
          </a:prstGeom>
          <a:noFill/>
          <a:ln/>
        </p:spPr>
        <p:txBody>
          <a:bodyPr wrap="square" lIns="0" tIns="0" rIns="0" bIns="0" rtlCol="0" anchor="t"/>
          <a:lstStyle/>
          <a:p>
            <a:pPr indent="0" marL="0">
              <a:buNone/>
            </a:pPr>
            <a:r>
              <a:rPr lang="en-US" sz="1500" dirty="0">
                <a:solidFill>
                  <a:schemeClr val="tx2"/>
                </a:solidFill>
              </a:rPr>
              <a:t>O gün işlenen dersleri gözden geçir.</a:t>
            </a:r>
            <a:endParaRPr lang="en-US" sz="1500" dirty="0"/>
          </a:p>
        </p:txBody>
      </p:sp>
      <p:sp>
        <p:nvSpPr>
          <p:cNvPr id="23" name="Kitap"/>
          <p:cNvSpPr/>
          <p:nvPr/>
        </p:nvSpPr>
        <p:spPr>
          <a:xfrm>
            <a:off x="7289597" y="2057400"/>
            <a:ext cx="1930298" cy="2606040"/>
          </a:xfrm>
          <a:prstGeom prst="roundRect">
            <a:avLst>
              <a:gd name="adj" fmla="val 8527"/>
            </a:avLst>
          </a:prstGeom>
          <a:solidFill>
            <a:schemeClr val="bg1"/>
          </a:solidFill>
          <a:ln/>
        </p:spPr>
      </p:sp>
      <p:sp>
        <p:nvSpPr>
          <p:cNvPr id="24" name="Simge zemini"/>
          <p:cNvSpPr/>
          <p:nvPr/>
        </p:nvSpPr>
        <p:spPr>
          <a:xfrm>
            <a:off x="7563917" y="2286000"/>
            <a:ext cx="685800" cy="685800"/>
          </a:xfrm>
          <a:prstGeom prst="ellipse">
            <a:avLst/>
          </a:prstGeom>
          <a:solidFill>
            <a:schemeClr val="accent1"/>
          </a:solidFill>
          <a:ln/>
        </p:spPr>
      </p:sp>
      <p:pic>
        <p:nvPicPr>
          <p:cNvPr id="25" name="Simge" descr="book">    </p:cNvPr>
          <p:cNvPicPr>
            <a:picLocks noChangeAspect="1"/>
          </p:cNvPicPr>
          <p:nvPr/>
        </p:nvPicPr>
        <p:blipFill>
          <a:blip r:embed="rId4"/>
          <a:stretch>
            <a:fillRect/>
          </a:stretch>
        </p:blipFill>
        <p:spPr>
          <a:xfrm>
            <a:off x="7719365" y="2441448"/>
            <a:ext cx="374904" cy="374904"/>
          </a:xfrm>
          <a:prstGeom prst="rect">
            <a:avLst/>
          </a:prstGeom>
        </p:spPr>
      </p:pic>
      <p:sp>
        <p:nvSpPr>
          <p:cNvPr id="26" name="Text 19"/>
          <p:cNvSpPr txBox="1"/>
          <p:nvPr/>
        </p:nvSpPr>
        <p:spPr>
          <a:xfrm>
            <a:off x="8122615" y="2395728"/>
            <a:ext cx="822960" cy="457200"/>
          </a:xfrm>
          <a:prstGeom prst="rect">
            <a:avLst/>
          </a:prstGeom>
          <a:noFill/>
          <a:ln/>
        </p:spPr>
        <p:txBody>
          <a:bodyPr wrap="square" lIns="0" tIns="0" rIns="0" bIns="0" rtlCol="0" anchor="ctr"/>
          <a:lstStyle/>
          <a:p>
            <a:pPr algn="r" indent="0" marL="0">
              <a:buNone/>
            </a:pPr>
            <a:r>
              <a:rPr lang="en-US" sz="1500" b="1" dirty="0">
                <a:solidFill>
                  <a:schemeClr val="accent2"/>
                </a:solidFill>
              </a:rPr>
              <a:t>20 dk</a:t>
            </a:r>
            <a:endParaRPr lang="en-US" sz="1500" dirty="0"/>
          </a:p>
        </p:txBody>
      </p:sp>
      <p:sp>
        <p:nvSpPr>
          <p:cNvPr id="27" name="Text 20"/>
          <p:cNvSpPr txBox="1"/>
          <p:nvPr/>
        </p:nvSpPr>
        <p:spPr>
          <a:xfrm>
            <a:off x="7563917" y="3154680"/>
            <a:ext cx="1381658" cy="384048"/>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4. Kitap</a:t>
            </a:r>
            <a:endParaRPr lang="en-US" sz="1900" dirty="0"/>
          </a:p>
        </p:txBody>
      </p:sp>
      <p:sp>
        <p:nvSpPr>
          <p:cNvPr id="28" name="Text 21"/>
          <p:cNvSpPr txBox="1"/>
          <p:nvPr/>
        </p:nvSpPr>
        <p:spPr>
          <a:xfrm>
            <a:off x="7563917" y="3611880"/>
            <a:ext cx="1381658" cy="1280160"/>
          </a:xfrm>
          <a:prstGeom prst="rect">
            <a:avLst/>
          </a:prstGeom>
          <a:noFill/>
          <a:ln/>
        </p:spPr>
        <p:txBody>
          <a:bodyPr wrap="square" lIns="0" tIns="0" rIns="0" bIns="0" rtlCol="0" anchor="t"/>
          <a:lstStyle/>
          <a:p>
            <a:pPr indent="0" marL="0">
              <a:buNone/>
            </a:pPr>
            <a:r>
              <a:rPr lang="en-US" sz="1500" dirty="0">
                <a:solidFill>
                  <a:schemeClr val="tx2"/>
                </a:solidFill>
              </a:rPr>
              <a:t>Sevdiğin bir kitaptan oku.</a:t>
            </a:r>
            <a:endParaRPr lang="en-US" sz="1500" dirty="0"/>
          </a:p>
        </p:txBody>
      </p:sp>
      <p:sp>
        <p:nvSpPr>
          <p:cNvPr id="29" name="Hazırlık"/>
          <p:cNvSpPr/>
          <p:nvPr/>
        </p:nvSpPr>
        <p:spPr>
          <a:xfrm>
            <a:off x="9448495" y="2057400"/>
            <a:ext cx="1930298" cy="2606040"/>
          </a:xfrm>
          <a:prstGeom prst="roundRect">
            <a:avLst>
              <a:gd name="adj" fmla="val 8527"/>
            </a:avLst>
          </a:prstGeom>
          <a:solidFill>
            <a:schemeClr val="bg1"/>
          </a:solidFill>
          <a:ln/>
        </p:spPr>
      </p:sp>
      <p:sp>
        <p:nvSpPr>
          <p:cNvPr id="30" name="Simge zemini"/>
          <p:cNvSpPr/>
          <p:nvPr/>
        </p:nvSpPr>
        <p:spPr>
          <a:xfrm>
            <a:off x="9722815" y="2286000"/>
            <a:ext cx="685800" cy="685800"/>
          </a:xfrm>
          <a:prstGeom prst="ellipse">
            <a:avLst/>
          </a:prstGeom>
          <a:solidFill>
            <a:schemeClr val="accent1"/>
          </a:solidFill>
          <a:ln/>
        </p:spPr>
      </p:sp>
      <p:pic>
        <p:nvPicPr>
          <p:cNvPr id="31" name="Simge" descr="bag">    </p:cNvPr>
          <p:cNvPicPr>
            <a:picLocks noChangeAspect="1"/>
          </p:cNvPicPr>
          <p:nvPr/>
        </p:nvPicPr>
        <p:blipFill>
          <a:blip r:embed="rId5"/>
          <a:stretch>
            <a:fillRect/>
          </a:stretch>
        </p:blipFill>
        <p:spPr>
          <a:xfrm>
            <a:off x="9878263" y="2441448"/>
            <a:ext cx="374904" cy="374904"/>
          </a:xfrm>
          <a:prstGeom prst="rect">
            <a:avLst/>
          </a:prstGeom>
        </p:spPr>
      </p:pic>
      <p:sp>
        <p:nvSpPr>
          <p:cNvPr id="32" name="Text 24"/>
          <p:cNvSpPr txBox="1"/>
          <p:nvPr/>
        </p:nvSpPr>
        <p:spPr>
          <a:xfrm>
            <a:off x="10281514" y="2395728"/>
            <a:ext cx="822960" cy="457200"/>
          </a:xfrm>
          <a:prstGeom prst="rect">
            <a:avLst/>
          </a:prstGeom>
          <a:noFill/>
          <a:ln/>
        </p:spPr>
        <p:txBody>
          <a:bodyPr wrap="square" lIns="0" tIns="0" rIns="0" bIns="0" rtlCol="0" anchor="ctr"/>
          <a:lstStyle/>
          <a:p>
            <a:pPr algn="r" indent="0" marL="0">
              <a:buNone/>
            </a:pPr>
            <a:r>
              <a:rPr lang="en-US" sz="1500" b="1" dirty="0">
                <a:solidFill>
                  <a:schemeClr val="accent2"/>
                </a:solidFill>
              </a:rPr>
              <a:t>5 dk</a:t>
            </a:r>
            <a:endParaRPr lang="en-US" sz="1500" dirty="0"/>
          </a:p>
        </p:txBody>
      </p:sp>
      <p:sp>
        <p:nvSpPr>
          <p:cNvPr id="33" name="Text 25"/>
          <p:cNvSpPr txBox="1"/>
          <p:nvPr/>
        </p:nvSpPr>
        <p:spPr>
          <a:xfrm>
            <a:off x="9722815" y="3154680"/>
            <a:ext cx="1381658" cy="384048"/>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5. Hazırlık</a:t>
            </a:r>
            <a:endParaRPr lang="en-US" sz="1900" dirty="0"/>
          </a:p>
        </p:txBody>
      </p:sp>
      <p:sp>
        <p:nvSpPr>
          <p:cNvPr id="34" name="Text 26"/>
          <p:cNvSpPr txBox="1"/>
          <p:nvPr/>
        </p:nvSpPr>
        <p:spPr>
          <a:xfrm>
            <a:off x="9722815" y="3611880"/>
            <a:ext cx="1381658" cy="1280160"/>
          </a:xfrm>
          <a:prstGeom prst="rect">
            <a:avLst/>
          </a:prstGeom>
          <a:noFill/>
          <a:ln/>
        </p:spPr>
        <p:txBody>
          <a:bodyPr wrap="square" lIns="0" tIns="0" rIns="0" bIns="0" rtlCol="0" anchor="t"/>
          <a:lstStyle/>
          <a:p>
            <a:pPr indent="0" marL="0">
              <a:buNone/>
            </a:pPr>
            <a:r>
              <a:rPr lang="en-US" sz="1500" dirty="0">
                <a:solidFill>
                  <a:schemeClr val="tx2"/>
                </a:solidFill>
              </a:rPr>
              <a:t>Çantanı yarının ders programına göre hazırla.</a:t>
            </a:r>
            <a:endParaRPr lang="en-US" sz="1500" dirty="0"/>
          </a:p>
        </p:txBody>
      </p:sp>
      <p:sp>
        <p:nvSpPr>
          <p:cNvPr id="35" name="Text 27"/>
          <p:cNvSpPr txBox="1"/>
          <p:nvPr/>
        </p:nvSpPr>
        <p:spPr>
          <a:xfrm>
            <a:off x="812902" y="4937760"/>
            <a:ext cx="10565892" cy="411480"/>
          </a:xfrm>
          <a:prstGeom prst="rect">
            <a:avLst/>
          </a:prstGeom>
          <a:noFill/>
          <a:ln/>
        </p:spPr>
        <p:txBody>
          <a:bodyPr wrap="square" lIns="0" tIns="0" rIns="0" bIns="0" rtlCol="0" anchor="t"/>
          <a:lstStyle/>
          <a:p>
            <a:pPr indent="0" marL="0">
              <a:buNone/>
            </a:pPr>
            <a:r>
              <a:rPr lang="en-US" sz="1600" dirty="0">
                <a:solidFill>
                  <a:schemeClr val="tx2"/>
                </a:solidFill>
              </a:rPr>
              <a:t>Süreler örnektir. Kendi okul saatlerine ve hızına göre uyarla; dinlenme ve oyun zamanını unutma.</a:t>
            </a:r>
            <a:endParaRPr lang="en-US" sz="16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Pomodoro tekniği</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ODAKLANMA</a:t>
            </a:r>
            <a:endParaRPr lang="en-US" sz="1400" dirty="0"/>
          </a:p>
        </p:txBody>
      </p:sp>
      <p:sp>
        <p:nvSpPr>
          <p:cNvPr id="5" name="Text 2"/>
          <p:cNvSpPr txBox="1"/>
          <p:nvPr/>
        </p:nvSpPr>
        <p:spPr>
          <a:xfrm>
            <a:off x="812902" y="1965960"/>
            <a:ext cx="10565892" cy="502920"/>
          </a:xfrm>
          <a:prstGeom prst="rect">
            <a:avLst/>
          </a:prstGeom>
          <a:noFill/>
          <a:ln/>
        </p:spPr>
        <p:txBody>
          <a:bodyPr wrap="square" lIns="0" tIns="0" rIns="0" bIns="0" rtlCol="0" anchor="t"/>
          <a:lstStyle/>
          <a:p>
            <a:pPr indent="0" marL="0">
              <a:buNone/>
            </a:pPr>
            <a:r>
              <a:rPr lang="en-US" sz="2600" dirty="0">
                <a:solidFill>
                  <a:schemeClr val="tx1"/>
                </a:solidFill>
              </a:rPr>
              <a:t>20 dakika tek işe odaklan, 5 dakika mola ver.</a:t>
            </a:r>
            <a:endParaRPr lang="en-US" sz="2600" dirty="0"/>
          </a:p>
        </p:txBody>
      </p:sp>
      <p:sp>
        <p:nvSpPr>
          <p:cNvPr id="6" name="Odak"/>
          <p:cNvSpPr/>
          <p:nvPr/>
        </p:nvSpPr>
        <p:spPr>
          <a:xfrm>
            <a:off x="812902" y="2697480"/>
            <a:ext cx="1802096" cy="640080"/>
          </a:xfrm>
          <a:prstGeom prst="roundRect">
            <a:avLst>
              <a:gd name="adj" fmla="val 25714"/>
            </a:avLst>
          </a:prstGeom>
          <a:solidFill>
            <a:schemeClr val="tx1"/>
          </a:solidFill>
          <a:ln/>
        </p:spPr>
      </p:sp>
      <p:sp>
        <p:nvSpPr>
          <p:cNvPr id="7" name="Text 4"/>
          <p:cNvSpPr txBox="1"/>
          <p:nvPr/>
        </p:nvSpPr>
        <p:spPr>
          <a:xfrm>
            <a:off x="812902" y="2697480"/>
            <a:ext cx="1802096" cy="640080"/>
          </a:xfrm>
          <a:prstGeom prst="rect">
            <a:avLst/>
          </a:prstGeom>
          <a:noFill/>
          <a:ln/>
        </p:spPr>
        <p:txBody>
          <a:bodyPr wrap="square" lIns="0" tIns="0" rIns="0" bIns="0" rtlCol="0" anchor="ctr"/>
          <a:lstStyle/>
          <a:p>
            <a:pPr algn="ctr" indent="0" marL="0">
              <a:buNone/>
            </a:pPr>
            <a:r>
              <a:rPr lang="en-US" sz="1500" b="1" dirty="0">
                <a:solidFill>
                  <a:schemeClr val="bg1"/>
                </a:solidFill>
              </a:rPr>
              <a:t>20 dk odak</a:t>
            </a:r>
            <a:endParaRPr lang="en-US" sz="1500" dirty="0"/>
          </a:p>
        </p:txBody>
      </p:sp>
      <p:sp>
        <p:nvSpPr>
          <p:cNvPr id="8" name="Mola"/>
          <p:cNvSpPr/>
          <p:nvPr/>
        </p:nvSpPr>
        <p:spPr>
          <a:xfrm>
            <a:off x="2669862" y="2697480"/>
            <a:ext cx="450524" cy="640080"/>
          </a:xfrm>
          <a:prstGeom prst="roundRect">
            <a:avLst>
              <a:gd name="adj" fmla="val 36533"/>
            </a:avLst>
          </a:prstGeom>
          <a:solidFill>
            <a:schemeClr val="accent1"/>
          </a:solidFill>
          <a:ln/>
        </p:spPr>
      </p:sp>
      <p:sp>
        <p:nvSpPr>
          <p:cNvPr id="9" name="Text 6"/>
          <p:cNvSpPr txBox="1"/>
          <p:nvPr/>
        </p:nvSpPr>
        <p:spPr>
          <a:xfrm>
            <a:off x="2669862" y="2697480"/>
            <a:ext cx="450524" cy="640080"/>
          </a:xfrm>
          <a:prstGeom prst="rect">
            <a:avLst/>
          </a:prstGeom>
          <a:noFill/>
          <a:ln/>
        </p:spPr>
        <p:txBody>
          <a:bodyPr wrap="square" lIns="0" tIns="0" rIns="0" bIns="0" rtlCol="0" anchor="ctr"/>
          <a:lstStyle/>
          <a:p>
            <a:pPr algn="ctr" indent="0" marL="0">
              <a:buNone/>
            </a:pPr>
            <a:r>
              <a:rPr lang="en-US" sz="1500" b="1" dirty="0">
                <a:solidFill>
                  <a:schemeClr val="tx1"/>
                </a:solidFill>
              </a:rPr>
              <a:t>5</a:t>
            </a:r>
            <a:endParaRPr lang="en-US" sz="1500" dirty="0"/>
          </a:p>
        </p:txBody>
      </p:sp>
      <p:sp>
        <p:nvSpPr>
          <p:cNvPr id="10" name="Odak"/>
          <p:cNvSpPr/>
          <p:nvPr/>
        </p:nvSpPr>
        <p:spPr>
          <a:xfrm>
            <a:off x="3175250" y="2697480"/>
            <a:ext cx="1802096" cy="640080"/>
          </a:xfrm>
          <a:prstGeom prst="roundRect">
            <a:avLst>
              <a:gd name="adj" fmla="val 25714"/>
            </a:avLst>
          </a:prstGeom>
          <a:solidFill>
            <a:schemeClr val="tx1"/>
          </a:solidFill>
          <a:ln/>
        </p:spPr>
      </p:sp>
      <p:sp>
        <p:nvSpPr>
          <p:cNvPr id="11" name="Text 8"/>
          <p:cNvSpPr txBox="1"/>
          <p:nvPr/>
        </p:nvSpPr>
        <p:spPr>
          <a:xfrm>
            <a:off x="3175250" y="2697480"/>
            <a:ext cx="1802096" cy="640080"/>
          </a:xfrm>
          <a:prstGeom prst="rect">
            <a:avLst/>
          </a:prstGeom>
          <a:noFill/>
          <a:ln/>
        </p:spPr>
        <p:txBody>
          <a:bodyPr wrap="square" lIns="0" tIns="0" rIns="0" bIns="0" rtlCol="0" anchor="ctr"/>
          <a:lstStyle/>
          <a:p>
            <a:pPr algn="ctr" indent="0" marL="0">
              <a:buNone/>
            </a:pPr>
            <a:r>
              <a:rPr lang="en-US" sz="1500" b="1" dirty="0">
                <a:solidFill>
                  <a:schemeClr val="bg1"/>
                </a:solidFill>
              </a:rPr>
              <a:t>20 dk odak</a:t>
            </a:r>
            <a:endParaRPr lang="en-US" sz="1500" dirty="0"/>
          </a:p>
        </p:txBody>
      </p:sp>
      <p:sp>
        <p:nvSpPr>
          <p:cNvPr id="12" name="Mola"/>
          <p:cNvSpPr/>
          <p:nvPr/>
        </p:nvSpPr>
        <p:spPr>
          <a:xfrm>
            <a:off x="5032210" y="2697480"/>
            <a:ext cx="450524" cy="640080"/>
          </a:xfrm>
          <a:prstGeom prst="roundRect">
            <a:avLst>
              <a:gd name="adj" fmla="val 36533"/>
            </a:avLst>
          </a:prstGeom>
          <a:solidFill>
            <a:schemeClr val="accent1"/>
          </a:solidFill>
          <a:ln/>
        </p:spPr>
      </p:sp>
      <p:sp>
        <p:nvSpPr>
          <p:cNvPr id="13" name="Text 10"/>
          <p:cNvSpPr txBox="1"/>
          <p:nvPr/>
        </p:nvSpPr>
        <p:spPr>
          <a:xfrm>
            <a:off x="5032210" y="2697480"/>
            <a:ext cx="450524" cy="640080"/>
          </a:xfrm>
          <a:prstGeom prst="rect">
            <a:avLst/>
          </a:prstGeom>
          <a:noFill/>
          <a:ln/>
        </p:spPr>
        <p:txBody>
          <a:bodyPr wrap="square" lIns="0" tIns="0" rIns="0" bIns="0" rtlCol="0" anchor="ctr"/>
          <a:lstStyle/>
          <a:p>
            <a:pPr algn="ctr" indent="0" marL="0">
              <a:buNone/>
            </a:pPr>
            <a:r>
              <a:rPr lang="en-US" sz="1500" b="1" dirty="0">
                <a:solidFill>
                  <a:schemeClr val="tx1"/>
                </a:solidFill>
              </a:rPr>
              <a:t>5</a:t>
            </a:r>
            <a:endParaRPr lang="en-US" sz="1500" dirty="0"/>
          </a:p>
        </p:txBody>
      </p:sp>
      <p:sp>
        <p:nvSpPr>
          <p:cNvPr id="14" name="Odak"/>
          <p:cNvSpPr/>
          <p:nvPr/>
        </p:nvSpPr>
        <p:spPr>
          <a:xfrm>
            <a:off x="5537598" y="2697480"/>
            <a:ext cx="1802096" cy="640080"/>
          </a:xfrm>
          <a:prstGeom prst="roundRect">
            <a:avLst>
              <a:gd name="adj" fmla="val 25714"/>
            </a:avLst>
          </a:prstGeom>
          <a:solidFill>
            <a:schemeClr val="tx1"/>
          </a:solidFill>
          <a:ln/>
        </p:spPr>
      </p:sp>
      <p:sp>
        <p:nvSpPr>
          <p:cNvPr id="15" name="Text 12"/>
          <p:cNvSpPr txBox="1"/>
          <p:nvPr/>
        </p:nvSpPr>
        <p:spPr>
          <a:xfrm>
            <a:off x="5537598" y="2697480"/>
            <a:ext cx="1802096" cy="640080"/>
          </a:xfrm>
          <a:prstGeom prst="rect">
            <a:avLst/>
          </a:prstGeom>
          <a:noFill/>
          <a:ln/>
        </p:spPr>
        <p:txBody>
          <a:bodyPr wrap="square" lIns="0" tIns="0" rIns="0" bIns="0" rtlCol="0" anchor="ctr"/>
          <a:lstStyle/>
          <a:p>
            <a:pPr algn="ctr" indent="0" marL="0">
              <a:buNone/>
            </a:pPr>
            <a:r>
              <a:rPr lang="en-US" sz="1500" b="1" dirty="0">
                <a:solidFill>
                  <a:schemeClr val="bg1"/>
                </a:solidFill>
              </a:rPr>
              <a:t>20 dk odak</a:t>
            </a:r>
            <a:endParaRPr lang="en-US" sz="1500" dirty="0"/>
          </a:p>
        </p:txBody>
      </p:sp>
      <p:sp>
        <p:nvSpPr>
          <p:cNvPr id="16" name="Mola"/>
          <p:cNvSpPr/>
          <p:nvPr/>
        </p:nvSpPr>
        <p:spPr>
          <a:xfrm>
            <a:off x="7394559" y="2697480"/>
            <a:ext cx="450524" cy="640080"/>
          </a:xfrm>
          <a:prstGeom prst="roundRect">
            <a:avLst>
              <a:gd name="adj" fmla="val 36533"/>
            </a:avLst>
          </a:prstGeom>
          <a:solidFill>
            <a:schemeClr val="accent1"/>
          </a:solidFill>
          <a:ln/>
        </p:spPr>
      </p:sp>
      <p:sp>
        <p:nvSpPr>
          <p:cNvPr id="17" name="Text 14"/>
          <p:cNvSpPr txBox="1"/>
          <p:nvPr/>
        </p:nvSpPr>
        <p:spPr>
          <a:xfrm>
            <a:off x="7394559" y="2697480"/>
            <a:ext cx="450524" cy="640080"/>
          </a:xfrm>
          <a:prstGeom prst="rect">
            <a:avLst/>
          </a:prstGeom>
          <a:noFill/>
          <a:ln/>
        </p:spPr>
        <p:txBody>
          <a:bodyPr wrap="square" lIns="0" tIns="0" rIns="0" bIns="0" rtlCol="0" anchor="ctr"/>
          <a:lstStyle/>
          <a:p>
            <a:pPr algn="ctr" indent="0" marL="0">
              <a:buNone/>
            </a:pPr>
            <a:r>
              <a:rPr lang="en-US" sz="1500" b="1" dirty="0">
                <a:solidFill>
                  <a:schemeClr val="tx1"/>
                </a:solidFill>
              </a:rPr>
              <a:t>5</a:t>
            </a:r>
            <a:endParaRPr lang="en-US" sz="1500" dirty="0"/>
          </a:p>
        </p:txBody>
      </p:sp>
      <p:sp>
        <p:nvSpPr>
          <p:cNvPr id="18" name="Odak"/>
          <p:cNvSpPr/>
          <p:nvPr/>
        </p:nvSpPr>
        <p:spPr>
          <a:xfrm>
            <a:off x="7899947" y="2697480"/>
            <a:ext cx="1802096" cy="640080"/>
          </a:xfrm>
          <a:prstGeom prst="roundRect">
            <a:avLst>
              <a:gd name="adj" fmla="val 25714"/>
            </a:avLst>
          </a:prstGeom>
          <a:solidFill>
            <a:schemeClr val="tx1"/>
          </a:solidFill>
          <a:ln/>
        </p:spPr>
      </p:sp>
      <p:sp>
        <p:nvSpPr>
          <p:cNvPr id="19" name="Text 16"/>
          <p:cNvSpPr txBox="1"/>
          <p:nvPr/>
        </p:nvSpPr>
        <p:spPr>
          <a:xfrm>
            <a:off x="7899947" y="2697480"/>
            <a:ext cx="1802096" cy="640080"/>
          </a:xfrm>
          <a:prstGeom prst="rect">
            <a:avLst/>
          </a:prstGeom>
          <a:noFill/>
          <a:ln/>
        </p:spPr>
        <p:txBody>
          <a:bodyPr wrap="square" lIns="0" tIns="0" rIns="0" bIns="0" rtlCol="0" anchor="ctr"/>
          <a:lstStyle/>
          <a:p>
            <a:pPr algn="ctr" indent="0" marL="0">
              <a:buNone/>
            </a:pPr>
            <a:r>
              <a:rPr lang="en-US" sz="1500" b="1" dirty="0">
                <a:solidFill>
                  <a:schemeClr val="bg1"/>
                </a:solidFill>
              </a:rPr>
              <a:t>20 dk odak</a:t>
            </a:r>
            <a:endParaRPr lang="en-US" sz="1500" dirty="0"/>
          </a:p>
        </p:txBody>
      </p:sp>
      <p:sp>
        <p:nvSpPr>
          <p:cNvPr id="20" name="Mola"/>
          <p:cNvSpPr/>
          <p:nvPr/>
        </p:nvSpPr>
        <p:spPr>
          <a:xfrm>
            <a:off x="9756907" y="2697480"/>
            <a:ext cx="1621887" cy="640080"/>
          </a:xfrm>
          <a:prstGeom prst="roundRect">
            <a:avLst>
              <a:gd name="adj" fmla="val 25714"/>
            </a:avLst>
          </a:prstGeom>
          <a:solidFill>
            <a:schemeClr val="accent1"/>
          </a:solidFill>
          <a:ln/>
        </p:spPr>
      </p:sp>
      <p:sp>
        <p:nvSpPr>
          <p:cNvPr id="21" name="Text 18"/>
          <p:cNvSpPr txBox="1"/>
          <p:nvPr/>
        </p:nvSpPr>
        <p:spPr>
          <a:xfrm>
            <a:off x="9756907" y="2697480"/>
            <a:ext cx="1621887" cy="640080"/>
          </a:xfrm>
          <a:prstGeom prst="rect">
            <a:avLst/>
          </a:prstGeom>
          <a:noFill/>
          <a:ln/>
        </p:spPr>
        <p:txBody>
          <a:bodyPr wrap="square" lIns="0" tIns="0" rIns="0" bIns="0" rtlCol="0" anchor="ctr"/>
          <a:lstStyle/>
          <a:p>
            <a:pPr algn="ctr" indent="0" marL="0">
              <a:buNone/>
            </a:pPr>
            <a:r>
              <a:rPr lang="en-US" sz="1500" b="1" dirty="0">
                <a:solidFill>
                  <a:schemeClr val="tx1"/>
                </a:solidFill>
              </a:rPr>
              <a:t>Uzun mola</a:t>
            </a:r>
            <a:endParaRPr lang="en-US" sz="1500" dirty="0"/>
          </a:p>
        </p:txBody>
      </p:sp>
      <p:sp>
        <p:nvSpPr>
          <p:cNvPr id="22" name="Text 19"/>
          <p:cNvSpPr txBox="1"/>
          <p:nvPr/>
        </p:nvSpPr>
        <p:spPr>
          <a:xfrm>
            <a:off x="812902" y="3456432"/>
            <a:ext cx="10565892" cy="502920"/>
          </a:xfrm>
          <a:prstGeom prst="rect">
            <a:avLst/>
          </a:prstGeom>
          <a:noFill/>
          <a:ln/>
        </p:spPr>
        <p:txBody>
          <a:bodyPr wrap="square" lIns="0" tIns="0" rIns="0" bIns="0" rtlCol="0" anchor="t"/>
          <a:lstStyle/>
          <a:p>
            <a:pPr indent="0" marL="0">
              <a:buNone/>
            </a:pPr>
            <a:r>
              <a:rPr lang="en-US" sz="1500" dirty="0">
                <a:solidFill>
                  <a:schemeClr val="tx2"/>
                </a:solidFill>
              </a:rPr>
              <a:t>Sarı kutular mola: kısa molalar 5 dakika, 4 turdan sonraki uzun mola 15–30 dakika. Alıştıkça odak süresini 25 dakikaya çıkarabilirsin.</a:t>
            </a:r>
            <a:endParaRPr lang="en-US" sz="1500" dirty="0"/>
          </a:p>
        </p:txBody>
      </p:sp>
      <p:sp>
        <p:nvSpPr>
          <p:cNvPr id="23" name="Tek görev"/>
          <p:cNvSpPr/>
          <p:nvPr/>
        </p:nvSpPr>
        <p:spPr>
          <a:xfrm>
            <a:off x="812902" y="4206240"/>
            <a:ext cx="3320796" cy="1554480"/>
          </a:xfrm>
          <a:prstGeom prst="roundRect">
            <a:avLst>
              <a:gd name="adj" fmla="val 10588"/>
            </a:avLst>
          </a:prstGeom>
          <a:solidFill>
            <a:schemeClr val="bg2"/>
          </a:solidFill>
          <a:ln/>
        </p:spPr>
      </p:sp>
      <p:sp>
        <p:nvSpPr>
          <p:cNvPr id="24" name="Text 21"/>
          <p:cNvSpPr txBox="1"/>
          <p:nvPr/>
        </p:nvSpPr>
        <p:spPr>
          <a:xfrm>
            <a:off x="1087222" y="4407408"/>
            <a:ext cx="2772156" cy="384048"/>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Tek görev</a:t>
            </a:r>
            <a:endParaRPr lang="en-US" sz="1900" dirty="0"/>
          </a:p>
        </p:txBody>
      </p:sp>
      <p:sp>
        <p:nvSpPr>
          <p:cNvPr id="25" name="Text 22"/>
          <p:cNvSpPr txBox="1"/>
          <p:nvPr/>
        </p:nvSpPr>
        <p:spPr>
          <a:xfrm>
            <a:off x="1087222" y="4864608"/>
            <a:ext cx="2772156" cy="822960"/>
          </a:xfrm>
          <a:prstGeom prst="rect">
            <a:avLst/>
          </a:prstGeom>
          <a:noFill/>
          <a:ln/>
        </p:spPr>
        <p:txBody>
          <a:bodyPr wrap="square" lIns="0" tIns="0" rIns="0" bIns="0" rtlCol="0" anchor="t"/>
          <a:lstStyle/>
          <a:p>
            <a:pPr indent="0" marL="0">
              <a:buNone/>
            </a:pPr>
            <a:r>
              <a:rPr lang="en-US" sz="1500" dirty="0">
                <a:solidFill>
                  <a:schemeClr val="tx2"/>
                </a:solidFill>
              </a:rPr>
              <a:t>Her tura tek bir iş ver: “Matematik ödevi” gibi.</a:t>
            </a:r>
            <a:endParaRPr lang="en-US" sz="1500" dirty="0"/>
          </a:p>
        </p:txBody>
      </p:sp>
      <p:sp>
        <p:nvSpPr>
          <p:cNvPr id="26" name="Gerçek mola"/>
          <p:cNvSpPr/>
          <p:nvPr/>
        </p:nvSpPr>
        <p:spPr>
          <a:xfrm>
            <a:off x="4435450" y="4206240"/>
            <a:ext cx="3320796" cy="1554480"/>
          </a:xfrm>
          <a:prstGeom prst="roundRect">
            <a:avLst>
              <a:gd name="adj" fmla="val 10588"/>
            </a:avLst>
          </a:prstGeom>
          <a:solidFill>
            <a:schemeClr val="bg2"/>
          </a:solidFill>
          <a:ln/>
        </p:spPr>
      </p:sp>
      <p:sp>
        <p:nvSpPr>
          <p:cNvPr id="27" name="Text 24"/>
          <p:cNvSpPr txBox="1"/>
          <p:nvPr/>
        </p:nvSpPr>
        <p:spPr>
          <a:xfrm>
            <a:off x="4709770" y="4407408"/>
            <a:ext cx="2772156" cy="384048"/>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Gerçek mola</a:t>
            </a:r>
            <a:endParaRPr lang="en-US" sz="1900" dirty="0"/>
          </a:p>
        </p:txBody>
      </p:sp>
      <p:sp>
        <p:nvSpPr>
          <p:cNvPr id="28" name="Text 25"/>
          <p:cNvSpPr txBox="1"/>
          <p:nvPr/>
        </p:nvSpPr>
        <p:spPr>
          <a:xfrm>
            <a:off x="4709770" y="4864608"/>
            <a:ext cx="2772156" cy="822960"/>
          </a:xfrm>
          <a:prstGeom prst="rect">
            <a:avLst/>
          </a:prstGeom>
          <a:noFill/>
          <a:ln/>
        </p:spPr>
        <p:txBody>
          <a:bodyPr wrap="square" lIns="0" tIns="0" rIns="0" bIns="0" rtlCol="0" anchor="t"/>
          <a:lstStyle/>
          <a:p>
            <a:pPr indent="0" marL="0">
              <a:buNone/>
            </a:pPr>
            <a:r>
              <a:rPr lang="en-US" sz="1500" dirty="0">
                <a:solidFill>
                  <a:schemeClr val="tx2"/>
                </a:solidFill>
              </a:rPr>
              <a:t>Molada ekrana bakma; kalk, su iç, biraz hareket et.</a:t>
            </a:r>
            <a:endParaRPr lang="en-US" sz="1500" dirty="0"/>
          </a:p>
        </p:txBody>
      </p:sp>
      <p:sp>
        <p:nvSpPr>
          <p:cNvPr id="29" name="Not al, devam et"/>
          <p:cNvSpPr/>
          <p:nvPr/>
        </p:nvSpPr>
        <p:spPr>
          <a:xfrm>
            <a:off x="8057998" y="4206240"/>
            <a:ext cx="3320796" cy="1554480"/>
          </a:xfrm>
          <a:prstGeom prst="roundRect">
            <a:avLst>
              <a:gd name="adj" fmla="val 10588"/>
            </a:avLst>
          </a:prstGeom>
          <a:solidFill>
            <a:schemeClr val="bg2"/>
          </a:solidFill>
          <a:ln/>
        </p:spPr>
      </p:sp>
      <p:sp>
        <p:nvSpPr>
          <p:cNvPr id="30" name="Text 27"/>
          <p:cNvSpPr txBox="1"/>
          <p:nvPr/>
        </p:nvSpPr>
        <p:spPr>
          <a:xfrm>
            <a:off x="8332318" y="4407408"/>
            <a:ext cx="2772156" cy="384048"/>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Not al, devam et</a:t>
            </a:r>
            <a:endParaRPr lang="en-US" sz="1900" dirty="0"/>
          </a:p>
        </p:txBody>
      </p:sp>
      <p:sp>
        <p:nvSpPr>
          <p:cNvPr id="31" name="Text 28"/>
          <p:cNvSpPr txBox="1"/>
          <p:nvPr/>
        </p:nvSpPr>
        <p:spPr>
          <a:xfrm>
            <a:off x="8332318" y="4864608"/>
            <a:ext cx="2772156" cy="822960"/>
          </a:xfrm>
          <a:prstGeom prst="rect">
            <a:avLst/>
          </a:prstGeom>
          <a:noFill/>
          <a:ln/>
        </p:spPr>
        <p:txBody>
          <a:bodyPr wrap="square" lIns="0" tIns="0" rIns="0" bIns="0" rtlCol="0" anchor="t"/>
          <a:lstStyle/>
          <a:p>
            <a:pPr indent="0" marL="0">
              <a:buNone/>
            </a:pPr>
            <a:r>
              <a:rPr lang="en-US" sz="1500" dirty="0">
                <a:solidFill>
                  <a:schemeClr val="tx2"/>
                </a:solidFill>
              </a:rPr>
              <a:t>Aklına başka bir şey gelirse kâğıda yaz, sonra işine dön.</a:t>
            </a:r>
            <a:endParaRPr lang="en-US" sz="15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Okumak yetmez: kendini test et</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AKTİF HATIRLAMA</a:t>
            </a:r>
            <a:endParaRPr lang="en-US" sz="1400" dirty="0"/>
          </a:p>
        </p:txBody>
      </p:sp>
      <p:sp>
        <p:nvSpPr>
          <p:cNvPr id="5" name="Text 2"/>
          <p:cNvSpPr txBox="1"/>
          <p:nvPr/>
        </p:nvSpPr>
        <p:spPr>
          <a:xfrm>
            <a:off x="812902" y="1965960"/>
            <a:ext cx="10565892" cy="685800"/>
          </a:xfrm>
          <a:prstGeom prst="rect">
            <a:avLst/>
          </a:prstGeom>
          <a:noFill/>
          <a:ln/>
        </p:spPr>
        <p:txBody>
          <a:bodyPr wrap="square" lIns="0" tIns="0" rIns="0" bIns="0" rtlCol="0" anchor="t"/>
          <a:lstStyle/>
          <a:p>
            <a:pPr indent="0" marL="0">
              <a:buNone/>
            </a:pPr>
            <a:r>
              <a:rPr lang="en-US" sz="1800" dirty="0">
                <a:solidFill>
                  <a:schemeClr val="tx2"/>
                </a:solidFill>
              </a:rPr>
              <a:t>Araştırmalar, kendini test etmenin konuyu tekrar tekrar okumaktan daha kalıcı öğrenme sağladığını gösteriyor.</a:t>
            </a:r>
            <a:endParaRPr lang="en-US" sz="1800" dirty="0"/>
          </a:p>
        </p:txBody>
      </p:sp>
      <p:sp>
        <p:nvSpPr>
          <p:cNvPr id="6" name="Daha az etkili"/>
          <p:cNvSpPr/>
          <p:nvPr/>
        </p:nvSpPr>
        <p:spPr>
          <a:xfrm>
            <a:off x="812902" y="2834640"/>
            <a:ext cx="5122926" cy="2743200"/>
          </a:xfrm>
          <a:prstGeom prst="roundRect">
            <a:avLst>
              <a:gd name="adj" fmla="val 6000"/>
            </a:avLst>
          </a:prstGeom>
          <a:solidFill>
            <a:schemeClr val="bg1"/>
          </a:solidFill>
          <a:ln/>
        </p:spPr>
      </p:sp>
      <p:sp>
        <p:nvSpPr>
          <p:cNvPr id="7" name="Text 4"/>
          <p:cNvSpPr txBox="1"/>
          <p:nvPr/>
        </p:nvSpPr>
        <p:spPr>
          <a:xfrm>
            <a:off x="1178662" y="3108960"/>
            <a:ext cx="4391406" cy="502920"/>
          </a:xfrm>
          <a:prstGeom prst="rect">
            <a:avLst/>
          </a:prstGeom>
          <a:noFill/>
          <a:ln/>
        </p:spPr>
        <p:txBody>
          <a:bodyPr wrap="square" lIns="0" tIns="0" rIns="0" bIns="0" rtlCol="0" anchor="t"/>
          <a:lstStyle/>
          <a:p>
            <a:pPr indent="0" marL="0">
              <a:buNone/>
            </a:pPr>
            <a:r>
              <a:rPr lang="en-US" sz="2600" b="1" dirty="0">
                <a:solidFill>
                  <a:schemeClr val="tx1"/>
                </a:solidFill>
                <a:latin typeface="Arial" pitchFamily="34" charset="0"/>
                <a:ea typeface="Arial" pitchFamily="34" charset="-122"/>
                <a:cs typeface="Arial" pitchFamily="34" charset="-120"/>
              </a:rPr>
              <a:t>Daha az etkili</a:t>
            </a:r>
            <a:endParaRPr lang="en-US" sz="2600" dirty="0"/>
          </a:p>
        </p:txBody>
      </p:sp>
      <p:sp>
        <p:nvSpPr>
          <p:cNvPr id="8" name="Text 5"/>
          <p:cNvSpPr txBox="1"/>
          <p:nvPr/>
        </p:nvSpPr>
        <p:spPr>
          <a:xfrm>
            <a:off x="1178662" y="3794760"/>
            <a:ext cx="4391406" cy="155448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chemeClr val="tx2"/>
                </a:solidFill>
              </a:rPr>
              <a:t>Konuyu defalarca okumak</a:t>
            </a:r>
            <a:endParaRPr lang="en-US" sz="1900" dirty="0"/>
          </a:p>
          <a:p>
            <a:pPr marL="342900" indent="-342900">
              <a:spcAft>
                <a:spcPts val="800"/>
              </a:spcAft>
              <a:buSzPct val="100000"/>
              <a:buChar char="•"/>
            </a:pPr>
            <a:r>
              <a:rPr lang="en-US" sz="1900" dirty="0">
                <a:solidFill>
                  <a:schemeClr val="tx2"/>
                </a:solidFill>
              </a:rPr>
              <a:t>Her satırın altını çizmek</a:t>
            </a:r>
            <a:endParaRPr lang="en-US" sz="1900" dirty="0"/>
          </a:p>
          <a:p>
            <a:pPr marL="342900" indent="-342900">
              <a:spcAft>
                <a:spcPts val="800"/>
              </a:spcAft>
              <a:buSzPct val="100000"/>
              <a:buChar char="•"/>
            </a:pPr>
            <a:r>
              <a:rPr lang="en-US" sz="1900" dirty="0">
                <a:solidFill>
                  <a:schemeClr val="tx2"/>
                </a:solidFill>
              </a:rPr>
              <a:t>Cevaplara hemen bakmak</a:t>
            </a:r>
            <a:endParaRPr lang="en-US" sz="1900" dirty="0"/>
          </a:p>
        </p:txBody>
      </p:sp>
      <p:sp>
        <p:nvSpPr>
          <p:cNvPr id="9" name="Daha etkili"/>
          <p:cNvSpPr/>
          <p:nvPr/>
        </p:nvSpPr>
        <p:spPr>
          <a:xfrm>
            <a:off x="6255868" y="2834640"/>
            <a:ext cx="5122926" cy="2743200"/>
          </a:xfrm>
          <a:prstGeom prst="roundRect">
            <a:avLst>
              <a:gd name="adj" fmla="val 6000"/>
            </a:avLst>
          </a:prstGeom>
          <a:solidFill>
            <a:schemeClr val="tx1"/>
          </a:solidFill>
          <a:ln/>
        </p:spPr>
      </p:sp>
      <p:sp>
        <p:nvSpPr>
          <p:cNvPr id="10" name="Text 7"/>
          <p:cNvSpPr txBox="1"/>
          <p:nvPr/>
        </p:nvSpPr>
        <p:spPr>
          <a:xfrm>
            <a:off x="6621628" y="3108960"/>
            <a:ext cx="4391406" cy="50292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Daha etkili</a:t>
            </a:r>
            <a:endParaRPr lang="en-US" sz="2600" dirty="0"/>
          </a:p>
        </p:txBody>
      </p:sp>
      <p:sp>
        <p:nvSpPr>
          <p:cNvPr id="11" name="Text 8"/>
          <p:cNvSpPr txBox="1"/>
          <p:nvPr/>
        </p:nvSpPr>
        <p:spPr>
          <a:xfrm>
            <a:off x="6621628" y="3794760"/>
            <a:ext cx="4391406" cy="155448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chemeClr val="bg1"/>
                </a:solidFill>
              </a:rPr>
              <a:t>Kitabı kapat, hatırladığını yaz</a:t>
            </a:r>
            <a:endParaRPr lang="en-US" sz="1900" dirty="0"/>
          </a:p>
          <a:p>
            <a:pPr marL="342900" indent="-342900">
              <a:spcAft>
                <a:spcPts val="800"/>
              </a:spcAft>
              <a:buSzPct val="100000"/>
              <a:buChar char="•"/>
            </a:pPr>
            <a:r>
              <a:rPr lang="en-US" sz="1900" dirty="0">
                <a:solidFill>
                  <a:schemeClr val="bg1"/>
                </a:solidFill>
              </a:rPr>
              <a:t>Kendine soru sor ve cevapla</a:t>
            </a:r>
            <a:endParaRPr lang="en-US" sz="1900" dirty="0"/>
          </a:p>
          <a:p>
            <a:pPr marL="342900" indent="-342900">
              <a:spcAft>
                <a:spcPts val="800"/>
              </a:spcAft>
              <a:buSzPct val="100000"/>
              <a:buChar char="•"/>
            </a:pPr>
            <a:r>
              <a:rPr lang="en-US" sz="1900" dirty="0">
                <a:solidFill>
                  <a:schemeClr val="bg1"/>
                </a:solidFill>
              </a:rPr>
              <a:t>Önce çöz, sonra cevaba bak</a:t>
            </a:r>
            <a:endParaRPr lang="en-US" sz="19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Unutmadan önce tekrar et</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ARALIKLI TEKRAR</a:t>
            </a:r>
            <a:endParaRPr lang="en-US" sz="1400" dirty="0"/>
          </a:p>
        </p:txBody>
      </p:sp>
      <p:sp>
        <p:nvSpPr>
          <p:cNvPr id="5" name="Zaman çizgisi"/>
          <p:cNvSpPr/>
          <p:nvPr/>
        </p:nvSpPr>
        <p:spPr>
          <a:xfrm>
            <a:off x="2133638" y="2423160"/>
            <a:ext cx="7924419" cy="0"/>
          </a:xfrm>
          <a:prstGeom prst="line">
            <a:avLst/>
          </a:prstGeom>
          <a:noFill/>
          <a:ln w="31750">
            <a:solidFill>
              <a:schemeClr val="tx1"/>
            </a:solidFill>
            <a:prstDash val="solid"/>
          </a:ln>
        </p:spPr>
      </p:sp>
      <p:sp>
        <p:nvSpPr>
          <p:cNvPr id="6" name="Adım 1"/>
          <p:cNvSpPr/>
          <p:nvPr/>
        </p:nvSpPr>
        <p:spPr>
          <a:xfrm>
            <a:off x="1767878" y="2057400"/>
            <a:ext cx="731520" cy="731520"/>
          </a:xfrm>
          <a:prstGeom prst="ellipse">
            <a:avLst/>
          </a:prstGeom>
          <a:solidFill>
            <a:schemeClr val="accent1"/>
          </a:solidFill>
          <a:ln/>
        </p:spPr>
      </p:sp>
      <p:sp>
        <p:nvSpPr>
          <p:cNvPr id="7" name="Text 4"/>
          <p:cNvSpPr txBox="1"/>
          <p:nvPr/>
        </p:nvSpPr>
        <p:spPr>
          <a:xfrm>
            <a:off x="1767878" y="205740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latin typeface="Arial" pitchFamily="34" charset="0"/>
                <a:ea typeface="Arial" pitchFamily="34" charset="-122"/>
                <a:cs typeface="Arial" pitchFamily="34" charset="-120"/>
              </a:rPr>
              <a:t>1</a:t>
            </a:r>
            <a:endParaRPr lang="en-US" sz="2400" dirty="0"/>
          </a:p>
        </p:txBody>
      </p:sp>
      <p:sp>
        <p:nvSpPr>
          <p:cNvPr id="8" name="Text 5"/>
          <p:cNvSpPr txBox="1"/>
          <p:nvPr/>
        </p:nvSpPr>
        <p:spPr>
          <a:xfrm>
            <a:off x="904342" y="2971800"/>
            <a:ext cx="2458593" cy="384048"/>
          </a:xfrm>
          <a:prstGeom prst="rect">
            <a:avLst/>
          </a:prstGeom>
          <a:noFill/>
          <a:ln/>
        </p:spPr>
        <p:txBody>
          <a:bodyPr wrap="square" lIns="0" tIns="0" rIns="0" bIns="0" rtlCol="0" anchor="t"/>
          <a:lstStyle/>
          <a:p>
            <a:pPr algn="ctr" indent="0" marL="0">
              <a:buNone/>
            </a:pPr>
            <a:r>
              <a:rPr lang="en-US" sz="2000" b="1" dirty="0">
                <a:solidFill>
                  <a:schemeClr val="tx1"/>
                </a:solidFill>
                <a:latin typeface="Arial" pitchFamily="34" charset="0"/>
                <a:ea typeface="Arial" pitchFamily="34" charset="-122"/>
                <a:cs typeface="Arial" pitchFamily="34" charset="-120"/>
              </a:rPr>
              <a:t>Bugün</a:t>
            </a:r>
            <a:endParaRPr lang="en-US" sz="2000" dirty="0"/>
          </a:p>
        </p:txBody>
      </p:sp>
      <p:sp>
        <p:nvSpPr>
          <p:cNvPr id="9" name="Text 6"/>
          <p:cNvSpPr txBox="1"/>
          <p:nvPr/>
        </p:nvSpPr>
        <p:spPr>
          <a:xfrm>
            <a:off x="1087222" y="3401568"/>
            <a:ext cx="2092833" cy="777240"/>
          </a:xfrm>
          <a:prstGeom prst="rect">
            <a:avLst/>
          </a:prstGeom>
          <a:noFill/>
          <a:ln/>
        </p:spPr>
        <p:txBody>
          <a:bodyPr wrap="square" lIns="0" tIns="0" rIns="0" bIns="0" rtlCol="0" anchor="t"/>
          <a:lstStyle/>
          <a:p>
            <a:pPr algn="ctr" indent="0" marL="0">
              <a:buNone/>
            </a:pPr>
            <a:r>
              <a:rPr lang="en-US" sz="1600" dirty="0">
                <a:solidFill>
                  <a:schemeClr val="tx2"/>
                </a:solidFill>
              </a:rPr>
              <a:t>Dersi dinle, kısa bir özet çıkar.</a:t>
            </a:r>
            <a:endParaRPr lang="en-US" sz="1600" dirty="0"/>
          </a:p>
        </p:txBody>
      </p:sp>
      <p:sp>
        <p:nvSpPr>
          <p:cNvPr id="10" name="Adım 2"/>
          <p:cNvSpPr/>
          <p:nvPr/>
        </p:nvSpPr>
        <p:spPr>
          <a:xfrm>
            <a:off x="4409351" y="2057400"/>
            <a:ext cx="731520" cy="731520"/>
          </a:xfrm>
          <a:prstGeom prst="ellipse">
            <a:avLst/>
          </a:prstGeom>
          <a:solidFill>
            <a:schemeClr val="accent1"/>
          </a:solidFill>
          <a:ln/>
        </p:spPr>
      </p:sp>
      <p:sp>
        <p:nvSpPr>
          <p:cNvPr id="11" name="Text 8"/>
          <p:cNvSpPr txBox="1"/>
          <p:nvPr/>
        </p:nvSpPr>
        <p:spPr>
          <a:xfrm>
            <a:off x="4409351" y="205740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latin typeface="Arial" pitchFamily="34" charset="0"/>
                <a:ea typeface="Arial" pitchFamily="34" charset="-122"/>
                <a:cs typeface="Arial" pitchFamily="34" charset="-120"/>
              </a:rPr>
              <a:t>2</a:t>
            </a:r>
            <a:endParaRPr lang="en-US" sz="2400" dirty="0"/>
          </a:p>
        </p:txBody>
      </p:sp>
      <p:sp>
        <p:nvSpPr>
          <p:cNvPr id="12" name="Text 9"/>
          <p:cNvSpPr txBox="1"/>
          <p:nvPr/>
        </p:nvSpPr>
        <p:spPr>
          <a:xfrm>
            <a:off x="3545815" y="2971800"/>
            <a:ext cx="2458593" cy="384048"/>
          </a:xfrm>
          <a:prstGeom prst="rect">
            <a:avLst/>
          </a:prstGeom>
          <a:noFill/>
          <a:ln/>
        </p:spPr>
        <p:txBody>
          <a:bodyPr wrap="square" lIns="0" tIns="0" rIns="0" bIns="0" rtlCol="0" anchor="t"/>
          <a:lstStyle/>
          <a:p>
            <a:pPr algn="ctr" indent="0" marL="0">
              <a:buNone/>
            </a:pPr>
            <a:r>
              <a:rPr lang="en-US" sz="2000" b="1" dirty="0">
                <a:solidFill>
                  <a:schemeClr val="tx1"/>
                </a:solidFill>
                <a:latin typeface="Arial" pitchFamily="34" charset="0"/>
                <a:ea typeface="Arial" pitchFamily="34" charset="-122"/>
                <a:cs typeface="Arial" pitchFamily="34" charset="-120"/>
              </a:rPr>
              <a:t>Ertesi gün</a:t>
            </a:r>
            <a:endParaRPr lang="en-US" sz="2000" dirty="0"/>
          </a:p>
        </p:txBody>
      </p:sp>
      <p:sp>
        <p:nvSpPr>
          <p:cNvPr id="13" name="Text 10"/>
          <p:cNvSpPr txBox="1"/>
          <p:nvPr/>
        </p:nvSpPr>
        <p:spPr>
          <a:xfrm>
            <a:off x="3728695" y="3401568"/>
            <a:ext cx="2092833" cy="777240"/>
          </a:xfrm>
          <a:prstGeom prst="rect">
            <a:avLst/>
          </a:prstGeom>
          <a:noFill/>
          <a:ln/>
        </p:spPr>
        <p:txBody>
          <a:bodyPr wrap="square" lIns="0" tIns="0" rIns="0" bIns="0" rtlCol="0" anchor="t"/>
          <a:lstStyle/>
          <a:p>
            <a:pPr algn="ctr" indent="0" marL="0">
              <a:buNone/>
            </a:pPr>
            <a:r>
              <a:rPr lang="en-US" sz="1600" dirty="0">
                <a:solidFill>
                  <a:schemeClr val="tx2"/>
                </a:solidFill>
              </a:rPr>
              <a:t>Kitabı kapat, hatırladıklarını anlat.</a:t>
            </a:r>
            <a:endParaRPr lang="en-US" sz="1600" dirty="0"/>
          </a:p>
        </p:txBody>
      </p:sp>
      <p:sp>
        <p:nvSpPr>
          <p:cNvPr id="14" name="Adım 3"/>
          <p:cNvSpPr/>
          <p:nvPr/>
        </p:nvSpPr>
        <p:spPr>
          <a:xfrm>
            <a:off x="7050824" y="2057400"/>
            <a:ext cx="731520" cy="731520"/>
          </a:xfrm>
          <a:prstGeom prst="ellipse">
            <a:avLst/>
          </a:prstGeom>
          <a:solidFill>
            <a:schemeClr val="accent1"/>
          </a:solidFill>
          <a:ln/>
        </p:spPr>
      </p:sp>
      <p:sp>
        <p:nvSpPr>
          <p:cNvPr id="15" name="Text 12"/>
          <p:cNvSpPr txBox="1"/>
          <p:nvPr/>
        </p:nvSpPr>
        <p:spPr>
          <a:xfrm>
            <a:off x="7050824" y="205740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latin typeface="Arial" pitchFamily="34" charset="0"/>
                <a:ea typeface="Arial" pitchFamily="34" charset="-122"/>
                <a:cs typeface="Arial" pitchFamily="34" charset="-120"/>
              </a:rPr>
              <a:t>3</a:t>
            </a:r>
            <a:endParaRPr lang="en-US" sz="2400" dirty="0"/>
          </a:p>
        </p:txBody>
      </p:sp>
      <p:sp>
        <p:nvSpPr>
          <p:cNvPr id="16" name="Text 13"/>
          <p:cNvSpPr txBox="1"/>
          <p:nvPr/>
        </p:nvSpPr>
        <p:spPr>
          <a:xfrm>
            <a:off x="6187288" y="2971800"/>
            <a:ext cx="2458593" cy="384048"/>
          </a:xfrm>
          <a:prstGeom prst="rect">
            <a:avLst/>
          </a:prstGeom>
          <a:noFill/>
          <a:ln/>
        </p:spPr>
        <p:txBody>
          <a:bodyPr wrap="square" lIns="0" tIns="0" rIns="0" bIns="0" rtlCol="0" anchor="t"/>
          <a:lstStyle/>
          <a:p>
            <a:pPr algn="ctr" indent="0" marL="0">
              <a:buNone/>
            </a:pPr>
            <a:r>
              <a:rPr lang="en-US" sz="2000" b="1" dirty="0">
                <a:solidFill>
                  <a:schemeClr val="tx1"/>
                </a:solidFill>
                <a:latin typeface="Arial" pitchFamily="34" charset="0"/>
                <a:ea typeface="Arial" pitchFamily="34" charset="-122"/>
                <a:cs typeface="Arial" pitchFamily="34" charset="-120"/>
              </a:rPr>
              <a:t>Hafta sonu</a:t>
            </a:r>
            <a:endParaRPr lang="en-US" sz="2000" dirty="0"/>
          </a:p>
        </p:txBody>
      </p:sp>
      <p:sp>
        <p:nvSpPr>
          <p:cNvPr id="17" name="Text 14"/>
          <p:cNvSpPr txBox="1"/>
          <p:nvPr/>
        </p:nvSpPr>
        <p:spPr>
          <a:xfrm>
            <a:off x="6370168" y="3401568"/>
            <a:ext cx="2092833" cy="777240"/>
          </a:xfrm>
          <a:prstGeom prst="rect">
            <a:avLst/>
          </a:prstGeom>
          <a:noFill/>
          <a:ln/>
        </p:spPr>
        <p:txBody>
          <a:bodyPr wrap="square" lIns="0" tIns="0" rIns="0" bIns="0" rtlCol="0" anchor="t"/>
          <a:lstStyle/>
          <a:p>
            <a:pPr algn="ctr" indent="0" marL="0">
              <a:buNone/>
            </a:pPr>
            <a:r>
              <a:rPr lang="en-US" sz="1600" dirty="0">
                <a:solidFill>
                  <a:schemeClr val="tx2"/>
                </a:solidFill>
              </a:rPr>
              <a:t>O haftanın konularını tekrar et.</a:t>
            </a:r>
            <a:endParaRPr lang="en-US" sz="1600" dirty="0"/>
          </a:p>
        </p:txBody>
      </p:sp>
      <p:sp>
        <p:nvSpPr>
          <p:cNvPr id="18" name="Adım 4"/>
          <p:cNvSpPr/>
          <p:nvPr/>
        </p:nvSpPr>
        <p:spPr>
          <a:xfrm>
            <a:off x="9692297" y="2057400"/>
            <a:ext cx="731520" cy="731520"/>
          </a:xfrm>
          <a:prstGeom prst="ellipse">
            <a:avLst/>
          </a:prstGeom>
          <a:solidFill>
            <a:schemeClr val="accent1"/>
          </a:solidFill>
          <a:ln/>
        </p:spPr>
      </p:sp>
      <p:sp>
        <p:nvSpPr>
          <p:cNvPr id="19" name="Text 16"/>
          <p:cNvSpPr txBox="1"/>
          <p:nvPr/>
        </p:nvSpPr>
        <p:spPr>
          <a:xfrm>
            <a:off x="9692297" y="205740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latin typeface="Arial" pitchFamily="34" charset="0"/>
                <a:ea typeface="Arial" pitchFamily="34" charset="-122"/>
                <a:cs typeface="Arial" pitchFamily="34" charset="-120"/>
              </a:rPr>
              <a:t>4</a:t>
            </a:r>
            <a:endParaRPr lang="en-US" sz="2400" dirty="0"/>
          </a:p>
        </p:txBody>
      </p:sp>
      <p:sp>
        <p:nvSpPr>
          <p:cNvPr id="20" name="Text 17"/>
          <p:cNvSpPr txBox="1"/>
          <p:nvPr/>
        </p:nvSpPr>
        <p:spPr>
          <a:xfrm>
            <a:off x="8828761" y="2971800"/>
            <a:ext cx="2458593" cy="384048"/>
          </a:xfrm>
          <a:prstGeom prst="rect">
            <a:avLst/>
          </a:prstGeom>
          <a:noFill/>
          <a:ln/>
        </p:spPr>
        <p:txBody>
          <a:bodyPr wrap="square" lIns="0" tIns="0" rIns="0" bIns="0" rtlCol="0" anchor="t"/>
          <a:lstStyle/>
          <a:p>
            <a:pPr algn="ctr" indent="0" marL="0">
              <a:buNone/>
            </a:pPr>
            <a:r>
              <a:rPr lang="en-US" sz="2000" b="1" dirty="0">
                <a:solidFill>
                  <a:schemeClr val="tx1"/>
                </a:solidFill>
                <a:latin typeface="Arial" pitchFamily="34" charset="0"/>
                <a:ea typeface="Arial" pitchFamily="34" charset="-122"/>
                <a:cs typeface="Arial" pitchFamily="34" charset="-120"/>
              </a:rPr>
              <a:t>Ay sonu</a:t>
            </a:r>
            <a:endParaRPr lang="en-US" sz="2000" dirty="0"/>
          </a:p>
        </p:txBody>
      </p:sp>
      <p:sp>
        <p:nvSpPr>
          <p:cNvPr id="21" name="Text 18"/>
          <p:cNvSpPr txBox="1"/>
          <p:nvPr/>
        </p:nvSpPr>
        <p:spPr>
          <a:xfrm>
            <a:off x="9011641" y="3401568"/>
            <a:ext cx="2092833" cy="777240"/>
          </a:xfrm>
          <a:prstGeom prst="rect">
            <a:avLst/>
          </a:prstGeom>
          <a:noFill/>
          <a:ln/>
        </p:spPr>
        <p:txBody>
          <a:bodyPr wrap="square" lIns="0" tIns="0" rIns="0" bIns="0" rtlCol="0" anchor="t"/>
          <a:lstStyle/>
          <a:p>
            <a:pPr algn="ctr" indent="0" marL="0">
              <a:buNone/>
            </a:pPr>
            <a:r>
              <a:rPr lang="en-US" sz="1600" dirty="0">
                <a:solidFill>
                  <a:schemeClr val="tx2"/>
                </a:solidFill>
              </a:rPr>
              <a:t>Karışık sorularla kendini dene.</a:t>
            </a:r>
            <a:endParaRPr lang="en-US" sz="1600" dirty="0"/>
          </a:p>
        </p:txBody>
      </p:sp>
      <p:sp>
        <p:nvSpPr>
          <p:cNvPr id="22" name="Text 19"/>
          <p:cNvSpPr txBox="1"/>
          <p:nvPr/>
        </p:nvSpPr>
        <p:spPr>
          <a:xfrm>
            <a:off x="812902" y="4572000"/>
            <a:ext cx="10565892" cy="731520"/>
          </a:xfrm>
          <a:prstGeom prst="rect">
            <a:avLst/>
          </a:prstGeom>
          <a:noFill/>
          <a:ln/>
        </p:spPr>
        <p:txBody>
          <a:bodyPr wrap="square" lIns="0" tIns="0" rIns="0" bIns="0" rtlCol="0" anchor="t"/>
          <a:lstStyle/>
          <a:p>
            <a:pPr indent="0" marL="0">
              <a:buNone/>
            </a:pPr>
            <a:r>
              <a:rPr lang="en-US" sz="1800" dirty="0">
                <a:solidFill>
                  <a:schemeClr val="tx2"/>
                </a:solidFill>
              </a:rPr>
              <a:t>Bir konuyu tek seferde uzun uzun çalışmak yerine aralıklarla tekrar etmek, bilgiyi daha uzun süre akılda tutar. Bu takvim bir örnektir.</a:t>
            </a:r>
            <a:endParaRPr lang="en-US" sz="18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Öğreterek öğren: öğretmencilik oyunu</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FEYNMAN TEKNİĞİ</a:t>
            </a:r>
            <a:endParaRPr lang="en-US" sz="1400" dirty="0"/>
          </a:p>
        </p:txBody>
      </p:sp>
      <p:sp>
        <p:nvSpPr>
          <p:cNvPr id="5" name="Text 2"/>
          <p:cNvSpPr txBox="1"/>
          <p:nvPr/>
        </p:nvSpPr>
        <p:spPr>
          <a:xfrm>
            <a:off x="812902" y="1965960"/>
            <a:ext cx="10565892" cy="685800"/>
          </a:xfrm>
          <a:prstGeom prst="rect">
            <a:avLst/>
          </a:prstGeom>
          <a:noFill/>
          <a:ln/>
        </p:spPr>
        <p:txBody>
          <a:bodyPr wrap="square" lIns="0" tIns="0" rIns="0" bIns="0" rtlCol="0" anchor="t"/>
          <a:lstStyle/>
          <a:p>
            <a:pPr indent="0" marL="0">
              <a:buNone/>
            </a:pPr>
            <a:r>
              <a:rPr lang="en-US" sz="1800" dirty="0">
                <a:solidFill>
                  <a:schemeClr val="tx2"/>
                </a:solidFill>
              </a:rPr>
              <a:t>Fizikçi Richard Feynman’ın adıyla anılan bu yöntemin fikri basit: Bir konuyu sade bir dille anlatabiliyorsan, onu gerçekten öğrenmişsindir.</a:t>
            </a:r>
            <a:endParaRPr lang="en-US" sz="1800" dirty="0"/>
          </a:p>
        </p:txBody>
      </p:sp>
      <p:sp>
        <p:nvSpPr>
          <p:cNvPr id="6" name="Konuyu seç"/>
          <p:cNvSpPr/>
          <p:nvPr/>
        </p:nvSpPr>
        <p:spPr>
          <a:xfrm>
            <a:off x="812902" y="2834640"/>
            <a:ext cx="2435733" cy="2743200"/>
          </a:xfrm>
          <a:prstGeom prst="roundRect">
            <a:avLst>
              <a:gd name="adj" fmla="val 6757"/>
            </a:avLst>
          </a:prstGeom>
          <a:solidFill>
            <a:schemeClr val="bg1"/>
          </a:solidFill>
          <a:ln/>
        </p:spPr>
      </p:sp>
      <p:sp>
        <p:nvSpPr>
          <p:cNvPr id="7" name="Text 4"/>
          <p:cNvSpPr txBox="1"/>
          <p:nvPr/>
        </p:nvSpPr>
        <p:spPr>
          <a:xfrm>
            <a:off x="1087222" y="3017520"/>
            <a:ext cx="914400" cy="640080"/>
          </a:xfrm>
          <a:prstGeom prst="rect">
            <a:avLst/>
          </a:prstGeom>
          <a:noFill/>
          <a:ln/>
        </p:spPr>
        <p:txBody>
          <a:bodyPr wrap="square" lIns="0" tIns="0" rIns="0" bIns="0" rtlCol="0" anchor="t"/>
          <a:lstStyle/>
          <a:p>
            <a:pPr indent="0" marL="0">
              <a:buNone/>
            </a:pPr>
            <a:r>
              <a:rPr lang="en-US" sz="4000" b="1" dirty="0">
                <a:solidFill>
                  <a:schemeClr val="accent2"/>
                </a:solidFill>
                <a:latin typeface="Arial" pitchFamily="34" charset="0"/>
                <a:ea typeface="Arial" pitchFamily="34" charset="-122"/>
                <a:cs typeface="Arial" pitchFamily="34" charset="-120"/>
              </a:rPr>
              <a:t>1</a:t>
            </a:r>
            <a:endParaRPr lang="en-US" sz="4000" dirty="0"/>
          </a:p>
        </p:txBody>
      </p:sp>
      <p:sp>
        <p:nvSpPr>
          <p:cNvPr id="8" name="Text 5"/>
          <p:cNvSpPr txBox="1"/>
          <p:nvPr/>
        </p:nvSpPr>
        <p:spPr>
          <a:xfrm>
            <a:off x="1087222" y="3703320"/>
            <a:ext cx="1887093" cy="6400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Konuyu seç</a:t>
            </a:r>
            <a:endParaRPr lang="en-US" sz="1900" dirty="0"/>
          </a:p>
        </p:txBody>
      </p:sp>
      <p:sp>
        <p:nvSpPr>
          <p:cNvPr id="9" name="Text 6"/>
          <p:cNvSpPr txBox="1"/>
          <p:nvPr/>
        </p:nvSpPr>
        <p:spPr>
          <a:xfrm>
            <a:off x="1087222" y="4389120"/>
            <a:ext cx="1887093" cy="1051560"/>
          </a:xfrm>
          <a:prstGeom prst="rect">
            <a:avLst/>
          </a:prstGeom>
          <a:noFill/>
          <a:ln/>
        </p:spPr>
        <p:txBody>
          <a:bodyPr wrap="square" lIns="0" tIns="0" rIns="0" bIns="0" rtlCol="0" anchor="t"/>
          <a:lstStyle/>
          <a:p>
            <a:pPr indent="0" marL="0">
              <a:buNone/>
            </a:pPr>
            <a:r>
              <a:rPr lang="en-US" sz="1500" dirty="0">
                <a:solidFill>
                  <a:schemeClr val="tx2"/>
                </a:solidFill>
              </a:rPr>
              <a:t>Bugün öğrendiğin bir konuyu seç.</a:t>
            </a:r>
            <a:endParaRPr lang="en-US" sz="1500" dirty="0"/>
          </a:p>
        </p:txBody>
      </p:sp>
      <p:sp>
        <p:nvSpPr>
          <p:cNvPr id="10" name="Öğretmen ol"/>
          <p:cNvSpPr/>
          <p:nvPr/>
        </p:nvSpPr>
        <p:spPr>
          <a:xfrm>
            <a:off x="3522955" y="2834640"/>
            <a:ext cx="2435733" cy="2743200"/>
          </a:xfrm>
          <a:prstGeom prst="roundRect">
            <a:avLst>
              <a:gd name="adj" fmla="val 6757"/>
            </a:avLst>
          </a:prstGeom>
          <a:solidFill>
            <a:schemeClr val="bg1"/>
          </a:solidFill>
          <a:ln/>
        </p:spPr>
      </p:sp>
      <p:sp>
        <p:nvSpPr>
          <p:cNvPr id="11" name="Text 8"/>
          <p:cNvSpPr txBox="1"/>
          <p:nvPr/>
        </p:nvSpPr>
        <p:spPr>
          <a:xfrm>
            <a:off x="3797275" y="3017520"/>
            <a:ext cx="914400" cy="640080"/>
          </a:xfrm>
          <a:prstGeom prst="rect">
            <a:avLst/>
          </a:prstGeom>
          <a:noFill/>
          <a:ln/>
        </p:spPr>
        <p:txBody>
          <a:bodyPr wrap="square" lIns="0" tIns="0" rIns="0" bIns="0" rtlCol="0" anchor="t"/>
          <a:lstStyle/>
          <a:p>
            <a:pPr indent="0" marL="0">
              <a:buNone/>
            </a:pPr>
            <a:r>
              <a:rPr lang="en-US" sz="4000" b="1" dirty="0">
                <a:solidFill>
                  <a:schemeClr val="accent2"/>
                </a:solidFill>
                <a:latin typeface="Arial" pitchFamily="34" charset="0"/>
                <a:ea typeface="Arial" pitchFamily="34" charset="-122"/>
                <a:cs typeface="Arial" pitchFamily="34" charset="-120"/>
              </a:rPr>
              <a:t>2</a:t>
            </a:r>
            <a:endParaRPr lang="en-US" sz="4000" dirty="0"/>
          </a:p>
        </p:txBody>
      </p:sp>
      <p:sp>
        <p:nvSpPr>
          <p:cNvPr id="12" name="Text 9"/>
          <p:cNvSpPr txBox="1"/>
          <p:nvPr/>
        </p:nvSpPr>
        <p:spPr>
          <a:xfrm>
            <a:off x="3797275" y="3703320"/>
            <a:ext cx="1887093" cy="6400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Öğretmen ol</a:t>
            </a:r>
            <a:endParaRPr lang="en-US" sz="1900" dirty="0"/>
          </a:p>
        </p:txBody>
      </p:sp>
      <p:sp>
        <p:nvSpPr>
          <p:cNvPr id="13" name="Text 10"/>
          <p:cNvSpPr txBox="1"/>
          <p:nvPr/>
        </p:nvSpPr>
        <p:spPr>
          <a:xfrm>
            <a:off x="3797275" y="4389120"/>
            <a:ext cx="1887093" cy="1051560"/>
          </a:xfrm>
          <a:prstGeom prst="rect">
            <a:avLst/>
          </a:prstGeom>
          <a:noFill/>
          <a:ln/>
        </p:spPr>
        <p:txBody>
          <a:bodyPr wrap="square" lIns="0" tIns="0" rIns="0" bIns="0" rtlCol="0" anchor="t"/>
          <a:lstStyle/>
          <a:p>
            <a:pPr indent="0" marL="0">
              <a:buNone/>
            </a:pPr>
            <a:r>
              <a:rPr lang="en-US" sz="1500" dirty="0">
                <a:solidFill>
                  <a:schemeClr val="tx2"/>
                </a:solidFill>
              </a:rPr>
              <a:t>Kardeşine, ailene ya da oyuncaklarına anlatır gibi anlat.</a:t>
            </a:r>
            <a:endParaRPr lang="en-US" sz="1500" dirty="0"/>
          </a:p>
        </p:txBody>
      </p:sp>
      <p:sp>
        <p:nvSpPr>
          <p:cNvPr id="14" name="Takıldığın yeri bul"/>
          <p:cNvSpPr/>
          <p:nvPr/>
        </p:nvSpPr>
        <p:spPr>
          <a:xfrm>
            <a:off x="6233008" y="2834640"/>
            <a:ext cx="2435733" cy="2743200"/>
          </a:xfrm>
          <a:prstGeom prst="roundRect">
            <a:avLst>
              <a:gd name="adj" fmla="val 6757"/>
            </a:avLst>
          </a:prstGeom>
          <a:solidFill>
            <a:schemeClr val="bg1"/>
          </a:solidFill>
          <a:ln/>
        </p:spPr>
      </p:sp>
      <p:sp>
        <p:nvSpPr>
          <p:cNvPr id="15" name="Text 12"/>
          <p:cNvSpPr txBox="1"/>
          <p:nvPr/>
        </p:nvSpPr>
        <p:spPr>
          <a:xfrm>
            <a:off x="6507328" y="3017520"/>
            <a:ext cx="914400" cy="640080"/>
          </a:xfrm>
          <a:prstGeom prst="rect">
            <a:avLst/>
          </a:prstGeom>
          <a:noFill/>
          <a:ln/>
        </p:spPr>
        <p:txBody>
          <a:bodyPr wrap="square" lIns="0" tIns="0" rIns="0" bIns="0" rtlCol="0" anchor="t"/>
          <a:lstStyle/>
          <a:p>
            <a:pPr indent="0" marL="0">
              <a:buNone/>
            </a:pPr>
            <a:r>
              <a:rPr lang="en-US" sz="4000" b="1" dirty="0">
                <a:solidFill>
                  <a:schemeClr val="accent2"/>
                </a:solidFill>
                <a:latin typeface="Arial" pitchFamily="34" charset="0"/>
                <a:ea typeface="Arial" pitchFamily="34" charset="-122"/>
                <a:cs typeface="Arial" pitchFamily="34" charset="-120"/>
              </a:rPr>
              <a:t>3</a:t>
            </a:r>
            <a:endParaRPr lang="en-US" sz="4000" dirty="0"/>
          </a:p>
        </p:txBody>
      </p:sp>
      <p:sp>
        <p:nvSpPr>
          <p:cNvPr id="16" name="Text 13"/>
          <p:cNvSpPr txBox="1"/>
          <p:nvPr/>
        </p:nvSpPr>
        <p:spPr>
          <a:xfrm>
            <a:off x="6507328" y="3703320"/>
            <a:ext cx="1887093" cy="6400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Takıldığın yeri bul</a:t>
            </a:r>
            <a:endParaRPr lang="en-US" sz="1900" dirty="0"/>
          </a:p>
        </p:txBody>
      </p:sp>
      <p:sp>
        <p:nvSpPr>
          <p:cNvPr id="17" name="Text 14"/>
          <p:cNvSpPr txBox="1"/>
          <p:nvPr/>
        </p:nvSpPr>
        <p:spPr>
          <a:xfrm>
            <a:off x="6507328" y="4389120"/>
            <a:ext cx="1887093" cy="1051560"/>
          </a:xfrm>
          <a:prstGeom prst="rect">
            <a:avLst/>
          </a:prstGeom>
          <a:noFill/>
          <a:ln/>
        </p:spPr>
        <p:txBody>
          <a:bodyPr wrap="square" lIns="0" tIns="0" rIns="0" bIns="0" rtlCol="0" anchor="t"/>
          <a:lstStyle/>
          <a:p>
            <a:pPr indent="0" marL="0">
              <a:buNone/>
            </a:pPr>
            <a:r>
              <a:rPr lang="en-US" sz="1500" dirty="0">
                <a:solidFill>
                  <a:schemeClr val="tx2"/>
                </a:solidFill>
              </a:rPr>
              <a:t>Zorlandığın yerde kitaba dön, eksiğini tamamla.</a:t>
            </a:r>
            <a:endParaRPr lang="en-US" sz="1500" dirty="0"/>
          </a:p>
        </p:txBody>
      </p:sp>
      <p:sp>
        <p:nvSpPr>
          <p:cNvPr id="18" name="Tekrar anlat"/>
          <p:cNvSpPr/>
          <p:nvPr/>
        </p:nvSpPr>
        <p:spPr>
          <a:xfrm>
            <a:off x="8943061" y="2834640"/>
            <a:ext cx="2435733" cy="2743200"/>
          </a:xfrm>
          <a:prstGeom prst="roundRect">
            <a:avLst>
              <a:gd name="adj" fmla="val 6757"/>
            </a:avLst>
          </a:prstGeom>
          <a:solidFill>
            <a:schemeClr val="bg1"/>
          </a:solidFill>
          <a:ln/>
        </p:spPr>
      </p:sp>
      <p:sp>
        <p:nvSpPr>
          <p:cNvPr id="19" name="Text 16"/>
          <p:cNvSpPr txBox="1"/>
          <p:nvPr/>
        </p:nvSpPr>
        <p:spPr>
          <a:xfrm>
            <a:off x="9217381" y="3017520"/>
            <a:ext cx="914400" cy="640080"/>
          </a:xfrm>
          <a:prstGeom prst="rect">
            <a:avLst/>
          </a:prstGeom>
          <a:noFill/>
          <a:ln/>
        </p:spPr>
        <p:txBody>
          <a:bodyPr wrap="square" lIns="0" tIns="0" rIns="0" bIns="0" rtlCol="0" anchor="t"/>
          <a:lstStyle/>
          <a:p>
            <a:pPr indent="0" marL="0">
              <a:buNone/>
            </a:pPr>
            <a:r>
              <a:rPr lang="en-US" sz="4000" b="1" dirty="0">
                <a:solidFill>
                  <a:schemeClr val="accent2"/>
                </a:solidFill>
                <a:latin typeface="Arial" pitchFamily="34" charset="0"/>
                <a:ea typeface="Arial" pitchFamily="34" charset="-122"/>
                <a:cs typeface="Arial" pitchFamily="34" charset="-120"/>
              </a:rPr>
              <a:t>4</a:t>
            </a:r>
            <a:endParaRPr lang="en-US" sz="4000" dirty="0"/>
          </a:p>
        </p:txBody>
      </p:sp>
      <p:sp>
        <p:nvSpPr>
          <p:cNvPr id="20" name="Text 17"/>
          <p:cNvSpPr txBox="1"/>
          <p:nvPr/>
        </p:nvSpPr>
        <p:spPr>
          <a:xfrm>
            <a:off x="9217381" y="3703320"/>
            <a:ext cx="1887093" cy="6400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Tekrar anlat</a:t>
            </a:r>
            <a:endParaRPr lang="en-US" sz="1900" dirty="0"/>
          </a:p>
        </p:txBody>
      </p:sp>
      <p:sp>
        <p:nvSpPr>
          <p:cNvPr id="21" name="Text 18"/>
          <p:cNvSpPr txBox="1"/>
          <p:nvPr/>
        </p:nvSpPr>
        <p:spPr>
          <a:xfrm>
            <a:off x="9217381" y="4389120"/>
            <a:ext cx="1887093" cy="1051560"/>
          </a:xfrm>
          <a:prstGeom prst="rect">
            <a:avLst/>
          </a:prstGeom>
          <a:noFill/>
          <a:ln/>
        </p:spPr>
        <p:txBody>
          <a:bodyPr wrap="square" lIns="0" tIns="0" rIns="0" bIns="0" rtlCol="0" anchor="t"/>
          <a:lstStyle/>
          <a:p>
            <a:pPr indent="0" marL="0">
              <a:buNone/>
            </a:pPr>
            <a:r>
              <a:rPr lang="en-US" sz="1500" dirty="0">
                <a:solidFill>
                  <a:schemeClr val="tx2"/>
                </a:solidFill>
              </a:rPr>
              <a:t>Bu kez daha basit anlat, bir örnek ekle.</a:t>
            </a:r>
            <a:endParaRPr lang="en-US" sz="15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Zihin haritasıyla not al</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NOT ALMA</a:t>
            </a:r>
            <a:endParaRPr lang="en-US" sz="1400" dirty="0"/>
          </a:p>
        </p:txBody>
      </p:sp>
      <p:sp>
        <p:nvSpPr>
          <p:cNvPr id="5" name="Dal"/>
          <p:cNvSpPr/>
          <p:nvPr/>
        </p:nvSpPr>
        <p:spPr>
          <a:xfrm>
            <a:off x="1498702" y="2560320"/>
            <a:ext cx="2148840" cy="1325880"/>
          </a:xfrm>
          <a:prstGeom prst="line">
            <a:avLst/>
          </a:prstGeom>
          <a:noFill/>
          <a:ln w="31750">
            <a:solidFill>
              <a:schemeClr val="accent2"/>
            </a:solidFill>
            <a:prstDash val="solid"/>
          </a:ln>
        </p:spPr>
      </p:sp>
      <p:sp>
        <p:nvSpPr>
          <p:cNvPr id="6" name="Dal"/>
          <p:cNvSpPr/>
          <p:nvPr/>
        </p:nvSpPr>
        <p:spPr>
          <a:xfrm>
            <a:off x="3647542" y="2194560"/>
            <a:ext cx="914" cy="1691640"/>
          </a:xfrm>
          <a:prstGeom prst="line">
            <a:avLst/>
          </a:prstGeom>
          <a:noFill/>
          <a:ln w="31750">
            <a:solidFill>
              <a:schemeClr val="accent2"/>
            </a:solidFill>
            <a:prstDash val="solid"/>
          </a:ln>
        </p:spPr>
      </p:sp>
      <p:sp>
        <p:nvSpPr>
          <p:cNvPr id="7" name="Dal"/>
          <p:cNvSpPr/>
          <p:nvPr/>
        </p:nvSpPr>
        <p:spPr>
          <a:xfrm flipH="1">
            <a:off x="3647542" y="2560320"/>
            <a:ext cx="2148840" cy="1325880"/>
          </a:xfrm>
          <a:prstGeom prst="line">
            <a:avLst/>
          </a:prstGeom>
          <a:noFill/>
          <a:ln w="31750">
            <a:solidFill>
              <a:schemeClr val="accent2"/>
            </a:solidFill>
            <a:prstDash val="solid"/>
          </a:ln>
        </p:spPr>
      </p:sp>
      <p:sp>
        <p:nvSpPr>
          <p:cNvPr id="8" name="Dal"/>
          <p:cNvSpPr/>
          <p:nvPr/>
        </p:nvSpPr>
        <p:spPr>
          <a:xfrm flipH="1">
            <a:off x="1498702" y="3886200"/>
            <a:ext cx="2148840" cy="1325880"/>
          </a:xfrm>
          <a:prstGeom prst="line">
            <a:avLst/>
          </a:prstGeom>
          <a:noFill/>
          <a:ln w="31750">
            <a:solidFill>
              <a:schemeClr val="accent2"/>
            </a:solidFill>
            <a:prstDash val="solid"/>
          </a:ln>
        </p:spPr>
      </p:sp>
      <p:sp>
        <p:nvSpPr>
          <p:cNvPr id="9" name="Dal"/>
          <p:cNvSpPr/>
          <p:nvPr/>
        </p:nvSpPr>
        <p:spPr>
          <a:xfrm>
            <a:off x="3647542" y="3886200"/>
            <a:ext cx="914" cy="1691640"/>
          </a:xfrm>
          <a:prstGeom prst="line">
            <a:avLst/>
          </a:prstGeom>
          <a:noFill/>
          <a:ln w="31750">
            <a:solidFill>
              <a:schemeClr val="accent2"/>
            </a:solidFill>
            <a:prstDash val="solid"/>
          </a:ln>
        </p:spPr>
      </p:sp>
      <p:sp>
        <p:nvSpPr>
          <p:cNvPr id="10" name="Dal"/>
          <p:cNvSpPr/>
          <p:nvPr/>
        </p:nvSpPr>
        <p:spPr>
          <a:xfrm>
            <a:off x="3647542" y="3886200"/>
            <a:ext cx="2148840" cy="1325880"/>
          </a:xfrm>
          <a:prstGeom prst="line">
            <a:avLst/>
          </a:prstGeom>
          <a:noFill/>
          <a:ln w="31750">
            <a:solidFill>
              <a:schemeClr val="accent2"/>
            </a:solidFill>
            <a:prstDash val="solid"/>
          </a:ln>
        </p:spPr>
      </p:sp>
      <p:sp>
        <p:nvSpPr>
          <p:cNvPr id="11" name="Ortam"/>
          <p:cNvSpPr/>
          <p:nvPr/>
        </p:nvSpPr>
        <p:spPr>
          <a:xfrm>
            <a:off x="812902" y="2286000"/>
            <a:ext cx="1371600" cy="548640"/>
          </a:xfrm>
          <a:prstGeom prst="roundRect">
            <a:avLst>
              <a:gd name="adj" fmla="val 30000"/>
            </a:avLst>
          </a:prstGeom>
          <a:solidFill>
            <a:schemeClr val="bg2"/>
          </a:solidFill>
          <a:ln/>
        </p:spPr>
      </p:sp>
      <p:sp>
        <p:nvSpPr>
          <p:cNvPr id="12" name="Text 9"/>
          <p:cNvSpPr txBox="1"/>
          <p:nvPr/>
        </p:nvSpPr>
        <p:spPr>
          <a:xfrm>
            <a:off x="812902" y="2286000"/>
            <a:ext cx="1371600" cy="548640"/>
          </a:xfrm>
          <a:prstGeom prst="rect">
            <a:avLst/>
          </a:prstGeom>
          <a:noFill/>
          <a:ln/>
        </p:spPr>
        <p:txBody>
          <a:bodyPr wrap="square" lIns="0" tIns="0" rIns="0" bIns="0" rtlCol="0" anchor="ctr"/>
          <a:lstStyle/>
          <a:p>
            <a:pPr algn="ctr" indent="0" marL="0">
              <a:buNone/>
            </a:pPr>
            <a:r>
              <a:rPr lang="en-US" sz="1600" b="1" dirty="0">
                <a:solidFill>
                  <a:schemeClr val="tx1"/>
                </a:solidFill>
              </a:rPr>
              <a:t>Ortam</a:t>
            </a:r>
            <a:endParaRPr lang="en-US" sz="1600" dirty="0"/>
          </a:p>
        </p:txBody>
      </p:sp>
      <p:sp>
        <p:nvSpPr>
          <p:cNvPr id="13" name="Plan"/>
          <p:cNvSpPr/>
          <p:nvPr/>
        </p:nvSpPr>
        <p:spPr>
          <a:xfrm>
            <a:off x="2961742" y="1920240"/>
            <a:ext cx="1371600" cy="548640"/>
          </a:xfrm>
          <a:prstGeom prst="roundRect">
            <a:avLst>
              <a:gd name="adj" fmla="val 30000"/>
            </a:avLst>
          </a:prstGeom>
          <a:solidFill>
            <a:schemeClr val="bg2"/>
          </a:solidFill>
          <a:ln/>
        </p:spPr>
      </p:sp>
      <p:sp>
        <p:nvSpPr>
          <p:cNvPr id="14" name="Text 11"/>
          <p:cNvSpPr txBox="1"/>
          <p:nvPr/>
        </p:nvSpPr>
        <p:spPr>
          <a:xfrm>
            <a:off x="2961742" y="1920240"/>
            <a:ext cx="1371600" cy="548640"/>
          </a:xfrm>
          <a:prstGeom prst="rect">
            <a:avLst/>
          </a:prstGeom>
          <a:noFill/>
          <a:ln/>
        </p:spPr>
        <p:txBody>
          <a:bodyPr wrap="square" lIns="0" tIns="0" rIns="0" bIns="0" rtlCol="0" anchor="ctr"/>
          <a:lstStyle/>
          <a:p>
            <a:pPr algn="ctr" indent="0" marL="0">
              <a:buNone/>
            </a:pPr>
            <a:r>
              <a:rPr lang="en-US" sz="1600" b="1" dirty="0">
                <a:solidFill>
                  <a:schemeClr val="tx1"/>
                </a:solidFill>
              </a:rPr>
              <a:t>Plan</a:t>
            </a:r>
            <a:endParaRPr lang="en-US" sz="1600" dirty="0"/>
          </a:p>
        </p:txBody>
      </p:sp>
      <p:sp>
        <p:nvSpPr>
          <p:cNvPr id="15" name="Mola"/>
          <p:cNvSpPr/>
          <p:nvPr/>
        </p:nvSpPr>
        <p:spPr>
          <a:xfrm>
            <a:off x="5110582" y="2286000"/>
            <a:ext cx="1371600" cy="548640"/>
          </a:xfrm>
          <a:prstGeom prst="roundRect">
            <a:avLst>
              <a:gd name="adj" fmla="val 30000"/>
            </a:avLst>
          </a:prstGeom>
          <a:solidFill>
            <a:schemeClr val="bg2"/>
          </a:solidFill>
          <a:ln/>
        </p:spPr>
      </p:sp>
      <p:sp>
        <p:nvSpPr>
          <p:cNvPr id="16" name="Text 13"/>
          <p:cNvSpPr txBox="1"/>
          <p:nvPr/>
        </p:nvSpPr>
        <p:spPr>
          <a:xfrm>
            <a:off x="5110582" y="2286000"/>
            <a:ext cx="1371600" cy="548640"/>
          </a:xfrm>
          <a:prstGeom prst="rect">
            <a:avLst/>
          </a:prstGeom>
          <a:noFill/>
          <a:ln/>
        </p:spPr>
        <p:txBody>
          <a:bodyPr wrap="square" lIns="0" tIns="0" rIns="0" bIns="0" rtlCol="0" anchor="ctr"/>
          <a:lstStyle/>
          <a:p>
            <a:pPr algn="ctr" indent="0" marL="0">
              <a:buNone/>
            </a:pPr>
            <a:r>
              <a:rPr lang="en-US" sz="1600" b="1" dirty="0">
                <a:solidFill>
                  <a:schemeClr val="tx1"/>
                </a:solidFill>
              </a:rPr>
              <a:t>Mola</a:t>
            </a:r>
            <a:endParaRPr lang="en-US" sz="1600" dirty="0"/>
          </a:p>
        </p:txBody>
      </p:sp>
      <p:sp>
        <p:nvSpPr>
          <p:cNvPr id="17" name="Tekrar"/>
          <p:cNvSpPr/>
          <p:nvPr/>
        </p:nvSpPr>
        <p:spPr>
          <a:xfrm>
            <a:off x="812902" y="4937760"/>
            <a:ext cx="1371600" cy="548640"/>
          </a:xfrm>
          <a:prstGeom prst="roundRect">
            <a:avLst>
              <a:gd name="adj" fmla="val 30000"/>
            </a:avLst>
          </a:prstGeom>
          <a:solidFill>
            <a:schemeClr val="bg2"/>
          </a:solidFill>
          <a:ln/>
        </p:spPr>
      </p:sp>
      <p:sp>
        <p:nvSpPr>
          <p:cNvPr id="18" name="Text 15"/>
          <p:cNvSpPr txBox="1"/>
          <p:nvPr/>
        </p:nvSpPr>
        <p:spPr>
          <a:xfrm>
            <a:off x="812902" y="4937760"/>
            <a:ext cx="1371600" cy="548640"/>
          </a:xfrm>
          <a:prstGeom prst="rect">
            <a:avLst/>
          </a:prstGeom>
          <a:noFill/>
          <a:ln/>
        </p:spPr>
        <p:txBody>
          <a:bodyPr wrap="square" lIns="0" tIns="0" rIns="0" bIns="0" rtlCol="0" anchor="ctr"/>
          <a:lstStyle/>
          <a:p>
            <a:pPr algn="ctr" indent="0" marL="0">
              <a:buNone/>
            </a:pPr>
            <a:r>
              <a:rPr lang="en-US" sz="1600" b="1" dirty="0">
                <a:solidFill>
                  <a:schemeClr val="tx1"/>
                </a:solidFill>
              </a:rPr>
              <a:t>Tekrar</a:t>
            </a:r>
            <a:endParaRPr lang="en-US" sz="1600" dirty="0"/>
          </a:p>
        </p:txBody>
      </p:sp>
      <p:sp>
        <p:nvSpPr>
          <p:cNvPr id="19" name="Uyku"/>
          <p:cNvSpPr/>
          <p:nvPr/>
        </p:nvSpPr>
        <p:spPr>
          <a:xfrm>
            <a:off x="2961742" y="5303520"/>
            <a:ext cx="1371600" cy="548640"/>
          </a:xfrm>
          <a:prstGeom prst="roundRect">
            <a:avLst>
              <a:gd name="adj" fmla="val 30000"/>
            </a:avLst>
          </a:prstGeom>
          <a:solidFill>
            <a:schemeClr val="bg2"/>
          </a:solidFill>
          <a:ln/>
        </p:spPr>
      </p:sp>
      <p:sp>
        <p:nvSpPr>
          <p:cNvPr id="20" name="Text 17"/>
          <p:cNvSpPr txBox="1"/>
          <p:nvPr/>
        </p:nvSpPr>
        <p:spPr>
          <a:xfrm>
            <a:off x="2961742" y="5303520"/>
            <a:ext cx="1371600" cy="548640"/>
          </a:xfrm>
          <a:prstGeom prst="rect">
            <a:avLst/>
          </a:prstGeom>
          <a:noFill/>
          <a:ln/>
        </p:spPr>
        <p:txBody>
          <a:bodyPr wrap="square" lIns="0" tIns="0" rIns="0" bIns="0" rtlCol="0" anchor="ctr"/>
          <a:lstStyle/>
          <a:p>
            <a:pPr algn="ctr" indent="0" marL="0">
              <a:buNone/>
            </a:pPr>
            <a:r>
              <a:rPr lang="en-US" sz="1600" b="1" dirty="0">
                <a:solidFill>
                  <a:schemeClr val="tx1"/>
                </a:solidFill>
              </a:rPr>
              <a:t>Uyku</a:t>
            </a:r>
            <a:endParaRPr lang="en-US" sz="1600" dirty="0"/>
          </a:p>
        </p:txBody>
      </p:sp>
      <p:sp>
        <p:nvSpPr>
          <p:cNvPr id="21" name="Kitap"/>
          <p:cNvSpPr/>
          <p:nvPr/>
        </p:nvSpPr>
        <p:spPr>
          <a:xfrm>
            <a:off x="5110582" y="4937760"/>
            <a:ext cx="1371600" cy="548640"/>
          </a:xfrm>
          <a:prstGeom prst="roundRect">
            <a:avLst>
              <a:gd name="adj" fmla="val 30000"/>
            </a:avLst>
          </a:prstGeom>
          <a:solidFill>
            <a:schemeClr val="bg2"/>
          </a:solidFill>
          <a:ln/>
        </p:spPr>
      </p:sp>
      <p:sp>
        <p:nvSpPr>
          <p:cNvPr id="22" name="Text 19"/>
          <p:cNvSpPr txBox="1"/>
          <p:nvPr/>
        </p:nvSpPr>
        <p:spPr>
          <a:xfrm>
            <a:off x="5110582" y="4937760"/>
            <a:ext cx="1371600" cy="548640"/>
          </a:xfrm>
          <a:prstGeom prst="rect">
            <a:avLst/>
          </a:prstGeom>
          <a:noFill/>
          <a:ln/>
        </p:spPr>
        <p:txBody>
          <a:bodyPr wrap="square" lIns="0" tIns="0" rIns="0" bIns="0" rtlCol="0" anchor="ctr"/>
          <a:lstStyle/>
          <a:p>
            <a:pPr algn="ctr" indent="0" marL="0">
              <a:buNone/>
            </a:pPr>
            <a:r>
              <a:rPr lang="en-US" sz="1600" b="1" dirty="0">
                <a:solidFill>
                  <a:schemeClr val="tx1"/>
                </a:solidFill>
              </a:rPr>
              <a:t>Kitap</a:t>
            </a:r>
            <a:endParaRPr lang="en-US" sz="1600" dirty="0"/>
          </a:p>
        </p:txBody>
      </p:sp>
      <p:sp>
        <p:nvSpPr>
          <p:cNvPr id="23" name="Merkez"/>
          <p:cNvSpPr/>
          <p:nvPr/>
        </p:nvSpPr>
        <p:spPr>
          <a:xfrm>
            <a:off x="2687422" y="3429000"/>
            <a:ext cx="1920240" cy="914400"/>
          </a:xfrm>
          <a:prstGeom prst="ellipse">
            <a:avLst/>
          </a:prstGeom>
          <a:solidFill>
            <a:schemeClr val="tx1"/>
          </a:solidFill>
          <a:ln/>
        </p:spPr>
      </p:sp>
      <p:sp>
        <p:nvSpPr>
          <p:cNvPr id="24" name="Text 21"/>
          <p:cNvSpPr txBox="1"/>
          <p:nvPr/>
        </p:nvSpPr>
        <p:spPr>
          <a:xfrm>
            <a:off x="2687422" y="3429000"/>
            <a:ext cx="1920240" cy="914400"/>
          </a:xfrm>
          <a:prstGeom prst="rect">
            <a:avLst/>
          </a:prstGeom>
          <a:noFill/>
          <a:ln/>
        </p:spPr>
        <p:txBody>
          <a:bodyPr wrap="square" lIns="0" tIns="0" rIns="0" bIns="0" rtlCol="0" anchor="ctr"/>
          <a:lstStyle/>
          <a:p>
            <a:pPr algn="ctr" indent="0" marL="0">
              <a:buNone/>
            </a:pPr>
            <a:r>
              <a:rPr lang="en-US" sz="1600" b="1" dirty="0">
                <a:solidFill>
                  <a:schemeClr val="bg1"/>
                </a:solidFill>
              </a:rPr>
              <a:t>Ders</a:t>
            </a:r>
            <a:endParaRPr lang="en-US" sz="1600" dirty="0"/>
          </a:p>
          <a:p>
            <a:pPr algn="ctr" indent="0" marL="0">
              <a:buNone/>
            </a:pPr>
            <a:r>
              <a:rPr lang="en-US" sz="1600" b="1" dirty="0">
                <a:solidFill>
                  <a:schemeClr val="bg1"/>
                </a:solidFill>
              </a:rPr>
              <a:t>çalışma</a:t>
            </a:r>
            <a:endParaRPr lang="en-US" sz="1600" dirty="0"/>
          </a:p>
        </p:txBody>
      </p:sp>
      <p:sp>
        <p:nvSpPr>
          <p:cNvPr id="25" name="Adım 1"/>
          <p:cNvSpPr/>
          <p:nvPr/>
        </p:nvSpPr>
        <p:spPr>
          <a:xfrm>
            <a:off x="7086600" y="2148840"/>
            <a:ext cx="438912" cy="438912"/>
          </a:xfrm>
          <a:prstGeom prst="ellipse">
            <a:avLst/>
          </a:prstGeom>
          <a:solidFill>
            <a:schemeClr val="accent1"/>
          </a:solidFill>
          <a:ln/>
        </p:spPr>
      </p:sp>
      <p:sp>
        <p:nvSpPr>
          <p:cNvPr id="26" name="Text 23"/>
          <p:cNvSpPr txBox="1"/>
          <p:nvPr/>
        </p:nvSpPr>
        <p:spPr>
          <a:xfrm>
            <a:off x="7086600" y="2148840"/>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latin typeface="Arial" pitchFamily="34" charset="0"/>
                <a:ea typeface="Arial" pitchFamily="34" charset="-122"/>
                <a:cs typeface="Arial" pitchFamily="34" charset="-120"/>
              </a:rPr>
              <a:t>1</a:t>
            </a:r>
            <a:endParaRPr lang="en-US" sz="1700" dirty="0"/>
          </a:p>
        </p:txBody>
      </p:sp>
      <p:sp>
        <p:nvSpPr>
          <p:cNvPr id="27" name="Text 24"/>
          <p:cNvSpPr txBox="1"/>
          <p:nvPr/>
        </p:nvSpPr>
        <p:spPr>
          <a:xfrm>
            <a:off x="7726680" y="2167128"/>
            <a:ext cx="3697834"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Ortaya konuyu yaz</a:t>
            </a:r>
            <a:endParaRPr lang="en-US" sz="1900" dirty="0"/>
          </a:p>
        </p:txBody>
      </p:sp>
      <p:sp>
        <p:nvSpPr>
          <p:cNvPr id="28" name="Text 25"/>
          <p:cNvSpPr txBox="1"/>
          <p:nvPr/>
        </p:nvSpPr>
        <p:spPr>
          <a:xfrm>
            <a:off x="7726680" y="2560320"/>
            <a:ext cx="3697834" cy="640080"/>
          </a:xfrm>
          <a:prstGeom prst="rect">
            <a:avLst/>
          </a:prstGeom>
          <a:noFill/>
          <a:ln/>
        </p:spPr>
        <p:txBody>
          <a:bodyPr wrap="square" lIns="0" tIns="0" rIns="0" bIns="0" rtlCol="0" anchor="t"/>
          <a:lstStyle/>
          <a:p>
            <a:pPr indent="0" marL="0">
              <a:buNone/>
            </a:pPr>
            <a:r>
              <a:rPr lang="en-US" sz="1500" dirty="0">
                <a:solidFill>
                  <a:schemeClr val="tx2"/>
                </a:solidFill>
              </a:rPr>
              <a:t>Sayfanın ortasına konunun adını yaz.</a:t>
            </a:r>
            <a:endParaRPr lang="en-US" sz="1500" dirty="0"/>
          </a:p>
        </p:txBody>
      </p:sp>
      <p:sp>
        <p:nvSpPr>
          <p:cNvPr id="29" name="Adım 2"/>
          <p:cNvSpPr/>
          <p:nvPr/>
        </p:nvSpPr>
        <p:spPr>
          <a:xfrm>
            <a:off x="7086600" y="3337560"/>
            <a:ext cx="438912" cy="438912"/>
          </a:xfrm>
          <a:prstGeom prst="ellipse">
            <a:avLst/>
          </a:prstGeom>
          <a:solidFill>
            <a:schemeClr val="accent1"/>
          </a:solidFill>
          <a:ln/>
        </p:spPr>
      </p:sp>
      <p:sp>
        <p:nvSpPr>
          <p:cNvPr id="30" name="Text 27"/>
          <p:cNvSpPr txBox="1"/>
          <p:nvPr/>
        </p:nvSpPr>
        <p:spPr>
          <a:xfrm>
            <a:off x="7086600" y="3337560"/>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latin typeface="Arial" pitchFamily="34" charset="0"/>
                <a:ea typeface="Arial" pitchFamily="34" charset="-122"/>
                <a:cs typeface="Arial" pitchFamily="34" charset="-120"/>
              </a:rPr>
              <a:t>2</a:t>
            </a:r>
            <a:endParaRPr lang="en-US" sz="1700" dirty="0"/>
          </a:p>
        </p:txBody>
      </p:sp>
      <p:sp>
        <p:nvSpPr>
          <p:cNvPr id="31" name="Text 28"/>
          <p:cNvSpPr txBox="1"/>
          <p:nvPr/>
        </p:nvSpPr>
        <p:spPr>
          <a:xfrm>
            <a:off x="7726680" y="3355848"/>
            <a:ext cx="3697834"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Dallar çiz</a:t>
            </a:r>
            <a:endParaRPr lang="en-US" sz="1900" dirty="0"/>
          </a:p>
        </p:txBody>
      </p:sp>
      <p:sp>
        <p:nvSpPr>
          <p:cNvPr id="32" name="Text 29"/>
          <p:cNvSpPr txBox="1"/>
          <p:nvPr/>
        </p:nvSpPr>
        <p:spPr>
          <a:xfrm>
            <a:off x="7726680" y="3749040"/>
            <a:ext cx="3697834" cy="640080"/>
          </a:xfrm>
          <a:prstGeom prst="rect">
            <a:avLst/>
          </a:prstGeom>
          <a:noFill/>
          <a:ln/>
        </p:spPr>
        <p:txBody>
          <a:bodyPr wrap="square" lIns="0" tIns="0" rIns="0" bIns="0" rtlCol="0" anchor="t"/>
          <a:lstStyle/>
          <a:p>
            <a:pPr indent="0" marL="0">
              <a:buNone/>
            </a:pPr>
            <a:r>
              <a:rPr lang="en-US" sz="1500" dirty="0">
                <a:solidFill>
                  <a:schemeClr val="tx2"/>
                </a:solidFill>
              </a:rPr>
              <a:t>Her ana fikir için bir dal ve kısa bir kelime.</a:t>
            </a:r>
            <a:endParaRPr lang="en-US" sz="1500" dirty="0"/>
          </a:p>
        </p:txBody>
      </p:sp>
      <p:sp>
        <p:nvSpPr>
          <p:cNvPr id="33" name="Adım 3"/>
          <p:cNvSpPr/>
          <p:nvPr/>
        </p:nvSpPr>
        <p:spPr>
          <a:xfrm>
            <a:off x="7086600" y="4526280"/>
            <a:ext cx="438912" cy="438912"/>
          </a:xfrm>
          <a:prstGeom prst="ellipse">
            <a:avLst/>
          </a:prstGeom>
          <a:solidFill>
            <a:schemeClr val="accent1"/>
          </a:solidFill>
          <a:ln/>
        </p:spPr>
      </p:sp>
      <p:sp>
        <p:nvSpPr>
          <p:cNvPr id="34" name="Text 31"/>
          <p:cNvSpPr txBox="1"/>
          <p:nvPr/>
        </p:nvSpPr>
        <p:spPr>
          <a:xfrm>
            <a:off x="7086600" y="4526280"/>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latin typeface="Arial" pitchFamily="34" charset="0"/>
                <a:ea typeface="Arial" pitchFamily="34" charset="-122"/>
                <a:cs typeface="Arial" pitchFamily="34" charset="-120"/>
              </a:rPr>
              <a:t>3</a:t>
            </a:r>
            <a:endParaRPr lang="en-US" sz="1700" dirty="0"/>
          </a:p>
        </p:txBody>
      </p:sp>
      <p:sp>
        <p:nvSpPr>
          <p:cNvPr id="35" name="Text 32"/>
          <p:cNvSpPr txBox="1"/>
          <p:nvPr/>
        </p:nvSpPr>
        <p:spPr>
          <a:xfrm>
            <a:off x="7726680" y="4544568"/>
            <a:ext cx="3697834"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Renk ve çizim ekle</a:t>
            </a:r>
            <a:endParaRPr lang="en-US" sz="1900" dirty="0"/>
          </a:p>
        </p:txBody>
      </p:sp>
      <p:sp>
        <p:nvSpPr>
          <p:cNvPr id="36" name="Text 33"/>
          <p:cNvSpPr txBox="1"/>
          <p:nvPr/>
        </p:nvSpPr>
        <p:spPr>
          <a:xfrm>
            <a:off x="7726680" y="4937760"/>
            <a:ext cx="3697834" cy="640080"/>
          </a:xfrm>
          <a:prstGeom prst="rect">
            <a:avLst/>
          </a:prstGeom>
          <a:noFill/>
          <a:ln/>
        </p:spPr>
        <p:txBody>
          <a:bodyPr wrap="square" lIns="0" tIns="0" rIns="0" bIns="0" rtlCol="0" anchor="t"/>
          <a:lstStyle/>
          <a:p>
            <a:pPr indent="0" marL="0">
              <a:buNone/>
            </a:pPr>
            <a:r>
              <a:rPr lang="en-US" sz="1500" dirty="0">
                <a:solidFill>
                  <a:schemeClr val="tx2"/>
                </a:solidFill>
              </a:rPr>
              <a:t>Renkler ve küçük çizimler hatırlamayı kolaylaştırır.</a:t>
            </a:r>
            <a:endParaRPr lang="en-US" sz="15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Soru çözerken 4 adım</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SORU ÇÖZME</a:t>
            </a:r>
            <a:endParaRPr lang="en-US" sz="1400" dirty="0"/>
          </a:p>
        </p:txBody>
      </p:sp>
      <p:sp>
        <p:nvSpPr>
          <p:cNvPr id="5" name="Oku"/>
          <p:cNvSpPr/>
          <p:nvPr/>
        </p:nvSpPr>
        <p:spPr>
          <a:xfrm>
            <a:off x="812902" y="2057400"/>
            <a:ext cx="10565892" cy="731520"/>
          </a:xfrm>
          <a:prstGeom prst="roundRect">
            <a:avLst>
              <a:gd name="adj" fmla="val 22500"/>
            </a:avLst>
          </a:prstGeom>
          <a:solidFill>
            <a:schemeClr val="bg1"/>
          </a:solidFill>
          <a:ln/>
        </p:spPr>
      </p:sp>
      <p:sp>
        <p:nvSpPr>
          <p:cNvPr id="6" name="Adım 1"/>
          <p:cNvSpPr/>
          <p:nvPr/>
        </p:nvSpPr>
        <p:spPr>
          <a:xfrm>
            <a:off x="1041502" y="2203704"/>
            <a:ext cx="438912" cy="438912"/>
          </a:xfrm>
          <a:prstGeom prst="ellipse">
            <a:avLst/>
          </a:prstGeom>
          <a:solidFill>
            <a:schemeClr val="accent1"/>
          </a:solidFill>
          <a:ln/>
        </p:spPr>
      </p:sp>
      <p:sp>
        <p:nvSpPr>
          <p:cNvPr id="7" name="Text 4"/>
          <p:cNvSpPr txBox="1"/>
          <p:nvPr/>
        </p:nvSpPr>
        <p:spPr>
          <a:xfrm>
            <a:off x="1041502" y="2203704"/>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latin typeface="Arial" pitchFamily="34" charset="0"/>
                <a:ea typeface="Arial" pitchFamily="34" charset="-122"/>
                <a:cs typeface="Arial" pitchFamily="34" charset="-120"/>
              </a:rPr>
              <a:t>1</a:t>
            </a:r>
            <a:endParaRPr lang="en-US" sz="1700" dirty="0"/>
          </a:p>
        </p:txBody>
      </p:sp>
      <p:sp>
        <p:nvSpPr>
          <p:cNvPr id="8" name="Text 5"/>
          <p:cNvSpPr txBox="1"/>
          <p:nvPr/>
        </p:nvSpPr>
        <p:spPr>
          <a:xfrm>
            <a:off x="1727302" y="2057400"/>
            <a:ext cx="2377440" cy="73152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Oku</a:t>
            </a:r>
            <a:endParaRPr lang="en-US" sz="2000" dirty="0"/>
          </a:p>
        </p:txBody>
      </p:sp>
      <p:sp>
        <p:nvSpPr>
          <p:cNvPr id="9" name="Text 6"/>
          <p:cNvSpPr txBox="1"/>
          <p:nvPr/>
        </p:nvSpPr>
        <p:spPr>
          <a:xfrm>
            <a:off x="4196182" y="2057400"/>
            <a:ext cx="6954012" cy="731520"/>
          </a:xfrm>
          <a:prstGeom prst="rect">
            <a:avLst/>
          </a:prstGeom>
          <a:noFill/>
          <a:ln/>
        </p:spPr>
        <p:txBody>
          <a:bodyPr wrap="square" lIns="0" tIns="0" rIns="0" bIns="0" rtlCol="0" anchor="ctr"/>
          <a:lstStyle/>
          <a:p>
            <a:pPr indent="0" marL="0">
              <a:buNone/>
            </a:pPr>
            <a:r>
              <a:rPr lang="en-US" sz="1700" dirty="0">
                <a:solidFill>
                  <a:schemeClr val="tx2"/>
                </a:solidFill>
              </a:rPr>
              <a:t>Soruyu sonuna kadar dikkatle oku.</a:t>
            </a:r>
            <a:endParaRPr lang="en-US" sz="1700" dirty="0"/>
          </a:p>
        </p:txBody>
      </p:sp>
      <p:sp>
        <p:nvSpPr>
          <p:cNvPr id="10" name="Anla"/>
          <p:cNvSpPr/>
          <p:nvPr/>
        </p:nvSpPr>
        <p:spPr>
          <a:xfrm>
            <a:off x="812902" y="2926080"/>
            <a:ext cx="10565892" cy="731520"/>
          </a:xfrm>
          <a:prstGeom prst="roundRect">
            <a:avLst>
              <a:gd name="adj" fmla="val 22500"/>
            </a:avLst>
          </a:prstGeom>
          <a:solidFill>
            <a:schemeClr val="bg1"/>
          </a:solidFill>
          <a:ln/>
        </p:spPr>
      </p:sp>
      <p:sp>
        <p:nvSpPr>
          <p:cNvPr id="11" name="Adım 2"/>
          <p:cNvSpPr/>
          <p:nvPr/>
        </p:nvSpPr>
        <p:spPr>
          <a:xfrm>
            <a:off x="1041502" y="3072384"/>
            <a:ext cx="438912" cy="438912"/>
          </a:xfrm>
          <a:prstGeom prst="ellipse">
            <a:avLst/>
          </a:prstGeom>
          <a:solidFill>
            <a:schemeClr val="accent1"/>
          </a:solidFill>
          <a:ln/>
        </p:spPr>
      </p:sp>
      <p:sp>
        <p:nvSpPr>
          <p:cNvPr id="12" name="Text 9"/>
          <p:cNvSpPr txBox="1"/>
          <p:nvPr/>
        </p:nvSpPr>
        <p:spPr>
          <a:xfrm>
            <a:off x="1041502" y="3072384"/>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latin typeface="Arial" pitchFamily="34" charset="0"/>
                <a:ea typeface="Arial" pitchFamily="34" charset="-122"/>
                <a:cs typeface="Arial" pitchFamily="34" charset="-120"/>
              </a:rPr>
              <a:t>2</a:t>
            </a:r>
            <a:endParaRPr lang="en-US" sz="1700" dirty="0"/>
          </a:p>
        </p:txBody>
      </p:sp>
      <p:sp>
        <p:nvSpPr>
          <p:cNvPr id="13" name="Text 10"/>
          <p:cNvSpPr txBox="1"/>
          <p:nvPr/>
        </p:nvSpPr>
        <p:spPr>
          <a:xfrm>
            <a:off x="1727302" y="2926080"/>
            <a:ext cx="2377440" cy="73152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Anla</a:t>
            </a:r>
            <a:endParaRPr lang="en-US" sz="2000" dirty="0"/>
          </a:p>
        </p:txBody>
      </p:sp>
      <p:sp>
        <p:nvSpPr>
          <p:cNvPr id="14" name="Text 11"/>
          <p:cNvSpPr txBox="1"/>
          <p:nvPr/>
        </p:nvSpPr>
        <p:spPr>
          <a:xfrm>
            <a:off x="4196182" y="2926080"/>
            <a:ext cx="6954012" cy="731520"/>
          </a:xfrm>
          <a:prstGeom prst="rect">
            <a:avLst/>
          </a:prstGeom>
          <a:noFill/>
          <a:ln/>
        </p:spPr>
        <p:txBody>
          <a:bodyPr wrap="square" lIns="0" tIns="0" rIns="0" bIns="0" rtlCol="0" anchor="ctr"/>
          <a:lstStyle/>
          <a:p>
            <a:pPr indent="0" marL="0">
              <a:buNone/>
            </a:pPr>
            <a:r>
              <a:rPr lang="en-US" sz="1700" dirty="0">
                <a:solidFill>
                  <a:schemeClr val="tx2"/>
                </a:solidFill>
              </a:rPr>
              <a:t>Senden ne istendiğini kendi cümlelerinle söyle; önemli kelimelerin altını çiz.</a:t>
            </a:r>
            <a:endParaRPr lang="en-US" sz="1700" dirty="0"/>
          </a:p>
        </p:txBody>
      </p:sp>
      <p:sp>
        <p:nvSpPr>
          <p:cNvPr id="15" name="Çöz"/>
          <p:cNvSpPr/>
          <p:nvPr/>
        </p:nvSpPr>
        <p:spPr>
          <a:xfrm>
            <a:off x="812902" y="3794760"/>
            <a:ext cx="10565892" cy="731520"/>
          </a:xfrm>
          <a:prstGeom prst="roundRect">
            <a:avLst>
              <a:gd name="adj" fmla="val 22500"/>
            </a:avLst>
          </a:prstGeom>
          <a:solidFill>
            <a:schemeClr val="bg1"/>
          </a:solidFill>
          <a:ln/>
        </p:spPr>
      </p:sp>
      <p:sp>
        <p:nvSpPr>
          <p:cNvPr id="16" name="Adım 3"/>
          <p:cNvSpPr/>
          <p:nvPr/>
        </p:nvSpPr>
        <p:spPr>
          <a:xfrm>
            <a:off x="1041502" y="3941064"/>
            <a:ext cx="438912" cy="438912"/>
          </a:xfrm>
          <a:prstGeom prst="ellipse">
            <a:avLst/>
          </a:prstGeom>
          <a:solidFill>
            <a:schemeClr val="accent1"/>
          </a:solidFill>
          <a:ln/>
        </p:spPr>
      </p:sp>
      <p:sp>
        <p:nvSpPr>
          <p:cNvPr id="17" name="Text 14"/>
          <p:cNvSpPr txBox="1"/>
          <p:nvPr/>
        </p:nvSpPr>
        <p:spPr>
          <a:xfrm>
            <a:off x="1041502" y="3941064"/>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latin typeface="Arial" pitchFamily="34" charset="0"/>
                <a:ea typeface="Arial" pitchFamily="34" charset="-122"/>
                <a:cs typeface="Arial" pitchFamily="34" charset="-120"/>
              </a:rPr>
              <a:t>3</a:t>
            </a:r>
            <a:endParaRPr lang="en-US" sz="1700" dirty="0"/>
          </a:p>
        </p:txBody>
      </p:sp>
      <p:sp>
        <p:nvSpPr>
          <p:cNvPr id="18" name="Text 15"/>
          <p:cNvSpPr txBox="1"/>
          <p:nvPr/>
        </p:nvSpPr>
        <p:spPr>
          <a:xfrm>
            <a:off x="1727302" y="3794760"/>
            <a:ext cx="2377440" cy="73152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Çöz</a:t>
            </a:r>
            <a:endParaRPr lang="en-US" sz="2000" dirty="0"/>
          </a:p>
        </p:txBody>
      </p:sp>
      <p:sp>
        <p:nvSpPr>
          <p:cNvPr id="19" name="Text 16"/>
          <p:cNvSpPr txBox="1"/>
          <p:nvPr/>
        </p:nvSpPr>
        <p:spPr>
          <a:xfrm>
            <a:off x="4196182" y="3794760"/>
            <a:ext cx="6954012" cy="731520"/>
          </a:xfrm>
          <a:prstGeom prst="rect">
            <a:avLst/>
          </a:prstGeom>
          <a:noFill/>
          <a:ln/>
        </p:spPr>
        <p:txBody>
          <a:bodyPr wrap="square" lIns="0" tIns="0" rIns="0" bIns="0" rtlCol="0" anchor="ctr"/>
          <a:lstStyle/>
          <a:p>
            <a:pPr indent="0" marL="0">
              <a:buNone/>
            </a:pPr>
            <a:r>
              <a:rPr lang="en-US" sz="1700" dirty="0">
                <a:solidFill>
                  <a:schemeClr val="tx2"/>
                </a:solidFill>
              </a:rPr>
              <a:t>Adım adım ilerle, işlemlerini düzenli yaz.</a:t>
            </a:r>
            <a:endParaRPr lang="en-US" sz="1700" dirty="0"/>
          </a:p>
        </p:txBody>
      </p:sp>
      <p:sp>
        <p:nvSpPr>
          <p:cNvPr id="20" name="Kontrol et"/>
          <p:cNvSpPr/>
          <p:nvPr/>
        </p:nvSpPr>
        <p:spPr>
          <a:xfrm>
            <a:off x="812902" y="4663440"/>
            <a:ext cx="10565892" cy="731520"/>
          </a:xfrm>
          <a:prstGeom prst="roundRect">
            <a:avLst>
              <a:gd name="adj" fmla="val 22500"/>
            </a:avLst>
          </a:prstGeom>
          <a:solidFill>
            <a:schemeClr val="bg1"/>
          </a:solidFill>
          <a:ln/>
        </p:spPr>
      </p:sp>
      <p:sp>
        <p:nvSpPr>
          <p:cNvPr id="21" name="Adım 4"/>
          <p:cNvSpPr/>
          <p:nvPr/>
        </p:nvSpPr>
        <p:spPr>
          <a:xfrm>
            <a:off x="1041502" y="4809744"/>
            <a:ext cx="438912" cy="438912"/>
          </a:xfrm>
          <a:prstGeom prst="ellipse">
            <a:avLst/>
          </a:prstGeom>
          <a:solidFill>
            <a:schemeClr val="accent1"/>
          </a:solidFill>
          <a:ln/>
        </p:spPr>
      </p:sp>
      <p:sp>
        <p:nvSpPr>
          <p:cNvPr id="22" name="Text 19"/>
          <p:cNvSpPr txBox="1"/>
          <p:nvPr/>
        </p:nvSpPr>
        <p:spPr>
          <a:xfrm>
            <a:off x="1041502" y="4809744"/>
            <a:ext cx="438912" cy="438912"/>
          </a:xfrm>
          <a:prstGeom prst="rect">
            <a:avLst/>
          </a:prstGeom>
          <a:noFill/>
          <a:ln/>
        </p:spPr>
        <p:txBody>
          <a:bodyPr wrap="square" lIns="0" tIns="0" rIns="0" bIns="0" rtlCol="0" anchor="ctr"/>
          <a:lstStyle/>
          <a:p>
            <a:pPr algn="ctr" indent="0" marL="0">
              <a:buNone/>
            </a:pPr>
            <a:r>
              <a:rPr lang="en-US" sz="1700" b="1" dirty="0">
                <a:solidFill>
                  <a:schemeClr val="tx1"/>
                </a:solidFill>
                <a:latin typeface="Arial" pitchFamily="34" charset="0"/>
                <a:ea typeface="Arial" pitchFamily="34" charset="-122"/>
                <a:cs typeface="Arial" pitchFamily="34" charset="-120"/>
              </a:rPr>
              <a:t>4</a:t>
            </a:r>
            <a:endParaRPr lang="en-US" sz="1700" dirty="0"/>
          </a:p>
        </p:txBody>
      </p:sp>
      <p:sp>
        <p:nvSpPr>
          <p:cNvPr id="23" name="Text 20"/>
          <p:cNvSpPr txBox="1"/>
          <p:nvPr/>
        </p:nvSpPr>
        <p:spPr>
          <a:xfrm>
            <a:off x="1727302" y="4663440"/>
            <a:ext cx="2377440" cy="73152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Kontrol et</a:t>
            </a:r>
            <a:endParaRPr lang="en-US" sz="2000" dirty="0"/>
          </a:p>
        </p:txBody>
      </p:sp>
      <p:sp>
        <p:nvSpPr>
          <p:cNvPr id="24" name="Text 21"/>
          <p:cNvSpPr txBox="1"/>
          <p:nvPr/>
        </p:nvSpPr>
        <p:spPr>
          <a:xfrm>
            <a:off x="4196182" y="4663440"/>
            <a:ext cx="6954012" cy="731520"/>
          </a:xfrm>
          <a:prstGeom prst="rect">
            <a:avLst/>
          </a:prstGeom>
          <a:noFill/>
          <a:ln/>
        </p:spPr>
        <p:txBody>
          <a:bodyPr wrap="square" lIns="0" tIns="0" rIns="0" bIns="0" rtlCol="0" anchor="ctr"/>
          <a:lstStyle/>
          <a:p>
            <a:pPr indent="0" marL="0">
              <a:buNone/>
            </a:pPr>
            <a:r>
              <a:rPr lang="en-US" sz="1700" dirty="0">
                <a:solidFill>
                  <a:schemeClr val="tx2"/>
                </a:solidFill>
              </a:rPr>
              <a:t>Cevabın soruya uyuyor mu? Bir kez daha bak.</a:t>
            </a:r>
            <a:endParaRPr lang="en-US" sz="1700" dirty="0"/>
          </a:p>
        </p:txBody>
      </p:sp>
      <p:sp>
        <p:nvSpPr>
          <p:cNvPr id="25" name="Text 22"/>
          <p:cNvSpPr txBox="1"/>
          <p:nvPr/>
        </p:nvSpPr>
        <p:spPr>
          <a:xfrm>
            <a:off x="812902" y="5577840"/>
            <a:ext cx="10565892" cy="365760"/>
          </a:xfrm>
          <a:prstGeom prst="rect">
            <a:avLst/>
          </a:prstGeom>
          <a:noFill/>
          <a:ln/>
        </p:spPr>
        <p:txBody>
          <a:bodyPr wrap="square" lIns="0" tIns="0" rIns="0" bIns="0" rtlCol="0" anchor="t"/>
          <a:lstStyle/>
          <a:p>
            <a:pPr indent="0" marL="0">
              <a:buNone/>
            </a:pPr>
            <a:r>
              <a:rPr lang="en-US" sz="1700" b="1" dirty="0">
                <a:solidFill>
                  <a:schemeClr val="tx2"/>
                </a:solidFill>
              </a:rPr>
              <a:t>İpucu: </a:t>
            </a:r>
            <a:pPr indent="0" marL="0">
              <a:buNone/>
            </a:pPr>
            <a:r>
              <a:rPr lang="en-US" sz="1700" dirty="0">
                <a:solidFill>
                  <a:schemeClr val="tx2"/>
                </a:solidFill>
              </a:rPr>
              <a:t>Takıldığın soruyu işaretle, geç; sonra geri dön.</a:t>
            </a:r>
            <a:endParaRPr lang="en-US" sz="17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Yanlış defteri tut</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HATALARDAN ÖĞRENMEK</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2902" y="2011680"/>
          <a:ext cx="10565892" cy="914400"/>
        </p:xfrm>
        <a:graphic>
          <a:graphicData uri="http://schemas.openxmlformats.org/drawingml/2006/table">
            <a:tbl>
              <a:tblPr/>
              <a:tblGrid>
                <a:gridCol w="2514600"/>
                <a:gridCol w="2834640"/>
                <a:gridCol w="3566160"/>
                <a:gridCol w="1651406"/>
              </a:tblGrid>
              <a:tr h="457200">
                <a:tc>
                  <a:txBody>
                    <a:bodyPr/>
                    <a:lstStyle/>
                    <a:p>
                      <a:pPr indent="0" marL="0">
                        <a:buNone/>
                      </a:pPr>
                      <a:r>
                        <a:rPr lang="en-US" sz="1500" b="1" dirty="0">
                          <a:solidFill>
                            <a:schemeClr val="bg1"/>
                          </a:solidFill>
                        </a:rPr>
                        <a:t>Ders – konu</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rPr>
                        <a:t>Neden yanlış yaptım?</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rPr>
                        <a:t>Doğrusu</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500" b="1" dirty="0">
                          <a:solidFill>
                            <a:schemeClr val="bg1"/>
                          </a:solidFill>
                        </a:rPr>
                        <a:t>Ne zaman tekrar?</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r>
              <a:tr h="685800">
                <a:tc>
                  <a:txBody>
                    <a:bodyPr/>
                    <a:lstStyle/>
                    <a:p>
                      <a:pPr indent="0" marL="0">
                        <a:buNone/>
                      </a:pPr>
                      <a:r>
                        <a:rPr lang="en-US" sz="1500" b="1" dirty="0">
                          <a:solidFill>
                            <a:schemeClr val="tx1"/>
                          </a:solidFill>
                        </a:rPr>
                        <a:t>Matematik – Kesirler</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Paydaları eşitlemeyi unuttum.</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Paydaları farklı kesirleri toplarken önce paydaları eşitle.</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Ertesi gün</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r>
              <a:tr h="685800">
                <a:tc>
                  <a:txBody>
                    <a:bodyPr/>
                    <a:lstStyle/>
                    <a:p>
                      <a:pPr indent="0" marL="0">
                        <a:buNone/>
                      </a:pPr>
                      <a:r>
                        <a:rPr lang="en-US" sz="1500" b="1" dirty="0">
                          <a:solidFill>
                            <a:schemeClr val="tx1"/>
                          </a:solidFill>
                        </a:rPr>
                        <a:t>Türkçe – Okuduğunu anlama</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Soruyu sonuna kadar okumadım.</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Soru kökünü oku, önemli kelimenin altını çiz.</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Hafta sonu</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r>
              <a:tr h="685800">
                <a:tc>
                  <a:txBody>
                    <a:bodyPr/>
                    <a:lstStyle/>
                    <a:p>
                      <a:pPr indent="0" marL="0">
                        <a:buNone/>
                      </a:pPr>
                      <a:r>
                        <a:rPr lang="en-US" sz="1500" b="1" dirty="0">
                          <a:solidFill>
                            <a:schemeClr val="tx1"/>
                          </a:solidFill>
                        </a:rPr>
                        <a:t>İngilizce – Kelimeler</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İki kelimenin anlamını karıştırdım.</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Kelimeyi bir cümle içinde kullanarak tekrar et.</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Ertesi gün</a:t>
                      </a:r>
                      <a:endParaRPr lang="en-US" sz="15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ext 2"/>
          <p:cNvSpPr txBox="1"/>
          <p:nvPr/>
        </p:nvSpPr>
        <p:spPr>
          <a:xfrm>
            <a:off x="812902" y="4754880"/>
            <a:ext cx="5486400" cy="320040"/>
          </a:xfrm>
          <a:prstGeom prst="rect">
            <a:avLst/>
          </a:prstGeom>
          <a:noFill/>
          <a:ln/>
        </p:spPr>
        <p:txBody>
          <a:bodyPr wrap="square" lIns="0" tIns="0" rIns="0" bIns="0" rtlCol="0" anchor="t"/>
          <a:lstStyle/>
          <a:p>
            <a:pPr indent="0" marL="0">
              <a:buNone/>
            </a:pPr>
            <a:r>
              <a:rPr lang="en-US" sz="1600" b="1" dirty="0">
                <a:solidFill>
                  <a:schemeClr val="tx1"/>
                </a:solidFill>
              </a:rPr>
              <a:t>Hatalarını türüne göre ayır:</a:t>
            </a:r>
            <a:endParaRPr lang="en-US" sz="1600" dirty="0"/>
          </a:p>
        </p:txBody>
      </p:sp>
      <p:sp>
        <p:nvSpPr>
          <p:cNvPr id="7" name="Bilmiyordum"/>
          <p:cNvSpPr/>
          <p:nvPr/>
        </p:nvSpPr>
        <p:spPr>
          <a:xfrm>
            <a:off x="812902" y="5193792"/>
            <a:ext cx="1664208" cy="457200"/>
          </a:xfrm>
          <a:prstGeom prst="roundRect">
            <a:avLst>
              <a:gd name="adj" fmla="val 36000"/>
            </a:avLst>
          </a:prstGeom>
          <a:solidFill>
            <a:schemeClr val="accent1"/>
          </a:solidFill>
          <a:ln/>
        </p:spPr>
      </p:sp>
      <p:sp>
        <p:nvSpPr>
          <p:cNvPr id="8" name="Text 4"/>
          <p:cNvSpPr txBox="1"/>
          <p:nvPr/>
        </p:nvSpPr>
        <p:spPr>
          <a:xfrm>
            <a:off x="812902" y="5193792"/>
            <a:ext cx="1664208" cy="457200"/>
          </a:xfrm>
          <a:prstGeom prst="rect">
            <a:avLst/>
          </a:prstGeom>
          <a:noFill/>
          <a:ln/>
        </p:spPr>
        <p:txBody>
          <a:bodyPr wrap="square" lIns="0" tIns="0" rIns="0" bIns="0" rtlCol="0" anchor="ctr"/>
          <a:lstStyle/>
          <a:p>
            <a:pPr algn="ctr" indent="0" marL="0">
              <a:buNone/>
            </a:pPr>
            <a:r>
              <a:rPr lang="en-US" sz="1500" b="1" dirty="0">
                <a:solidFill>
                  <a:schemeClr val="tx1"/>
                </a:solidFill>
              </a:rPr>
              <a:t>Bilmiyordum</a:t>
            </a:r>
            <a:endParaRPr lang="en-US" sz="1500" dirty="0"/>
          </a:p>
        </p:txBody>
      </p:sp>
      <p:sp>
        <p:nvSpPr>
          <p:cNvPr id="9" name="Dikkatsizlik"/>
          <p:cNvSpPr/>
          <p:nvPr/>
        </p:nvSpPr>
        <p:spPr>
          <a:xfrm>
            <a:off x="2659990" y="5193792"/>
            <a:ext cx="1773936" cy="457200"/>
          </a:xfrm>
          <a:prstGeom prst="roundRect">
            <a:avLst>
              <a:gd name="adj" fmla="val 36000"/>
            </a:avLst>
          </a:prstGeom>
          <a:solidFill>
            <a:schemeClr val="accent1"/>
          </a:solidFill>
          <a:ln/>
        </p:spPr>
      </p:sp>
      <p:sp>
        <p:nvSpPr>
          <p:cNvPr id="10" name="Text 6"/>
          <p:cNvSpPr txBox="1"/>
          <p:nvPr/>
        </p:nvSpPr>
        <p:spPr>
          <a:xfrm>
            <a:off x="2659990" y="5193792"/>
            <a:ext cx="1773936" cy="457200"/>
          </a:xfrm>
          <a:prstGeom prst="rect">
            <a:avLst/>
          </a:prstGeom>
          <a:noFill/>
          <a:ln/>
        </p:spPr>
        <p:txBody>
          <a:bodyPr wrap="square" lIns="0" tIns="0" rIns="0" bIns="0" rtlCol="0" anchor="ctr"/>
          <a:lstStyle/>
          <a:p>
            <a:pPr algn="ctr" indent="0" marL="0">
              <a:buNone/>
            </a:pPr>
            <a:r>
              <a:rPr lang="en-US" sz="1500" b="1" dirty="0">
                <a:solidFill>
                  <a:schemeClr val="tx1"/>
                </a:solidFill>
              </a:rPr>
              <a:t>Dikkatsizlik</a:t>
            </a:r>
            <a:endParaRPr lang="en-US" sz="1500" dirty="0"/>
          </a:p>
        </p:txBody>
      </p:sp>
      <p:sp>
        <p:nvSpPr>
          <p:cNvPr id="11" name="Yanlış okudum"/>
          <p:cNvSpPr/>
          <p:nvPr/>
        </p:nvSpPr>
        <p:spPr>
          <a:xfrm>
            <a:off x="4616806" y="5193792"/>
            <a:ext cx="1883664" cy="457200"/>
          </a:xfrm>
          <a:prstGeom prst="roundRect">
            <a:avLst>
              <a:gd name="adj" fmla="val 36000"/>
            </a:avLst>
          </a:prstGeom>
          <a:solidFill>
            <a:schemeClr val="accent1"/>
          </a:solidFill>
          <a:ln/>
        </p:spPr>
      </p:sp>
      <p:sp>
        <p:nvSpPr>
          <p:cNvPr id="12" name="Text 8"/>
          <p:cNvSpPr txBox="1"/>
          <p:nvPr/>
        </p:nvSpPr>
        <p:spPr>
          <a:xfrm>
            <a:off x="4616806" y="5193792"/>
            <a:ext cx="1883664" cy="457200"/>
          </a:xfrm>
          <a:prstGeom prst="rect">
            <a:avLst/>
          </a:prstGeom>
          <a:noFill/>
          <a:ln/>
        </p:spPr>
        <p:txBody>
          <a:bodyPr wrap="square" lIns="0" tIns="0" rIns="0" bIns="0" rtlCol="0" anchor="ctr"/>
          <a:lstStyle/>
          <a:p>
            <a:pPr algn="ctr" indent="0" marL="0">
              <a:buNone/>
            </a:pPr>
            <a:r>
              <a:rPr lang="en-US" sz="1500" b="1" dirty="0">
                <a:solidFill>
                  <a:schemeClr val="tx1"/>
                </a:solidFill>
              </a:rPr>
              <a:t>Yanlış okudum</a:t>
            </a:r>
            <a:endParaRPr lang="en-US" sz="1500" dirty="0"/>
          </a:p>
        </p:txBody>
      </p:sp>
      <p:sp>
        <p:nvSpPr>
          <p:cNvPr id="13" name="Acele ettim"/>
          <p:cNvSpPr/>
          <p:nvPr/>
        </p:nvSpPr>
        <p:spPr>
          <a:xfrm>
            <a:off x="6683350" y="5193792"/>
            <a:ext cx="1664208" cy="457200"/>
          </a:xfrm>
          <a:prstGeom prst="roundRect">
            <a:avLst>
              <a:gd name="adj" fmla="val 36000"/>
            </a:avLst>
          </a:prstGeom>
          <a:solidFill>
            <a:schemeClr val="accent1"/>
          </a:solidFill>
          <a:ln/>
        </p:spPr>
      </p:sp>
      <p:sp>
        <p:nvSpPr>
          <p:cNvPr id="14" name="Text 10"/>
          <p:cNvSpPr txBox="1"/>
          <p:nvPr/>
        </p:nvSpPr>
        <p:spPr>
          <a:xfrm>
            <a:off x="6683350" y="5193792"/>
            <a:ext cx="1664208" cy="457200"/>
          </a:xfrm>
          <a:prstGeom prst="rect">
            <a:avLst/>
          </a:prstGeom>
          <a:noFill/>
          <a:ln/>
        </p:spPr>
        <p:txBody>
          <a:bodyPr wrap="square" lIns="0" tIns="0" rIns="0" bIns="0" rtlCol="0" anchor="ctr"/>
          <a:lstStyle/>
          <a:p>
            <a:pPr algn="ctr" indent="0" marL="0">
              <a:buNone/>
            </a:pPr>
            <a:r>
              <a:rPr lang="en-US" sz="1500" b="1" dirty="0">
                <a:solidFill>
                  <a:schemeClr val="tx1"/>
                </a:solidFill>
              </a:rPr>
              <a:t>Acele ettim</a:t>
            </a:r>
            <a:endParaRPr lang="en-US" sz="15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Her gün kitap oku</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OKUMA ALIŞKANLIĞI</a:t>
            </a:r>
            <a:endParaRPr lang="en-US" sz="1400" dirty="0"/>
          </a:p>
        </p:txBody>
      </p:sp>
      <p:sp>
        <p:nvSpPr>
          <p:cNvPr id="5" name="Okuma hedefi"/>
          <p:cNvSpPr/>
          <p:nvPr/>
        </p:nvSpPr>
        <p:spPr>
          <a:xfrm>
            <a:off x="812902" y="2057400"/>
            <a:ext cx="4206240" cy="3611880"/>
          </a:xfrm>
          <a:prstGeom prst="roundRect">
            <a:avLst>
              <a:gd name="adj" fmla="val 4557"/>
            </a:avLst>
          </a:prstGeom>
          <a:solidFill>
            <a:schemeClr val="tx1"/>
          </a:solidFill>
          <a:ln/>
        </p:spPr>
      </p:sp>
      <p:pic>
        <p:nvPicPr>
          <p:cNvPr id="6" name="Simge" descr="book">    </p:cNvPr>
          <p:cNvPicPr>
            <a:picLocks noChangeAspect="1"/>
          </p:cNvPicPr>
          <p:nvPr/>
        </p:nvPicPr>
        <p:blipFill>
          <a:blip r:embed="rId1"/>
          <a:stretch>
            <a:fillRect/>
          </a:stretch>
        </p:blipFill>
        <p:spPr>
          <a:xfrm>
            <a:off x="1224382" y="2377440"/>
            <a:ext cx="640080" cy="640080"/>
          </a:xfrm>
          <a:prstGeom prst="rect">
            <a:avLst/>
          </a:prstGeom>
        </p:spPr>
      </p:pic>
      <p:sp>
        <p:nvSpPr>
          <p:cNvPr id="7" name="Text 3"/>
          <p:cNvSpPr txBox="1"/>
          <p:nvPr/>
        </p:nvSpPr>
        <p:spPr>
          <a:xfrm>
            <a:off x="1224382" y="3246120"/>
            <a:ext cx="3474720" cy="118872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Günde</a:t>
            </a:r>
            <a:endParaRPr lang="en-US" sz="3600" dirty="0"/>
          </a:p>
          <a:p>
            <a:pPr indent="0" marL="0">
              <a:buNone/>
            </a:pPr>
            <a:r>
              <a:rPr lang="en-US" sz="3600" b="1" dirty="0">
                <a:solidFill>
                  <a:schemeClr val="accent1"/>
                </a:solidFill>
                <a:latin typeface="Arial" pitchFamily="34" charset="0"/>
                <a:ea typeface="Arial" pitchFamily="34" charset="-122"/>
                <a:cs typeface="Arial" pitchFamily="34" charset="-120"/>
              </a:rPr>
              <a:t>20 dakika</a:t>
            </a:r>
            <a:endParaRPr lang="en-US" sz="3600" dirty="0"/>
          </a:p>
        </p:txBody>
      </p:sp>
      <p:sp>
        <p:nvSpPr>
          <p:cNvPr id="8" name="Text 4"/>
          <p:cNvSpPr txBox="1"/>
          <p:nvPr/>
        </p:nvSpPr>
        <p:spPr>
          <a:xfrm>
            <a:off x="1224382" y="4526280"/>
            <a:ext cx="3474720" cy="914400"/>
          </a:xfrm>
          <a:prstGeom prst="rect">
            <a:avLst/>
          </a:prstGeom>
          <a:noFill/>
          <a:ln/>
        </p:spPr>
        <p:txBody>
          <a:bodyPr wrap="square" lIns="0" tIns="0" rIns="0" bIns="0" rtlCol="0" anchor="t"/>
          <a:lstStyle/>
          <a:p>
            <a:pPr indent="0" marL="0">
              <a:buNone/>
            </a:pPr>
            <a:r>
              <a:rPr lang="en-US" sz="1700" dirty="0">
                <a:solidFill>
                  <a:schemeClr val="bg1"/>
                </a:solidFill>
              </a:rPr>
              <a:t>Kendine küçük ama her gün yapabileceğin bir okuma hedefi koy.</a:t>
            </a:r>
            <a:endParaRPr lang="en-US" sz="1700" dirty="0"/>
          </a:p>
        </p:txBody>
      </p:sp>
      <p:sp>
        <p:nvSpPr>
          <p:cNvPr id="9" name="Sevdiğin bir konu seç"/>
          <p:cNvSpPr/>
          <p:nvPr/>
        </p:nvSpPr>
        <p:spPr>
          <a:xfrm>
            <a:off x="5384902" y="2057400"/>
            <a:ext cx="5993892" cy="1051560"/>
          </a:xfrm>
          <a:prstGeom prst="roundRect">
            <a:avLst>
              <a:gd name="adj" fmla="val 15652"/>
            </a:avLst>
          </a:prstGeom>
          <a:solidFill>
            <a:schemeClr val="bg1"/>
          </a:solidFill>
          <a:ln/>
        </p:spPr>
      </p:sp>
      <p:sp>
        <p:nvSpPr>
          <p:cNvPr id="10" name="Text 6"/>
          <p:cNvSpPr txBox="1"/>
          <p:nvPr/>
        </p:nvSpPr>
        <p:spPr>
          <a:xfrm>
            <a:off x="5704942" y="2221992"/>
            <a:ext cx="5353812"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Sevdiğin bir konu seç</a:t>
            </a:r>
            <a:endParaRPr lang="en-US" sz="1900" dirty="0"/>
          </a:p>
        </p:txBody>
      </p:sp>
      <p:sp>
        <p:nvSpPr>
          <p:cNvPr id="11" name="Text 7"/>
          <p:cNvSpPr txBox="1"/>
          <p:nvPr/>
        </p:nvSpPr>
        <p:spPr>
          <a:xfrm>
            <a:off x="5704942" y="2606040"/>
            <a:ext cx="5353812" cy="411480"/>
          </a:xfrm>
          <a:prstGeom prst="rect">
            <a:avLst/>
          </a:prstGeom>
          <a:noFill/>
          <a:ln/>
        </p:spPr>
        <p:txBody>
          <a:bodyPr wrap="square" lIns="0" tIns="0" rIns="0" bIns="0" rtlCol="0" anchor="t"/>
          <a:lstStyle/>
          <a:p>
            <a:pPr indent="0" marL="0">
              <a:buNone/>
            </a:pPr>
            <a:r>
              <a:rPr lang="en-US" sz="1500" dirty="0">
                <a:solidFill>
                  <a:schemeClr val="tx2"/>
                </a:solidFill>
              </a:rPr>
              <a:t>Macera, bilim, hayvanlar, çizgi roman… Okumayı sevmek önce gelir.</a:t>
            </a:r>
            <a:endParaRPr lang="en-US" sz="1500" dirty="0"/>
          </a:p>
        </p:txBody>
      </p:sp>
      <p:sp>
        <p:nvSpPr>
          <p:cNvPr id="12" name="Okuduğunu anlat"/>
          <p:cNvSpPr/>
          <p:nvPr/>
        </p:nvSpPr>
        <p:spPr>
          <a:xfrm>
            <a:off x="5384902" y="3291840"/>
            <a:ext cx="5993892" cy="1051560"/>
          </a:xfrm>
          <a:prstGeom prst="roundRect">
            <a:avLst>
              <a:gd name="adj" fmla="val 15652"/>
            </a:avLst>
          </a:prstGeom>
          <a:solidFill>
            <a:schemeClr val="bg1"/>
          </a:solidFill>
          <a:ln/>
        </p:spPr>
      </p:sp>
      <p:sp>
        <p:nvSpPr>
          <p:cNvPr id="13" name="Text 9"/>
          <p:cNvSpPr txBox="1"/>
          <p:nvPr/>
        </p:nvSpPr>
        <p:spPr>
          <a:xfrm>
            <a:off x="5704942" y="3456432"/>
            <a:ext cx="5353812"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Okuduğunu anlat</a:t>
            </a:r>
            <a:endParaRPr lang="en-US" sz="1900" dirty="0"/>
          </a:p>
        </p:txBody>
      </p:sp>
      <p:sp>
        <p:nvSpPr>
          <p:cNvPr id="14" name="Text 10"/>
          <p:cNvSpPr txBox="1"/>
          <p:nvPr/>
        </p:nvSpPr>
        <p:spPr>
          <a:xfrm>
            <a:off x="5704942" y="3840480"/>
            <a:ext cx="5353812" cy="411480"/>
          </a:xfrm>
          <a:prstGeom prst="rect">
            <a:avLst/>
          </a:prstGeom>
          <a:noFill/>
          <a:ln/>
        </p:spPr>
        <p:txBody>
          <a:bodyPr wrap="square" lIns="0" tIns="0" rIns="0" bIns="0" rtlCol="0" anchor="t"/>
          <a:lstStyle/>
          <a:p>
            <a:pPr indent="0" marL="0">
              <a:buNone/>
            </a:pPr>
            <a:r>
              <a:rPr lang="en-US" sz="1500" dirty="0">
                <a:solidFill>
                  <a:schemeClr val="tx2"/>
                </a:solidFill>
              </a:rPr>
              <a:t>Bitirdiğin bölümü 2–3 cümleyle ailene ya da bir arkadaşına anlat.</a:t>
            </a:r>
            <a:endParaRPr lang="en-US" sz="1500" dirty="0"/>
          </a:p>
        </p:txBody>
      </p:sp>
      <p:sp>
        <p:nvSpPr>
          <p:cNvPr id="15" name="Yeni kelimeleri topla"/>
          <p:cNvSpPr/>
          <p:nvPr/>
        </p:nvSpPr>
        <p:spPr>
          <a:xfrm>
            <a:off x="5384902" y="4526280"/>
            <a:ext cx="5993892" cy="1051560"/>
          </a:xfrm>
          <a:prstGeom prst="roundRect">
            <a:avLst>
              <a:gd name="adj" fmla="val 15652"/>
            </a:avLst>
          </a:prstGeom>
          <a:solidFill>
            <a:schemeClr val="bg1"/>
          </a:solidFill>
          <a:ln/>
        </p:spPr>
      </p:sp>
      <p:sp>
        <p:nvSpPr>
          <p:cNvPr id="16" name="Text 12"/>
          <p:cNvSpPr txBox="1"/>
          <p:nvPr/>
        </p:nvSpPr>
        <p:spPr>
          <a:xfrm>
            <a:off x="5704942" y="4690872"/>
            <a:ext cx="5353812"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Yeni kelimeleri topla</a:t>
            </a:r>
            <a:endParaRPr lang="en-US" sz="1900" dirty="0"/>
          </a:p>
        </p:txBody>
      </p:sp>
      <p:sp>
        <p:nvSpPr>
          <p:cNvPr id="17" name="Text 13"/>
          <p:cNvSpPr txBox="1"/>
          <p:nvPr/>
        </p:nvSpPr>
        <p:spPr>
          <a:xfrm>
            <a:off x="5704942" y="5074920"/>
            <a:ext cx="5353812" cy="411480"/>
          </a:xfrm>
          <a:prstGeom prst="rect">
            <a:avLst/>
          </a:prstGeom>
          <a:noFill/>
          <a:ln/>
        </p:spPr>
        <p:txBody>
          <a:bodyPr wrap="square" lIns="0" tIns="0" rIns="0" bIns="0" rtlCol="0" anchor="t"/>
          <a:lstStyle/>
          <a:p>
            <a:pPr indent="0" marL="0">
              <a:buNone/>
            </a:pPr>
            <a:r>
              <a:rPr lang="en-US" sz="1500" dirty="0">
                <a:solidFill>
                  <a:schemeClr val="tx2"/>
                </a:solidFill>
              </a:rPr>
              <a:t>Bilmediğin kelimeleri bir köşeye yaz, anlamlarına bak.</a:t>
            </a:r>
            <a:endParaRPr lang="en-US" sz="15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Beynin de yakıt ister</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SAĞLIK</a:t>
            </a:r>
            <a:endParaRPr lang="en-US" sz="1400" dirty="0"/>
          </a:p>
        </p:txBody>
      </p:sp>
      <p:sp>
        <p:nvSpPr>
          <p:cNvPr id="5" name="Uyku"/>
          <p:cNvSpPr/>
          <p:nvPr/>
        </p:nvSpPr>
        <p:spPr>
          <a:xfrm>
            <a:off x="812902" y="2057400"/>
            <a:ext cx="2435733" cy="2697480"/>
          </a:xfrm>
          <a:prstGeom prst="roundRect">
            <a:avLst>
              <a:gd name="adj" fmla="val 6757"/>
            </a:avLst>
          </a:prstGeom>
          <a:solidFill>
            <a:schemeClr val="bg2"/>
          </a:solidFill>
          <a:ln/>
        </p:spPr>
      </p:sp>
      <p:pic>
        <p:nvPicPr>
          <p:cNvPr id="6" name="Simge" descr="clock">    </p:cNvPr>
          <p:cNvPicPr>
            <a:picLocks noChangeAspect="1"/>
          </p:cNvPicPr>
          <p:nvPr/>
        </p:nvPicPr>
        <p:blipFill>
          <a:blip r:embed="rId1"/>
          <a:stretch>
            <a:fillRect/>
          </a:stretch>
        </p:blipFill>
        <p:spPr>
          <a:xfrm>
            <a:off x="1087222" y="2331720"/>
            <a:ext cx="457200" cy="457200"/>
          </a:xfrm>
          <a:prstGeom prst="rect">
            <a:avLst/>
          </a:prstGeom>
        </p:spPr>
      </p:pic>
      <p:sp>
        <p:nvSpPr>
          <p:cNvPr id="7" name="Text 3"/>
          <p:cNvSpPr txBox="1"/>
          <p:nvPr/>
        </p:nvSpPr>
        <p:spPr>
          <a:xfrm>
            <a:off x="1087222" y="2926080"/>
            <a:ext cx="1887093"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Uyku</a:t>
            </a:r>
            <a:endParaRPr lang="en-US" sz="1900" dirty="0"/>
          </a:p>
        </p:txBody>
      </p:sp>
      <p:sp>
        <p:nvSpPr>
          <p:cNvPr id="8" name="Text 4"/>
          <p:cNvSpPr txBox="1"/>
          <p:nvPr/>
        </p:nvSpPr>
        <p:spPr>
          <a:xfrm>
            <a:off x="1087222" y="3383280"/>
            <a:ext cx="1887093" cy="1234440"/>
          </a:xfrm>
          <a:prstGeom prst="rect">
            <a:avLst/>
          </a:prstGeom>
          <a:noFill/>
          <a:ln/>
        </p:spPr>
        <p:txBody>
          <a:bodyPr wrap="square" lIns="0" tIns="0" rIns="0" bIns="0" rtlCol="0" anchor="t"/>
          <a:lstStyle/>
          <a:p>
            <a:pPr indent="0" marL="0">
              <a:buNone/>
            </a:pPr>
            <a:r>
              <a:rPr lang="en-US" sz="1500" dirty="0">
                <a:solidFill>
                  <a:schemeClr val="tx2"/>
                </a:solidFill>
              </a:rPr>
              <a:t>Senin yaşın için önerilen uyku süresi 9–11 saat. Her gece aynı saatte yat.</a:t>
            </a:r>
            <a:endParaRPr lang="en-US" sz="1500" dirty="0"/>
          </a:p>
        </p:txBody>
      </p:sp>
      <p:sp>
        <p:nvSpPr>
          <p:cNvPr id="9" name="Beslenme"/>
          <p:cNvSpPr/>
          <p:nvPr/>
        </p:nvSpPr>
        <p:spPr>
          <a:xfrm>
            <a:off x="3522955" y="2057400"/>
            <a:ext cx="2435733" cy="2697480"/>
          </a:xfrm>
          <a:prstGeom prst="roundRect">
            <a:avLst>
              <a:gd name="adj" fmla="val 6757"/>
            </a:avLst>
          </a:prstGeom>
          <a:solidFill>
            <a:schemeClr val="bg2"/>
          </a:solidFill>
          <a:ln/>
        </p:spPr>
      </p:sp>
      <p:pic>
        <p:nvPicPr>
          <p:cNvPr id="10" name="Simge" descr="apple">    </p:cNvPr>
          <p:cNvPicPr>
            <a:picLocks noChangeAspect="1"/>
          </p:cNvPicPr>
          <p:nvPr/>
        </p:nvPicPr>
        <p:blipFill>
          <a:blip r:embed="rId2"/>
          <a:stretch>
            <a:fillRect/>
          </a:stretch>
        </p:blipFill>
        <p:spPr>
          <a:xfrm>
            <a:off x="3797275" y="2331720"/>
            <a:ext cx="457200" cy="457200"/>
          </a:xfrm>
          <a:prstGeom prst="rect">
            <a:avLst/>
          </a:prstGeom>
        </p:spPr>
      </p:pic>
      <p:sp>
        <p:nvSpPr>
          <p:cNvPr id="11" name="Text 6"/>
          <p:cNvSpPr txBox="1"/>
          <p:nvPr/>
        </p:nvSpPr>
        <p:spPr>
          <a:xfrm>
            <a:off x="3797275" y="2926080"/>
            <a:ext cx="1887093"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Beslenme</a:t>
            </a:r>
            <a:endParaRPr lang="en-US" sz="1900" dirty="0"/>
          </a:p>
        </p:txBody>
      </p:sp>
      <p:sp>
        <p:nvSpPr>
          <p:cNvPr id="12" name="Text 7"/>
          <p:cNvSpPr txBox="1"/>
          <p:nvPr/>
        </p:nvSpPr>
        <p:spPr>
          <a:xfrm>
            <a:off x="3797275" y="3383280"/>
            <a:ext cx="1887093" cy="1234440"/>
          </a:xfrm>
          <a:prstGeom prst="rect">
            <a:avLst/>
          </a:prstGeom>
          <a:noFill/>
          <a:ln/>
        </p:spPr>
        <p:txBody>
          <a:bodyPr wrap="square" lIns="0" tIns="0" rIns="0" bIns="0" rtlCol="0" anchor="t"/>
          <a:lstStyle/>
          <a:p>
            <a:pPr indent="0" marL="0">
              <a:buNone/>
            </a:pPr>
            <a:r>
              <a:rPr lang="en-US" sz="1500" dirty="0">
                <a:solidFill>
                  <a:schemeClr val="tx2"/>
                </a:solidFill>
              </a:rPr>
              <a:t>Kahvaltıyı atlama, gün boyu su içmeyi unutma.</a:t>
            </a:r>
            <a:endParaRPr lang="en-US" sz="1500" dirty="0"/>
          </a:p>
        </p:txBody>
      </p:sp>
      <p:sp>
        <p:nvSpPr>
          <p:cNvPr id="13" name="Hareket"/>
          <p:cNvSpPr/>
          <p:nvPr/>
        </p:nvSpPr>
        <p:spPr>
          <a:xfrm>
            <a:off x="6233008" y="2057400"/>
            <a:ext cx="2435733" cy="2697480"/>
          </a:xfrm>
          <a:prstGeom prst="roundRect">
            <a:avLst>
              <a:gd name="adj" fmla="val 6757"/>
            </a:avLst>
          </a:prstGeom>
          <a:solidFill>
            <a:schemeClr val="bg2"/>
          </a:solidFill>
          <a:ln/>
        </p:spPr>
      </p:sp>
      <p:pic>
        <p:nvPicPr>
          <p:cNvPr id="14" name="Simge" descr="activity">    </p:cNvPr>
          <p:cNvPicPr>
            <a:picLocks noChangeAspect="1"/>
          </p:cNvPicPr>
          <p:nvPr/>
        </p:nvPicPr>
        <p:blipFill>
          <a:blip r:embed="rId3"/>
          <a:stretch>
            <a:fillRect/>
          </a:stretch>
        </p:blipFill>
        <p:spPr>
          <a:xfrm>
            <a:off x="6507328" y="2331720"/>
            <a:ext cx="457200" cy="457200"/>
          </a:xfrm>
          <a:prstGeom prst="rect">
            <a:avLst/>
          </a:prstGeom>
        </p:spPr>
      </p:pic>
      <p:sp>
        <p:nvSpPr>
          <p:cNvPr id="15" name="Text 9"/>
          <p:cNvSpPr txBox="1"/>
          <p:nvPr/>
        </p:nvSpPr>
        <p:spPr>
          <a:xfrm>
            <a:off x="6507328" y="2926080"/>
            <a:ext cx="1887093"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Hareket</a:t>
            </a:r>
            <a:endParaRPr lang="en-US" sz="1900" dirty="0"/>
          </a:p>
        </p:txBody>
      </p:sp>
      <p:sp>
        <p:nvSpPr>
          <p:cNvPr id="16" name="Text 10"/>
          <p:cNvSpPr txBox="1"/>
          <p:nvPr/>
        </p:nvSpPr>
        <p:spPr>
          <a:xfrm>
            <a:off x="6507328" y="3383280"/>
            <a:ext cx="1887093" cy="1234440"/>
          </a:xfrm>
          <a:prstGeom prst="rect">
            <a:avLst/>
          </a:prstGeom>
          <a:noFill/>
          <a:ln/>
        </p:spPr>
        <p:txBody>
          <a:bodyPr wrap="square" lIns="0" tIns="0" rIns="0" bIns="0" rtlCol="0" anchor="t"/>
          <a:lstStyle/>
          <a:p>
            <a:pPr indent="0" marL="0">
              <a:buNone/>
            </a:pPr>
            <a:r>
              <a:rPr lang="en-US" sz="1500" dirty="0">
                <a:solidFill>
                  <a:schemeClr val="tx2"/>
                </a:solidFill>
              </a:rPr>
              <a:t>Her gün dışarıda oyna, koş, hareket et.</a:t>
            </a:r>
            <a:endParaRPr lang="en-US" sz="1500" dirty="0"/>
          </a:p>
        </p:txBody>
      </p:sp>
      <p:sp>
        <p:nvSpPr>
          <p:cNvPr id="17" name="Ekran"/>
          <p:cNvSpPr/>
          <p:nvPr/>
        </p:nvSpPr>
        <p:spPr>
          <a:xfrm>
            <a:off x="8943061" y="2057400"/>
            <a:ext cx="2435733" cy="2697480"/>
          </a:xfrm>
          <a:prstGeom prst="roundRect">
            <a:avLst>
              <a:gd name="adj" fmla="val 6757"/>
            </a:avLst>
          </a:prstGeom>
          <a:solidFill>
            <a:schemeClr val="bg2"/>
          </a:solidFill>
          <a:ln/>
        </p:spPr>
      </p:sp>
      <p:pic>
        <p:nvPicPr>
          <p:cNvPr id="18" name="Simge" descr="lock">    </p:cNvPr>
          <p:cNvPicPr>
            <a:picLocks noChangeAspect="1"/>
          </p:cNvPicPr>
          <p:nvPr/>
        </p:nvPicPr>
        <p:blipFill>
          <a:blip r:embed="rId4"/>
          <a:stretch>
            <a:fillRect/>
          </a:stretch>
        </p:blipFill>
        <p:spPr>
          <a:xfrm>
            <a:off x="9217381" y="2331720"/>
            <a:ext cx="457200" cy="457200"/>
          </a:xfrm>
          <a:prstGeom prst="rect">
            <a:avLst/>
          </a:prstGeom>
        </p:spPr>
      </p:pic>
      <p:sp>
        <p:nvSpPr>
          <p:cNvPr id="19" name="Text 12"/>
          <p:cNvSpPr txBox="1"/>
          <p:nvPr/>
        </p:nvSpPr>
        <p:spPr>
          <a:xfrm>
            <a:off x="9217381" y="2926080"/>
            <a:ext cx="1887093"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Ekran</a:t>
            </a:r>
            <a:endParaRPr lang="en-US" sz="1900" dirty="0"/>
          </a:p>
        </p:txBody>
      </p:sp>
      <p:sp>
        <p:nvSpPr>
          <p:cNvPr id="20" name="Text 13"/>
          <p:cNvSpPr txBox="1"/>
          <p:nvPr/>
        </p:nvSpPr>
        <p:spPr>
          <a:xfrm>
            <a:off x="9217381" y="3383280"/>
            <a:ext cx="1887093" cy="1234440"/>
          </a:xfrm>
          <a:prstGeom prst="rect">
            <a:avLst/>
          </a:prstGeom>
          <a:noFill/>
          <a:ln/>
        </p:spPr>
        <p:txBody>
          <a:bodyPr wrap="square" lIns="0" tIns="0" rIns="0" bIns="0" rtlCol="0" anchor="t"/>
          <a:lstStyle/>
          <a:p>
            <a:pPr indent="0" marL="0">
              <a:buNone/>
            </a:pPr>
            <a:r>
              <a:rPr lang="en-US" sz="1500" dirty="0">
                <a:solidFill>
                  <a:schemeClr val="tx2"/>
                </a:solidFill>
              </a:rPr>
              <a:t>Yatmadan önceki saatte telefonu ve tableti bırak.</a:t>
            </a:r>
            <a:endParaRPr lang="en-US" sz="1500" dirty="0"/>
          </a:p>
        </p:txBody>
      </p:sp>
      <p:sp>
        <p:nvSpPr>
          <p:cNvPr id="21" name="Text 14"/>
          <p:cNvSpPr txBox="1"/>
          <p:nvPr/>
        </p:nvSpPr>
        <p:spPr>
          <a:xfrm>
            <a:off x="812902" y="5074920"/>
            <a:ext cx="10565892" cy="54864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Dinlenmek ve oyun oynamak da çalışmanın bir parçasıdır.</a:t>
            </a:r>
            <a:endParaRPr lang="en-US" sz="24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812902" y="1920240"/>
            <a:ext cx="10565892" cy="2194560"/>
          </a:xfrm>
          <a:prstGeom prst="rect">
            <a:avLst/>
          </a:prstGeom>
          <a:noFill/>
          <a:ln/>
        </p:spPr>
        <p:txBody>
          <a:bodyPr wrap="square" lIns="0" tIns="0" rIns="0" bIns="0" rtlCol="0" anchor="b"/>
          <a:lstStyle/>
          <a:p>
            <a:pPr algn="l" indent="0" marL="0">
              <a:buNone/>
            </a:pPr>
            <a:r>
              <a:rPr lang="en-US" sz="5200" b="1" dirty="0">
                <a:solidFill>
                  <a:schemeClr val="tx1"/>
                </a:solidFill>
                <a:latin typeface="Arial" pitchFamily="34" charset="0"/>
                <a:ea typeface="Arial" pitchFamily="34" charset="-122"/>
                <a:cs typeface="Arial" pitchFamily="34" charset="-120"/>
              </a:rPr>
              <a:t>Az ama her gün,</a:t>
            </a:r>
            <a:endParaRPr lang="en-US" sz="5200" dirty="0"/>
          </a:p>
          <a:p>
            <a:pPr algn="l" indent="0" marL="0">
              <a:buNone/>
            </a:pPr>
            <a:r>
              <a:rPr lang="en-US" sz="5200" b="1" dirty="0">
                <a:solidFill>
                  <a:schemeClr val="tx1"/>
                </a:solidFill>
                <a:latin typeface="Arial" pitchFamily="34" charset="0"/>
                <a:ea typeface="Arial" pitchFamily="34" charset="-122"/>
                <a:cs typeface="Arial" pitchFamily="34" charset="-120"/>
              </a:rPr>
              <a:t>çok ama bazen’den iyidir.</a:t>
            </a:r>
            <a:endParaRPr lang="en-US" sz="5200" dirty="0"/>
          </a:p>
        </p:txBody>
      </p:sp>
      <p:sp>
        <p:nvSpPr>
          <p:cNvPr id="4" name="Text 1"/>
          <p:cNvSpPr txBox="1"/>
          <p:nvPr/>
        </p:nvSpPr>
        <p:spPr>
          <a:xfrm>
            <a:off x="812902" y="4389120"/>
            <a:ext cx="10565892" cy="548640"/>
          </a:xfrm>
          <a:prstGeom prst="rect">
            <a:avLst/>
          </a:prstGeom>
          <a:noFill/>
          <a:ln/>
        </p:spPr>
        <p:txBody>
          <a:bodyPr wrap="square" lIns="0" tIns="0" rIns="0" bIns="0" rtlCol="0" anchor="t"/>
          <a:lstStyle/>
          <a:p>
            <a:pPr indent="0" marL="0">
              <a:buNone/>
            </a:pPr>
            <a:r>
              <a:rPr lang="en-US" sz="2600" dirty="0">
                <a:solidFill>
                  <a:schemeClr val="tx1"/>
                </a:solidFill>
              </a:rPr>
              <a:t>Düzenli çalışmak, bir kerede çok çalışmaktan daha güçlüdür.</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Etkinlik: Kelime bulmacası</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ETKİNLİK · 10 DAKİKA</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12902" y="1965960"/>
          <a:ext cx="3840480" cy="914400"/>
        </p:xfrm>
        <a:graphic>
          <a:graphicData uri="http://schemas.openxmlformats.org/drawingml/2006/table">
            <a:tbl>
              <a:tblPr/>
              <a:tblGrid>
                <a:gridCol w="274320"/>
                <a:gridCol w="274320"/>
                <a:gridCol w="274320"/>
                <a:gridCol w="274320"/>
                <a:gridCol w="274320"/>
                <a:gridCol w="274320"/>
                <a:gridCol w="274320"/>
                <a:gridCol w="274320"/>
                <a:gridCol w="274320"/>
                <a:gridCol w="274320"/>
                <a:gridCol w="274320"/>
                <a:gridCol w="274320"/>
                <a:gridCol w="274320"/>
                <a:gridCol w="274320"/>
              </a:tblGrid>
              <a:tr h="274320">
                <a:tc>
                  <a:txBody>
                    <a:bodyPr/>
                    <a:lstStyle/>
                    <a:p>
                      <a:pPr algn="ctr" indent="0" marL="0">
                        <a:buNone/>
                      </a:pPr>
                      <a:r>
                        <a:rPr lang="en-US" sz="1200" b="1" dirty="0">
                          <a:solidFill>
                            <a:schemeClr val="tx1"/>
                          </a:solidFill>
                        </a:rPr>
                        <a:t>Z</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Ç</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H</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G</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D</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C</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Ö</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P</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L</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A</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N</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T</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O</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r>
              <a:tr h="274320">
                <a:tc>
                  <a:txBody>
                    <a:bodyPr/>
                    <a:lstStyle/>
                    <a:p>
                      <a:pPr algn="ctr" indent="0" marL="0">
                        <a:buNone/>
                      </a:pPr>
                      <a:r>
                        <a:rPr lang="en-US" sz="1200" b="1" dirty="0">
                          <a:solidFill>
                            <a:schemeClr val="tx1"/>
                          </a:solidFill>
                        </a:rPr>
                        <a:t>C</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K</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D</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E</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U</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Ö</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Y</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D</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K</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M</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Ö</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Z</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O</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r>
              <a:tr h="274320">
                <a:tc>
                  <a:txBody>
                    <a:bodyPr/>
                    <a:lstStyle/>
                    <a:p>
                      <a:pPr algn="ctr" indent="0" marL="0">
                        <a:buNone/>
                      </a:pPr>
                      <a:r>
                        <a:rPr lang="en-US" sz="1200" b="1" dirty="0">
                          <a:solidFill>
                            <a:schemeClr val="tx1"/>
                          </a:solidFill>
                        </a:rPr>
                        <a:t>C</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S</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H</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Ü</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K</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Z</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C</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P</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C</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L</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E</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V</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K</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r>
              <a:tr h="274320">
                <a:tc>
                  <a:txBody>
                    <a:bodyPr/>
                    <a:lstStyle/>
                    <a:p>
                      <a:pPr algn="ctr" indent="0" marL="0">
                        <a:buNone/>
                      </a:pPr>
                      <a:r>
                        <a:rPr lang="en-US" sz="1200" b="1" dirty="0">
                          <a:solidFill>
                            <a:schemeClr val="tx1"/>
                          </a:solidFill>
                        </a:rPr>
                        <a:t>G</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Ş</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E</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O</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E</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P</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K</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V</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Y</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Y</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N</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R</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N</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r>
              <a:tr h="274320">
                <a:tc>
                  <a:txBody>
                    <a:bodyPr/>
                    <a:lstStyle/>
                    <a:p>
                      <a:pPr algn="ctr" indent="0" marL="0">
                        <a:buNone/>
                      </a:pPr>
                      <a:r>
                        <a:rPr lang="en-US" sz="1200" b="1" dirty="0">
                          <a:solidFill>
                            <a:schemeClr val="tx1"/>
                          </a:solidFill>
                        </a:rPr>
                        <a:t>M</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T</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D</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R</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Ü</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T</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O</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D</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A</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K</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U</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O</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R</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G</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r>
              <a:tr h="274320">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Ü</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E</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S</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M</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U</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M</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P</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A</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V</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T</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Ğ</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N</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r>
              <a:tr h="274320">
                <a:tc>
                  <a:txBody>
                    <a:bodyPr/>
                    <a:lstStyle/>
                    <a:p>
                      <a:pPr algn="ctr" indent="0" marL="0">
                        <a:buNone/>
                      </a:pPr>
                      <a:r>
                        <a:rPr lang="en-US" sz="1200" b="1" dirty="0">
                          <a:solidFill>
                            <a:schemeClr val="tx1"/>
                          </a:solidFill>
                        </a:rPr>
                        <a:t>Z</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F</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F</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K</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B</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O</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S</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Ş</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K</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Ö</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H</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O</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K</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r>
              <a:tr h="274320">
                <a:tc>
                  <a:txBody>
                    <a:bodyPr/>
                    <a:lstStyle/>
                    <a:p>
                      <a:pPr algn="ctr" indent="0" marL="0">
                        <a:buNone/>
                      </a:pPr>
                      <a:r>
                        <a:rPr lang="en-US" sz="1200" b="1" dirty="0">
                          <a:solidFill>
                            <a:schemeClr val="tx1"/>
                          </a:solidFill>
                        </a:rPr>
                        <a:t>G</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B</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U</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R</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L</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D</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R</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O</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H</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K</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C</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r>
              <a:tr h="274320">
                <a:tc>
                  <a:txBody>
                    <a:bodyPr/>
                    <a:lstStyle/>
                    <a:p>
                      <a:pPr algn="ctr" indent="0" marL="0">
                        <a:buNone/>
                      </a:pPr>
                      <a:r>
                        <a:rPr lang="en-US" sz="1200" b="1" dirty="0">
                          <a:solidFill>
                            <a:schemeClr val="tx1"/>
                          </a:solidFill>
                        </a:rPr>
                        <a:t>K</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R</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V</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Y</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Ş</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A</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O</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P</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T</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R</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E</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A</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D</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T</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r>
              <a:tr h="274320">
                <a:tc>
                  <a:txBody>
                    <a:bodyPr/>
                    <a:lstStyle/>
                    <a:p>
                      <a:pPr algn="ctr" indent="0" marL="0">
                        <a:buNone/>
                      </a:pPr>
                      <a:r>
                        <a:rPr lang="en-US" sz="1200" b="1" dirty="0">
                          <a:solidFill>
                            <a:schemeClr val="tx1"/>
                          </a:solidFill>
                        </a:rPr>
                        <a:t>Ç</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N</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F</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K</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U</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G</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R</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N</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Ş</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A</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U</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Ö</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T</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A</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r>
              <a:tr h="274320">
                <a:tc>
                  <a:txBody>
                    <a:bodyPr/>
                    <a:lstStyle/>
                    <a:p>
                      <a:pPr algn="ctr" indent="0" marL="0">
                        <a:buNone/>
                      </a:pPr>
                      <a:r>
                        <a:rPr lang="en-US" sz="1200" b="1" dirty="0">
                          <a:solidFill>
                            <a:schemeClr val="tx1"/>
                          </a:solidFill>
                        </a:rPr>
                        <a:t>G</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L</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H</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U</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S</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O</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O</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T</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V</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O</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M</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F</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P</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r>
              <a:tr h="274320">
                <a:tc>
                  <a:txBody>
                    <a:bodyPr/>
                    <a:lstStyle/>
                    <a:p>
                      <a:pPr algn="ctr" indent="0" marL="0">
                        <a:buNone/>
                      </a:pPr>
                      <a:r>
                        <a:rPr lang="en-US" sz="1200" b="1" dirty="0">
                          <a:solidFill>
                            <a:schemeClr val="tx1"/>
                          </a:solidFill>
                        </a:rPr>
                        <a:t>Ü</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Ö</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A</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L</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Ş</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K</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A</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N</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L</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K</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Y</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B</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r>
              <a:tr h="274320">
                <a:tc>
                  <a:txBody>
                    <a:bodyPr/>
                    <a:lstStyle/>
                    <a:p>
                      <a:pPr algn="ctr" indent="0" marL="0">
                        <a:buNone/>
                      </a:pPr>
                      <a:r>
                        <a:rPr lang="en-US" sz="1200" b="1" dirty="0">
                          <a:solidFill>
                            <a:schemeClr val="tx1"/>
                          </a:solidFill>
                        </a:rPr>
                        <a:t>M</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O</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L</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A</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E</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T</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O</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R</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K</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P</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r>
              <a:tr h="274320">
                <a:tc>
                  <a:txBody>
                    <a:bodyPr/>
                    <a:lstStyle/>
                    <a:p>
                      <a:pPr algn="ctr" indent="0" marL="0">
                        <a:buNone/>
                      </a:pPr>
                      <a:r>
                        <a:rPr lang="en-US" sz="1200" b="1" dirty="0">
                          <a:solidFill>
                            <a:schemeClr val="tx1"/>
                          </a:solidFill>
                        </a:rPr>
                        <a:t>M</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E</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Ö</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Ş</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Ü</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U</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F</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H</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K</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Y</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İ</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F</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T</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Ö</a:t>
                      </a:r>
                      <a:endParaRPr lang="en-US" sz="1200" dirty="0"/>
                    </a:p>
                  </a:txBody>
                  <a:tcPr marL="0" marR="0" marT="0" marB="0" anchor="ctr">
                    <a:lnL w="9525" cap="flat" cmpd="sng" algn="ctr">
                      <a:solidFill>
                        <a:srgbClr val="9AA8A4"/>
                      </a:solidFill>
                      <a:prstDash val="solid"/>
                      <a:round/>
                      <a:headEnd type="none" w="med" len="med"/>
                      <a:tailEnd type="none" w="med" len="med"/>
                    </a:lnL>
                    <a:lnR w="9525" cap="flat" cmpd="sng" algn="ctr">
                      <a:solidFill>
                        <a:srgbClr val="9AA8A4"/>
                      </a:solidFill>
                      <a:prstDash val="solid"/>
                      <a:round/>
                      <a:headEnd type="none" w="med" len="med"/>
                      <a:tailEnd type="none" w="med" len="med"/>
                    </a:lnR>
                    <a:lnT w="9525" cap="flat" cmpd="sng" algn="ctr">
                      <a:solidFill>
                        <a:srgbClr val="9AA8A4"/>
                      </a:solidFill>
                      <a:prstDash val="solid"/>
                      <a:round/>
                      <a:headEnd type="none" w="med" len="med"/>
                      <a:tailEnd type="none" w="med" len="med"/>
                    </a:lnT>
                    <a:lnB w="9525" cap="flat" cmpd="sng" algn="ctr">
                      <a:solidFill>
                        <a:srgbClr val="9AA8A4"/>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202022" y="1965960"/>
            <a:ext cx="6176772"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Bu kelimeleri bul:</a:t>
            </a:r>
            <a:endParaRPr lang="en-US" sz="1900" dirty="0"/>
          </a:p>
        </p:txBody>
      </p:sp>
      <p:sp>
        <p:nvSpPr>
          <p:cNvPr id="7" name="Text 3"/>
          <p:cNvSpPr txBox="1"/>
          <p:nvPr/>
        </p:nvSpPr>
        <p:spPr>
          <a:xfrm>
            <a:off x="5202022" y="2468880"/>
            <a:ext cx="3088386" cy="219456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ALIŞKANLIK</a:t>
            </a:r>
            <a:endParaRPr lang="en-US" sz="1700" dirty="0"/>
          </a:p>
          <a:p>
            <a:pPr indent="0" marL="0">
              <a:spcAft>
                <a:spcPts val="400"/>
              </a:spcAft>
              <a:buNone/>
            </a:pPr>
            <a:r>
              <a:rPr lang="en-US" sz="1700" dirty="0">
                <a:solidFill>
                  <a:schemeClr val="tx1"/>
                </a:solidFill>
              </a:rPr>
              <a:t>DİKKAT</a:t>
            </a:r>
            <a:endParaRPr lang="en-US" sz="1700" dirty="0"/>
          </a:p>
          <a:p>
            <a:pPr indent="0" marL="0">
              <a:spcAft>
                <a:spcPts val="400"/>
              </a:spcAft>
              <a:buNone/>
            </a:pPr>
            <a:r>
              <a:rPr lang="en-US" sz="1700" dirty="0">
                <a:solidFill>
                  <a:schemeClr val="tx1"/>
                </a:solidFill>
              </a:rPr>
              <a:t>HEDEF</a:t>
            </a:r>
            <a:endParaRPr lang="en-US" sz="1700" dirty="0"/>
          </a:p>
          <a:p>
            <a:pPr indent="0" marL="0">
              <a:spcAft>
                <a:spcPts val="400"/>
              </a:spcAft>
              <a:buNone/>
            </a:pPr>
            <a:r>
              <a:rPr lang="en-US" sz="1700" dirty="0">
                <a:solidFill>
                  <a:schemeClr val="tx1"/>
                </a:solidFill>
              </a:rPr>
              <a:t>KİTAP</a:t>
            </a:r>
            <a:endParaRPr lang="en-US" sz="1700" dirty="0"/>
          </a:p>
          <a:p>
            <a:pPr indent="0" marL="0">
              <a:spcAft>
                <a:spcPts val="400"/>
              </a:spcAft>
              <a:buNone/>
            </a:pPr>
            <a:r>
              <a:rPr lang="en-US" sz="1700" dirty="0">
                <a:solidFill>
                  <a:schemeClr val="tx1"/>
                </a:solidFill>
              </a:rPr>
              <a:t>MOLA</a:t>
            </a:r>
            <a:endParaRPr lang="en-US" sz="1700" dirty="0"/>
          </a:p>
          <a:p>
            <a:pPr indent="0" marL="0">
              <a:spcAft>
                <a:spcPts val="400"/>
              </a:spcAft>
              <a:buNone/>
            </a:pPr>
            <a:r>
              <a:rPr lang="en-US" sz="1700" dirty="0">
                <a:solidFill>
                  <a:schemeClr val="tx1"/>
                </a:solidFill>
              </a:rPr>
              <a:t>NOT</a:t>
            </a:r>
            <a:endParaRPr lang="en-US" sz="1700" dirty="0"/>
          </a:p>
          <a:p>
            <a:pPr indent="0" marL="0">
              <a:spcAft>
                <a:spcPts val="400"/>
              </a:spcAft>
              <a:buNone/>
            </a:pPr>
            <a:r>
              <a:rPr lang="en-US" sz="1700" dirty="0">
                <a:solidFill>
                  <a:schemeClr val="tx1"/>
                </a:solidFill>
              </a:rPr>
              <a:t>ODAK</a:t>
            </a:r>
            <a:endParaRPr lang="en-US" sz="1700" dirty="0"/>
          </a:p>
        </p:txBody>
      </p:sp>
      <p:sp>
        <p:nvSpPr>
          <p:cNvPr id="8" name="Text 4"/>
          <p:cNvSpPr txBox="1"/>
          <p:nvPr/>
        </p:nvSpPr>
        <p:spPr>
          <a:xfrm>
            <a:off x="8290408" y="2468880"/>
            <a:ext cx="3088386" cy="219456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ORTAM</a:t>
            </a:r>
            <a:endParaRPr lang="en-US" sz="1700" dirty="0"/>
          </a:p>
          <a:p>
            <a:pPr indent="0" marL="0">
              <a:spcAft>
                <a:spcPts val="400"/>
              </a:spcAft>
              <a:buNone/>
            </a:pPr>
            <a:r>
              <a:rPr lang="en-US" sz="1700" dirty="0">
                <a:solidFill>
                  <a:schemeClr val="tx1"/>
                </a:solidFill>
              </a:rPr>
              <a:t>ÖZET</a:t>
            </a:r>
            <a:endParaRPr lang="en-US" sz="1700" dirty="0"/>
          </a:p>
          <a:p>
            <a:pPr indent="0" marL="0">
              <a:spcAft>
                <a:spcPts val="400"/>
              </a:spcAft>
              <a:buNone/>
            </a:pPr>
            <a:r>
              <a:rPr lang="en-US" sz="1700" dirty="0">
                <a:solidFill>
                  <a:schemeClr val="tx1"/>
                </a:solidFill>
              </a:rPr>
              <a:t>PLAN</a:t>
            </a:r>
            <a:endParaRPr lang="en-US" sz="1700" dirty="0"/>
          </a:p>
          <a:p>
            <a:pPr indent="0" marL="0">
              <a:spcAft>
                <a:spcPts val="400"/>
              </a:spcAft>
              <a:buNone/>
            </a:pPr>
            <a:r>
              <a:rPr lang="en-US" sz="1700" dirty="0">
                <a:solidFill>
                  <a:schemeClr val="tx1"/>
                </a:solidFill>
              </a:rPr>
              <a:t>POMODORO</a:t>
            </a:r>
            <a:endParaRPr lang="en-US" sz="1700" dirty="0"/>
          </a:p>
          <a:p>
            <a:pPr indent="0" marL="0">
              <a:spcAft>
                <a:spcPts val="400"/>
              </a:spcAft>
              <a:buNone/>
            </a:pPr>
            <a:r>
              <a:rPr lang="en-US" sz="1700" dirty="0">
                <a:solidFill>
                  <a:schemeClr val="tx1"/>
                </a:solidFill>
              </a:rPr>
              <a:t>SORU</a:t>
            </a:r>
            <a:endParaRPr lang="en-US" sz="1700" dirty="0"/>
          </a:p>
          <a:p>
            <a:pPr indent="0" marL="0">
              <a:spcAft>
                <a:spcPts val="400"/>
              </a:spcAft>
              <a:buNone/>
            </a:pPr>
            <a:r>
              <a:rPr lang="en-US" sz="1700" dirty="0">
                <a:solidFill>
                  <a:schemeClr val="tx1"/>
                </a:solidFill>
              </a:rPr>
              <a:t>TEKRAR</a:t>
            </a:r>
            <a:endParaRPr lang="en-US" sz="1700" dirty="0"/>
          </a:p>
          <a:p>
            <a:pPr indent="0" marL="0">
              <a:spcAft>
                <a:spcPts val="400"/>
              </a:spcAft>
              <a:buNone/>
            </a:pPr>
            <a:r>
              <a:rPr lang="en-US" sz="1700" dirty="0">
                <a:solidFill>
                  <a:schemeClr val="tx1"/>
                </a:solidFill>
              </a:rPr>
              <a:t>UYKU</a:t>
            </a:r>
            <a:endParaRPr lang="en-US" sz="1700" dirty="0"/>
          </a:p>
        </p:txBody>
      </p:sp>
      <p:sp>
        <p:nvSpPr>
          <p:cNvPr id="9" name="Yönerge"/>
          <p:cNvSpPr/>
          <p:nvPr/>
        </p:nvSpPr>
        <p:spPr>
          <a:xfrm>
            <a:off x="5202022" y="4800600"/>
            <a:ext cx="6176772" cy="1005840"/>
          </a:xfrm>
          <a:prstGeom prst="roundRect">
            <a:avLst>
              <a:gd name="adj" fmla="val 16364"/>
            </a:avLst>
          </a:prstGeom>
          <a:solidFill>
            <a:schemeClr val="bg1"/>
          </a:solidFill>
          <a:ln/>
        </p:spPr>
      </p:sp>
      <p:sp>
        <p:nvSpPr>
          <p:cNvPr id="10" name="Text 6"/>
          <p:cNvSpPr txBox="1"/>
          <p:nvPr/>
        </p:nvSpPr>
        <p:spPr>
          <a:xfrm>
            <a:off x="5476342" y="4800600"/>
            <a:ext cx="5628132" cy="1005840"/>
          </a:xfrm>
          <a:prstGeom prst="rect">
            <a:avLst/>
          </a:prstGeom>
          <a:noFill/>
          <a:ln/>
        </p:spPr>
        <p:txBody>
          <a:bodyPr wrap="square" lIns="0" tIns="0" rIns="0" bIns="0" rtlCol="0" anchor="ctr"/>
          <a:lstStyle/>
          <a:p>
            <a:pPr indent="0" marL="0">
              <a:buNone/>
            </a:pPr>
            <a:r>
              <a:rPr lang="en-US" sz="1500" dirty="0">
                <a:solidFill>
                  <a:schemeClr val="tx2"/>
                </a:solidFill>
              </a:rPr>
              <a:t>Kelimeler soldan sağa, yukarıdan aşağıya ya da çapraz (sol üstten sağ alta) gizlendi.</a:t>
            </a:r>
            <a:endParaRPr lang="en-US" sz="15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812902" y="2240280"/>
            <a:ext cx="6766560" cy="2103120"/>
          </a:xfrm>
          <a:prstGeom prst="rect">
            <a:avLst/>
          </a:prstGeom>
          <a:noFill/>
          <a:ln/>
        </p:spPr>
        <p:txBody>
          <a:bodyPr wrap="square" lIns="0" tIns="0" rIns="0" bIns="0" rtlCol="0" anchor="t"/>
          <a:lstStyle/>
          <a:p>
            <a:pPr algn="l" indent="0" marL="0">
              <a:buNone/>
            </a:pPr>
            <a:r>
              <a:rPr lang="en-US" sz="4800" b="1" dirty="0">
                <a:solidFill>
                  <a:schemeClr val="bg1"/>
                </a:solidFill>
                <a:latin typeface="Arial" pitchFamily="34" charset="0"/>
                <a:ea typeface="Arial" pitchFamily="34" charset="-122"/>
                <a:cs typeface="Arial" pitchFamily="34" charset="-120"/>
              </a:rPr>
              <a:t>Bu hafta tek bir</a:t>
            </a:r>
            <a:endParaRPr lang="en-US" sz="4800" dirty="0"/>
          </a:p>
          <a:p>
            <a:pPr algn="l" indent="0" marL="0">
              <a:buNone/>
            </a:pPr>
            <a:r>
              <a:rPr lang="en-US" sz="4800" b="1" dirty="0">
                <a:solidFill>
                  <a:schemeClr val="bg1"/>
                </a:solidFill>
                <a:latin typeface="Arial" pitchFamily="34" charset="0"/>
                <a:ea typeface="Arial" pitchFamily="34" charset="-122"/>
                <a:cs typeface="Arial" pitchFamily="34" charset="-120"/>
              </a:rPr>
              <a:t>teknik dene.</a:t>
            </a:r>
            <a:endParaRPr lang="en-US" sz="4800" dirty="0"/>
          </a:p>
        </p:txBody>
      </p:sp>
      <p:sp>
        <p:nvSpPr>
          <p:cNvPr id="3" name="Üst başlık"/>
          <p:cNvSpPr txBox="1"/>
          <p:nvPr/>
        </p:nvSpPr>
        <p:spPr>
          <a:xfrm>
            <a:off x="812902" y="1783080"/>
            <a:ext cx="7315200" cy="274320"/>
          </a:xfrm>
          <a:prstGeom prst="rect">
            <a:avLst/>
          </a:prstGeom>
          <a:noFill/>
          <a:ln/>
        </p:spPr>
        <p:txBody>
          <a:bodyPr wrap="square" lIns="0" tIns="0" rIns="0" bIns="0" rtlCol="0" anchor="ctr"/>
          <a:lstStyle/>
          <a:p>
            <a:pPr indent="0" marL="0">
              <a:buNone/>
            </a:pPr>
            <a:r>
              <a:rPr lang="en-US" sz="1400" b="1" spc="300" kern="0" dirty="0">
                <a:solidFill>
                  <a:schemeClr val="accent3"/>
                </a:solidFill>
              </a:rPr>
              <a:t>ÇIKIŞ KARTI</a:t>
            </a:r>
            <a:endParaRPr lang="en-US" sz="1400" dirty="0"/>
          </a:p>
        </p:txBody>
      </p:sp>
      <p:sp>
        <p:nvSpPr>
          <p:cNvPr id="5" name="Dekor kare"/>
          <p:cNvSpPr/>
          <p:nvPr/>
        </p:nvSpPr>
        <p:spPr>
          <a:xfrm rot="360000">
            <a:off x="7823606" y="1651406"/>
            <a:ext cx="3556102" cy="3556102"/>
          </a:xfrm>
          <a:prstGeom prst="roundRect">
            <a:avLst>
              <a:gd name="adj" fmla="val 6428"/>
            </a:avLst>
          </a:prstGeom>
          <a:solidFill>
            <a:schemeClr val="accent1"/>
          </a:solidFill>
          <a:ln/>
        </p:spPr>
      </p:sp>
      <p:pic>
        <p:nvPicPr>
          <p:cNvPr id="6" name="Simge" descr="bulb">    </p:cNvPr>
          <p:cNvPicPr>
            <a:picLocks noChangeAspect="1"/>
          </p:cNvPicPr>
          <p:nvPr/>
        </p:nvPicPr>
        <p:blipFill>
          <a:blip r:embed="rId1"/>
          <a:stretch>
            <a:fillRect/>
          </a:stretch>
        </p:blipFill>
        <p:spPr>
          <a:xfrm>
            <a:off x="8966606" y="2794406"/>
            <a:ext cx="1270102" cy="1270102"/>
          </a:xfrm>
          <a:prstGeom prst="rect">
            <a:avLst/>
          </a:prstGeom>
        </p:spPr>
      </p:pic>
      <p:sp>
        <p:nvSpPr>
          <p:cNvPr id="7" name="Text 3"/>
          <p:cNvSpPr txBox="1"/>
          <p:nvPr/>
        </p:nvSpPr>
        <p:spPr>
          <a:xfrm>
            <a:off x="812902" y="3931920"/>
            <a:ext cx="6766560" cy="1371600"/>
          </a:xfrm>
          <a:prstGeom prst="rect">
            <a:avLst/>
          </a:prstGeom>
          <a:noFill/>
          <a:ln/>
        </p:spPr>
        <p:txBody>
          <a:bodyPr wrap="square" lIns="0" tIns="0" rIns="0" bIns="0" rtlCol="0" anchor="t"/>
          <a:lstStyle/>
          <a:p>
            <a:pPr indent="0" marL="0">
              <a:spcAft>
                <a:spcPts val="600"/>
              </a:spcAft>
              <a:buNone/>
            </a:pPr>
            <a:r>
              <a:rPr lang="en-US" sz="2000" dirty="0">
                <a:solidFill>
                  <a:schemeClr val="accent5"/>
                </a:solidFill>
              </a:rPr>
              <a:t>1. Hangi tekniği deneyeceğim?</a:t>
            </a:r>
            <a:endParaRPr lang="en-US" sz="2000" dirty="0"/>
          </a:p>
          <a:p>
            <a:pPr indent="0" marL="0">
              <a:spcAft>
                <a:spcPts val="600"/>
              </a:spcAft>
              <a:buNone/>
            </a:pPr>
            <a:r>
              <a:rPr lang="en-US" sz="2000" dirty="0">
                <a:solidFill>
                  <a:schemeClr val="accent5"/>
                </a:solidFill>
              </a:rPr>
              <a:t>2. Ne zaman ve hangi derste?</a:t>
            </a:r>
            <a:endParaRPr lang="en-US" sz="2000" dirty="0"/>
          </a:p>
          <a:p>
            <a:pPr indent="0" marL="0">
              <a:spcAft>
                <a:spcPts val="600"/>
              </a:spcAft>
              <a:buNone/>
            </a:pPr>
            <a:r>
              <a:rPr lang="en-US" sz="2000" dirty="0">
                <a:solidFill>
                  <a:schemeClr val="accent5"/>
                </a:solidFill>
              </a:rPr>
              <a:t>3. Nasıl geçtiğini kiminle paylaşacağım?</a:t>
            </a:r>
            <a:endParaRPr lang="en-US" sz="2000" dirty="0"/>
          </a:p>
        </p:txBody>
      </p:sp>
    </p:spTree>
  </p:cSld>
  <p:clrMapOvr>
    <a:masterClrMapping/>
  </p:clrMapOvr>
</p:sld>
</file>

<file path=ppt/theme/theme1.xml><?xml version="1.0" encoding="utf-8"?>
<a:theme xmlns:a="http://schemas.openxmlformats.org/drawingml/2006/main" name="Ders Calisma 5-7">
  <a:themeElements>
    <a:clrScheme name="Ders Calisma 5-7">
      <a:dk1>
        <a:srgbClr val="16323C"/>
      </a:dk1>
      <a:lt1>
        <a:srgbClr val="F5F7F2"/>
      </a:lt1>
      <a:dk2>
        <a:srgbClr val="46565C"/>
      </a:dk2>
      <a:lt2>
        <a:srgbClr val="E3EDE8"/>
      </a:lt2>
      <a:accent1>
        <a:srgbClr val="F4C542"/>
      </a:accent1>
      <a:accent2>
        <a:srgbClr val="1E6B5A"/>
      </a:accent2>
      <a:accent3>
        <a:srgbClr val="F4C542"/>
      </a:accent3>
      <a:accent4>
        <a:srgbClr val="FBFCF9"/>
      </a:accent4>
      <a:accent5>
        <a:srgbClr val="BFD3CF"/>
      </a:accent5>
      <a:accent6>
        <a:srgbClr val="56656B"/>
      </a:accent6>
      <a:hlink>
        <a:srgbClr val="1E6B5A"/>
      </a:hlink>
      <a:folHlink>
        <a:srgbClr val="56656B"/>
      </a:folHlink>
    </a:clrScheme>
    <a:fontScheme name="Ders Calisma 5-7">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Verimli Ders Çalışma – 5, 6 ve 7. Sınıflar</dc:title>
  <dc:subject>PptxGenJS Presentation</dc:subject>
  <dc:creator>Rehberlik Servisi</dc:creator>
  <cp:lastModifiedBy>Rehberlik Servisi</cp:lastModifiedBy>
  <cp:revision>1</cp:revision>
  <dcterms:created xsi:type="dcterms:W3CDTF">2026-10-05T07:20:47Z</dcterms:created>
  <dcterms:modified xsi:type="dcterms:W3CDTF">2026-10-05T07:20:47Z</dcterms:modified>
</cp:coreProperties>
</file>