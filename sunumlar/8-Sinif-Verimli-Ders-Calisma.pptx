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çılış" id="{12b1f6f9-74c4-eb76-7ce0-beb4ca1102dd}">
          <p14:sldIdLst>
            <p14:sldId id="256"/>
            <p14:sldId id="257"/>
          </p14:sldIdLst>
        </p14:section>
        <p14:section name="Ortam ve plan" id="{a8bd57c1-78ec-bded-261e-91c151ae2d84}">
          <p14:sldIdLst>
            <p14:sldId id="258"/>
            <p14:sldId id="259"/>
          </p14:sldIdLst>
        </p14:section>
        <p14:section name="Çalışma teknikleri" id="{e7c02fc8-659a-2405-f9fb-2ef9d50c869c}">
          <p14:sldIdLst>
            <p14:sldId id="260"/>
            <p14:sldId id="261"/>
            <p14:sldId id="262"/>
            <p14:sldId id="263"/>
            <p14:sldId id="264"/>
          </p14:sldIdLst>
        </p14:section>
        <p14:section name="Soru çözme ve hatalar" id="{ac4f07bd-0bd3-8e63-04d9-c6c94b2b9e1a}">
          <p14:sldIdLst>
            <p14:sldId id="265"/>
            <p14:sldId id="266"/>
          </p14:sldIdLst>
        </p14:section>
        <p14:section name="Sağlık ve kapanış" id="{bc31834a-3cf0-9b47-dc33-702f9c433f45}">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Hoş geldiniz. Bu derste ders çalışırken zamanımızı nasıl daha verimli kullanabileceğimizi konuşacağız: çalışma ortamı, plan, etkisi araştırmalarla gösterilmiş teknikler, soru çözme ve hatalardan öğrenme. Sunum yaklaşık 40 dakika sürer.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Öğrencilere sorun: "Sizce hangisi daha çok işe yarar?" Ardından son soruyu sorun ve birkaç öğrencinin deneyimini dinleyin. Mesaj: Çalışma süresi önemli ama tek başına yeterli değil; nasıl çalıştığımız en az o kadar önemli.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Öğrencilere evde ders çalıştıkları yeri düşünmelerini ve bu listeden kaç maddeyi sağladıklarını saymalarını isteyin. En zor maddenin genellikle telefon olduğunu konuşun: Bildirim gelmese bile "bir bakayım" düşüncesi dikkati böler.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yapmanın amacı her dakikayı doldurmak değil, "Bugün ne çalışacağım?" sorusunu her gün yeniden düşünmemektir. Planda mutlaka dinlenme zamanı olmalı. Öğrencilere boş bir haftalık plan şablonu dağıtıp doldurmalarını isteyebilirsiniz. Uyulamayan bir plan motivasyonu düşürür; gerçekçi olsun.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Pomodoro, adını domates şeklindeki mutfak zamanlayıcısından alır. Telefonu zamanlayıcı olarak kullanacaklarsa uçak modunda kullanmalarını önerin. 25 dakika başta uzun gelirse 15–20 dakikayla başlayıp süreyi yavaşça artırabilirler. Sınıfta bir pomodoroluk deneme yapabilirsiniz.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Tekrar okumak "biliyorum" hissi verir çünkü metin tanıdık gelir; ama bu, bilgiyi hatırlayabildiğimiz anlamına gelmez. Hatırlamaya çalışmak zordur ve bu zorluk öğrenmeyi güçlendirir. Mini deneme: Öğrencilerden önceki slaytlara bakmadan çalışma ortamı için 6 maddeyi hatırlamalarını isteyin.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Öğrendiğimiz bir şeyi tekrar etmezsek zamanla unuturuz. Her tekrar unutmayı yavaşlatır. Bu yüzden sınavdan önceki son gece her şeyi çalışmak yerine konuları hafta hafta tekrar etmek daha etkilidir. Öğrenciler tekrar günlerini haftalık planlarındaki "Kısa tekrar" sütununa yazabilir.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Sınıf içi uygulama: Öğrencileri ikişerli eşleştirin. Her öğrenci son işlenen bir konuyu 2 dakikada eşine anlatsın, eşi de anlamadığı yerleri sorsun. Ardından roller değişsin. Evde aile üyelerine ya da aynaya karşı anlatarak da yapılabilir.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Cornell yöntemi defter sayfasını üç bölüme ayırır. Bir sayfayı tahtada birlikte bölün. 3. adımın aslında aktif hatırlama olduğunu, yani önceki tekniğe bağlandığını vurgulayın: Notlar sadece okunmak için değil, kendini test etmek için de kullanılır.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Tahtaya örnek bir yeni nesil soru yansıtıp 5 adımı birlikte uygulayın: [örnek soru]. Özellikle "en az", "değildir", "değinilmemiştir" gibi ifadelerin altını çizmeyi vurgulayın. Ek ipucu: Sınavda bir soruda takılırsan işaretle, geç ve kalan sürede geri dön.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Yanlış defteri, denemelerden sonra en değerli kaynaktır. Her yanlışı yazmak zorunda değiller; özellikle "bunu biliyordum ama yanlış yaptım" dedikleri soruları yazmaları yeterli. Bilgi eksikliği varsa konu tekrarı, dikkat hatası varsa daha yavaş ve kontrollü çözme gerekir. Tekrar sütunu aralıklı tekrar slaytıyla bağlantılıdır.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Gece geç saatlere kadar çalışıp uykudan kısmanın ertesi gün dikkati ve öğrenmeyi olumsuz etkilediğini anlatın. Bu yaş grubu için önerilen uyku süresi 8–10 saattir. Öğrencilere bu hafta yatış saatlerini sabitlemeyi deneyip deneyemeyeceklerini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 bir duraklama slaytı. Öğrencilere sorun: "Hafta sonu 6 saat mi, her gün 1 saat mi?" Her gün düzenli çalışmanın hem aralıklı tekrarı kendiliğinden sağladığını hem de çalışmayı bir alışkanlığa dönüştürdüğünü vurgulayın.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öğrenciye küçük bir kâğıt (çıkış kartı) verin ve üç soruyu yanıtlamalarını isteyin. Kartları toplayıp bir hafta sonra kısa bir sınıf sohbetiyle "Kim hangi tekniği denedi, nasıl geçti?" diye takip edin. Sorular ve paylaşımlarla dersi kapatın.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CERIK_ACIK">
    <p:bg>
      <p:bgPr>
        <a:solidFill>
          <a:srgbClr val="F5F7F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rtlCol="0"/>
          <a:lstStyle>
            <a:lvl1pPr algn="l" indent="0" marL="0">
              <a:buNone/>
              <a:defRPr lang="en-US" sz="3600" b="1" dirty="0">
                <a:solidFill>
                  <a:schemeClr val="tx1"/>
                </a:solidFill>
                <a:latin typeface="Century Schoolbook" pitchFamily="34" charset="0"/>
                <a:ea typeface="Century Schoolbook" pitchFamily="34" charset="-122"/>
                <a:cs typeface="Century Schoolbook" pitchFamily="34" charset="-120"/>
              </a:defRPr>
            </a:lvl1pPr>
          </a:lstStyle>
          <a:p>
            <a:pPr algn="l" indent="0" marL="0">
              <a:buNone/>
            </a:pPr>
            <a:endParaRPr lang="en-US" sz="3600" dirty="0"/>
          </a:p>
        </p:txBody>
      </p:sp>
      <p:sp>
        <p:nvSpPr>
          <p:cNvPr id="3" name="Text 0"/>
          <p:cNvSpPr txBox="1"/>
          <p:nvPr/>
        </p:nvSpPr>
        <p:spPr>
          <a:xfrm>
            <a:off x="812902" y="6217920"/>
            <a:ext cx="7315200" cy="320040"/>
          </a:xfrm>
          <a:prstGeom prst="rect">
            <a:avLst/>
          </a:prstGeom>
          <a:noFill/>
          <a:ln/>
        </p:spPr>
        <p:txBody>
          <a:bodyPr wrap="square" lIns="0" tIns="0" rIns="0" bIns="0" rtlCol="0" anchor="ctr"/>
          <a:lstStyle/>
          <a:p>
            <a:pPr indent="0" marL="0">
              <a:buNone/>
            </a:pPr>
            <a:r>
              <a:rPr lang="en-US" sz="1200" dirty="0">
                <a:solidFill>
                  <a:schemeClr val="accent6"/>
                </a:solidFill>
              </a:rPr>
              <a:t>Verimli Ders Çalışma · 8. Sınıf Rehberlik</a:t>
            </a:r>
            <a:endParaRPr lang="en-US" sz="12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CERIK_IKINCI">
    <p:bg>
      <p:bgPr>
        <a:solidFill>
          <a:srgbClr val="E3EDE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rtlCol="0"/>
          <a:lstStyle>
            <a:lvl1pPr algn="l" indent="0" marL="0">
              <a:buNone/>
              <a:defRPr lang="en-US" sz="3600" b="1" dirty="0">
                <a:solidFill>
                  <a:schemeClr val="tx1"/>
                </a:solidFill>
                <a:latin typeface="Century Schoolbook" pitchFamily="34" charset="0"/>
                <a:ea typeface="Century Schoolbook" pitchFamily="34" charset="-122"/>
                <a:cs typeface="Century Schoolbook" pitchFamily="34" charset="-120"/>
              </a:defRPr>
            </a:lvl1pPr>
          </a:lstStyle>
          <a:p>
            <a:pPr algn="l" indent="0" marL="0">
              <a:buNone/>
            </a:pPr>
            <a:endParaRPr lang="en-US" sz="3600" dirty="0"/>
          </a:p>
        </p:txBody>
      </p:sp>
      <p:sp>
        <p:nvSpPr>
          <p:cNvPr id="3" name="Text 0"/>
          <p:cNvSpPr txBox="1"/>
          <p:nvPr/>
        </p:nvSpPr>
        <p:spPr>
          <a:xfrm>
            <a:off x="812902" y="6217920"/>
            <a:ext cx="7315200" cy="320040"/>
          </a:xfrm>
          <a:prstGeom prst="rect">
            <a:avLst/>
          </a:prstGeom>
          <a:noFill/>
          <a:ln/>
        </p:spPr>
        <p:txBody>
          <a:bodyPr wrap="square" lIns="0" tIns="0" rIns="0" bIns="0" rtlCol="0" anchor="ctr"/>
          <a:lstStyle/>
          <a:p>
            <a:pPr indent="0" marL="0">
              <a:buNone/>
            </a:pPr>
            <a:r>
              <a:rPr lang="en-US" sz="1200" dirty="0">
                <a:solidFill>
                  <a:schemeClr val="accent6"/>
                </a:solidFill>
              </a:rPr>
              <a:t>Verimli Ders Çalışma · 8. Sınıf Rehberlik</a:t>
            </a:r>
            <a:endParaRPr lang="en-US" sz="12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OYU">
    <p:bg>
      <p:bgPr>
        <a:solidFill>
          <a:srgbClr val="16323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902" y="2240280"/>
            <a:ext cx="6766560" cy="2103120"/>
          </a:xfrm>
          <a:prstGeom prst="rect">
            <a:avLst/>
          </a:prstGeom>
          <a:noFill/>
          <a:ln/>
        </p:spPr>
        <p:txBody>
          <a:bodyPr wrap="square" rtlCol="0"/>
          <a:lstStyle>
            <a:lvl1pPr algn="l" indent="0" marL="0">
              <a:buNone/>
              <a:defRPr lang="en-US" sz="4800" b="1" dirty="0">
                <a:solidFill>
                  <a:schemeClr val="bg1"/>
                </a:solidFill>
                <a:latin typeface="Century Schoolbook" pitchFamily="34" charset="0"/>
                <a:ea typeface="Century Schoolbook" pitchFamily="34" charset="-122"/>
                <a:cs typeface="Century Schoolbook" pitchFamily="34" charset="-120"/>
              </a:defRPr>
            </a:lvl1pPr>
          </a:lstStyle>
          <a:p>
            <a:pPr algn="l" indent="0" marL="0">
              <a:buNone/>
            </a:pPr>
            <a:endParaRPr lang="en-US" sz="4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URGU">
    <p:bg>
      <p:bgPr>
        <a:solidFill>
          <a:srgbClr val="F4C54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902" y="1920240"/>
            <a:ext cx="10565892" cy="2194560"/>
          </a:xfrm>
          <a:prstGeom prst="rect">
            <a:avLst/>
          </a:prstGeom>
          <a:noFill/>
          <a:ln/>
        </p:spPr>
        <p:txBody>
          <a:bodyPr wrap="square" rtlCol="0"/>
          <a:lstStyle>
            <a:lvl1pPr algn="l" indent="0" marL="0">
              <a:buNone/>
              <a:defRPr lang="en-US" sz="5200" b="1" dirty="0">
                <a:solidFill>
                  <a:schemeClr val="tx1"/>
                </a:solidFill>
                <a:latin typeface="Century Schoolbook" pitchFamily="34" charset="0"/>
                <a:ea typeface="Century Schoolbook" pitchFamily="34" charset="-122"/>
                <a:cs typeface="Century Schoolbook" pitchFamily="34" charset="-120"/>
              </a:defRPr>
            </a:lvl1pPr>
          </a:lstStyle>
          <a:p>
            <a:pPr algn="l" indent="0" marL="0">
              <a:buNone/>
            </a:pPr>
            <a:endParaRPr lang="en-US" sz="5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12902" y="2240280"/>
            <a:ext cx="6766560" cy="2103120"/>
          </a:xfrm>
          <a:prstGeom prst="rect">
            <a:avLst/>
          </a:prstGeom>
          <a:noFill/>
          <a:ln/>
        </p:spPr>
        <p:txBody>
          <a:bodyPr wrap="square" lIns="0" tIns="0" rIns="0" bIns="0" rtlCol="0" anchor="t"/>
          <a:lstStyle/>
          <a:p>
            <a:pPr algn="l" indent="0" marL="0">
              <a:buNone/>
            </a:pPr>
            <a:r>
              <a:rPr lang="en-US" sz="4800" b="1" dirty="0">
                <a:solidFill>
                  <a:schemeClr val="bg1"/>
                </a:solidFill>
                <a:latin typeface="Century Schoolbook" pitchFamily="34" charset="0"/>
                <a:ea typeface="Century Schoolbook" pitchFamily="34" charset="-122"/>
                <a:cs typeface="Century Schoolbook" pitchFamily="34" charset="-120"/>
              </a:rPr>
              <a:t>Verimli Ders</a:t>
            </a:r>
            <a:endParaRPr lang="en-US" sz="4800" dirty="0"/>
          </a:p>
          <a:p>
            <a:pPr algn="l" indent="0" marL="0">
              <a:buNone/>
            </a:pPr>
            <a:r>
              <a:rPr lang="en-US" sz="4800" b="1" dirty="0">
                <a:solidFill>
                  <a:schemeClr val="bg1"/>
                </a:solidFill>
                <a:latin typeface="Century Schoolbook" pitchFamily="34" charset="0"/>
                <a:ea typeface="Century Schoolbook" pitchFamily="34" charset="-122"/>
                <a:cs typeface="Century Schoolbook" pitchFamily="34" charset="-120"/>
              </a:rPr>
              <a:t>Çalışma</a:t>
            </a:r>
            <a:endParaRPr lang="en-US" sz="4800" dirty="0"/>
          </a:p>
        </p:txBody>
      </p:sp>
      <p:sp>
        <p:nvSpPr>
          <p:cNvPr id="3" name="Üst başlık"/>
          <p:cNvSpPr txBox="1"/>
          <p:nvPr/>
        </p:nvSpPr>
        <p:spPr>
          <a:xfrm>
            <a:off x="812902" y="1783080"/>
            <a:ext cx="7315200" cy="274320"/>
          </a:xfrm>
          <a:prstGeom prst="rect">
            <a:avLst/>
          </a:prstGeom>
          <a:noFill/>
          <a:ln/>
        </p:spPr>
        <p:txBody>
          <a:bodyPr wrap="square" lIns="0" tIns="0" rIns="0" bIns="0" rtlCol="0" anchor="ctr"/>
          <a:lstStyle/>
          <a:p>
            <a:pPr indent="0" marL="0">
              <a:buNone/>
            </a:pPr>
            <a:r>
              <a:rPr lang="en-US" sz="1400" b="1" spc="300" kern="0" dirty="0">
                <a:solidFill>
                  <a:schemeClr val="accent3"/>
                </a:solidFill>
              </a:rPr>
              <a:t>8. SINIF REHBERLİK SAATİ</a:t>
            </a:r>
            <a:endParaRPr lang="en-US" sz="1400" dirty="0"/>
          </a:p>
        </p:txBody>
      </p:sp>
      <p:sp>
        <p:nvSpPr>
          <p:cNvPr id="5" name="Dekor kare"/>
          <p:cNvSpPr/>
          <p:nvPr/>
        </p:nvSpPr>
        <p:spPr>
          <a:xfrm rot="360000">
            <a:off x="7823606" y="1651406"/>
            <a:ext cx="3556102" cy="3556102"/>
          </a:xfrm>
          <a:prstGeom prst="roundRect">
            <a:avLst>
              <a:gd name="adj" fmla="val 6428"/>
            </a:avLst>
          </a:prstGeom>
          <a:solidFill>
            <a:schemeClr val="accent1"/>
          </a:solidFill>
          <a:ln/>
        </p:spPr>
      </p:sp>
      <p:pic>
        <p:nvPicPr>
          <p:cNvPr id="6" name="Simge" descr="book">    </p:cNvPr>
          <p:cNvPicPr>
            <a:picLocks noChangeAspect="1"/>
          </p:cNvPicPr>
          <p:nvPr/>
        </p:nvPicPr>
        <p:blipFill>
          <a:blip r:embed="rId1"/>
          <a:stretch>
            <a:fillRect/>
          </a:stretch>
        </p:blipFill>
        <p:spPr>
          <a:xfrm>
            <a:off x="8966606" y="2794406"/>
            <a:ext cx="1270102" cy="1270102"/>
          </a:xfrm>
          <a:prstGeom prst="rect">
            <a:avLst/>
          </a:prstGeom>
        </p:spPr>
      </p:pic>
      <p:sp>
        <p:nvSpPr>
          <p:cNvPr id="7" name="Text 3"/>
          <p:cNvSpPr txBox="1"/>
          <p:nvPr/>
        </p:nvSpPr>
        <p:spPr>
          <a:xfrm>
            <a:off x="812902" y="3931920"/>
            <a:ext cx="6766560" cy="457200"/>
          </a:xfrm>
          <a:prstGeom prst="rect">
            <a:avLst/>
          </a:prstGeom>
          <a:noFill/>
          <a:ln/>
        </p:spPr>
        <p:txBody>
          <a:bodyPr wrap="square" lIns="0" tIns="0" rIns="0" bIns="0" rtlCol="0" anchor="t"/>
          <a:lstStyle/>
          <a:p>
            <a:pPr indent="0" marL="0">
              <a:buNone/>
            </a:pPr>
            <a:r>
              <a:rPr lang="en-US" sz="2000" dirty="0">
                <a:solidFill>
                  <a:schemeClr val="accent5"/>
                </a:solidFill>
              </a:rPr>
              <a:t>Daha çok değil, daha akıllıca çalışmanın yolları.</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Century Schoolbook" pitchFamily="34" charset="0"/>
                <a:ea typeface="Century Schoolbook" pitchFamily="34" charset="-122"/>
                <a:cs typeface="Century Schoolbook" pitchFamily="34" charset="-120"/>
              </a:rPr>
              <a:t>Çok çalışmak mı, doğru çalışmak mı?</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ISINMA</a:t>
            </a:r>
            <a:endParaRPr lang="en-US" sz="1400" dirty="0"/>
          </a:p>
        </p:txBody>
      </p:sp>
      <p:sp>
        <p:nvSpPr>
          <p:cNvPr id="5" name="Saatlerce masada oturmak"/>
          <p:cNvSpPr/>
          <p:nvPr/>
        </p:nvSpPr>
        <p:spPr>
          <a:xfrm>
            <a:off x="812902" y="2103120"/>
            <a:ext cx="5122926" cy="2377440"/>
          </a:xfrm>
          <a:prstGeom prst="roundRect">
            <a:avLst>
              <a:gd name="adj" fmla="val 6923"/>
            </a:avLst>
          </a:prstGeom>
          <a:solidFill>
            <a:schemeClr val="bg1"/>
          </a:solidFill>
          <a:ln/>
        </p:spPr>
      </p:sp>
      <p:sp>
        <p:nvSpPr>
          <p:cNvPr id="6" name="Text 3"/>
          <p:cNvSpPr txBox="1"/>
          <p:nvPr/>
        </p:nvSpPr>
        <p:spPr>
          <a:xfrm>
            <a:off x="1132942" y="2377440"/>
            <a:ext cx="4482846" cy="411480"/>
          </a:xfrm>
          <a:prstGeom prst="rect">
            <a:avLst/>
          </a:prstGeom>
          <a:noFill/>
          <a:ln/>
        </p:spPr>
        <p:txBody>
          <a:bodyPr wrap="square" lIns="0" tIns="0" rIns="0" bIns="0" rtlCol="0" anchor="t"/>
          <a:lstStyle/>
          <a:p>
            <a:pPr indent="0" marL="0">
              <a:buNone/>
            </a:pPr>
            <a:r>
              <a:rPr lang="en-US" sz="2100" b="1" dirty="0">
                <a:solidFill>
                  <a:schemeClr val="tx1"/>
                </a:solidFill>
                <a:latin typeface="Century Schoolbook" pitchFamily="34" charset="0"/>
                <a:ea typeface="Century Schoolbook" pitchFamily="34" charset="-122"/>
                <a:cs typeface="Century Schoolbook" pitchFamily="34" charset="-120"/>
              </a:rPr>
              <a:t>Saatlerce masada oturmak</a:t>
            </a:r>
            <a:endParaRPr lang="en-US" sz="2100" dirty="0"/>
          </a:p>
        </p:txBody>
      </p:sp>
      <p:sp>
        <p:nvSpPr>
          <p:cNvPr id="7" name="Text 4"/>
          <p:cNvSpPr txBox="1"/>
          <p:nvPr/>
        </p:nvSpPr>
        <p:spPr>
          <a:xfrm>
            <a:off x="1132942" y="2926080"/>
            <a:ext cx="4482846" cy="137160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chemeClr val="tx2"/>
                </a:solidFill>
              </a:rPr>
              <a:t>Telefon yanında, dikkat sık sık bölünüyor.</a:t>
            </a:r>
            <a:endParaRPr lang="en-US" sz="1700" dirty="0"/>
          </a:p>
          <a:p>
            <a:pPr marL="342900" indent="-342900">
              <a:spcAft>
                <a:spcPts val="600"/>
              </a:spcAft>
              <a:buSzPct val="100000"/>
              <a:buChar char="•"/>
            </a:pPr>
            <a:r>
              <a:rPr lang="en-US" sz="1700" dirty="0">
                <a:solidFill>
                  <a:schemeClr val="tx2"/>
                </a:solidFill>
              </a:rPr>
              <a:t>Aynı sayfayı tekrar tekrar okumak.</a:t>
            </a:r>
            <a:endParaRPr lang="en-US" sz="1700" dirty="0"/>
          </a:p>
          <a:p>
            <a:pPr marL="342900" indent="-342900">
              <a:spcAft>
                <a:spcPts val="600"/>
              </a:spcAft>
              <a:buSzPct val="100000"/>
              <a:buChar char="•"/>
            </a:pPr>
            <a:r>
              <a:rPr lang="en-US" sz="1700" dirty="0">
                <a:solidFill>
                  <a:schemeClr val="tx2"/>
                </a:solidFill>
              </a:rPr>
              <a:t>Yorgunluk çok, akılda kalan az.</a:t>
            </a:r>
            <a:endParaRPr lang="en-US" sz="1700" dirty="0"/>
          </a:p>
        </p:txBody>
      </p:sp>
      <p:sp>
        <p:nvSpPr>
          <p:cNvPr id="8" name="Odaklı ve planlı çalışmak"/>
          <p:cNvSpPr/>
          <p:nvPr/>
        </p:nvSpPr>
        <p:spPr>
          <a:xfrm>
            <a:off x="6255868" y="2103120"/>
            <a:ext cx="5122926" cy="2377440"/>
          </a:xfrm>
          <a:prstGeom prst="roundRect">
            <a:avLst>
              <a:gd name="adj" fmla="val 6923"/>
            </a:avLst>
          </a:prstGeom>
          <a:solidFill>
            <a:schemeClr val="accent1"/>
          </a:solidFill>
          <a:ln/>
        </p:spPr>
      </p:sp>
      <p:sp>
        <p:nvSpPr>
          <p:cNvPr id="9" name="Text 6"/>
          <p:cNvSpPr txBox="1"/>
          <p:nvPr/>
        </p:nvSpPr>
        <p:spPr>
          <a:xfrm>
            <a:off x="6575908" y="2377440"/>
            <a:ext cx="4482846" cy="411480"/>
          </a:xfrm>
          <a:prstGeom prst="rect">
            <a:avLst/>
          </a:prstGeom>
          <a:noFill/>
          <a:ln/>
        </p:spPr>
        <p:txBody>
          <a:bodyPr wrap="square" lIns="0" tIns="0" rIns="0" bIns="0" rtlCol="0" anchor="t"/>
          <a:lstStyle/>
          <a:p>
            <a:pPr indent="0" marL="0">
              <a:buNone/>
            </a:pPr>
            <a:r>
              <a:rPr lang="en-US" sz="2100" b="1" dirty="0">
                <a:solidFill>
                  <a:schemeClr val="tx1"/>
                </a:solidFill>
                <a:latin typeface="Century Schoolbook" pitchFamily="34" charset="0"/>
                <a:ea typeface="Century Schoolbook" pitchFamily="34" charset="-122"/>
                <a:cs typeface="Century Schoolbook" pitchFamily="34" charset="-120"/>
              </a:rPr>
              <a:t>Odaklı ve planlı çalışmak</a:t>
            </a:r>
            <a:endParaRPr lang="en-US" sz="2100" dirty="0"/>
          </a:p>
        </p:txBody>
      </p:sp>
      <p:sp>
        <p:nvSpPr>
          <p:cNvPr id="10" name="Text 7"/>
          <p:cNvSpPr txBox="1"/>
          <p:nvPr/>
        </p:nvSpPr>
        <p:spPr>
          <a:xfrm>
            <a:off x="6575908" y="2926080"/>
            <a:ext cx="4482846" cy="137160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chemeClr val="tx1"/>
                </a:solidFill>
              </a:rPr>
              <a:t>Kısa ve dikkat dağıtıcısız oturumlar.</a:t>
            </a:r>
            <a:endParaRPr lang="en-US" sz="1700" dirty="0"/>
          </a:p>
          <a:p>
            <a:pPr marL="342900" indent="-342900">
              <a:spcAft>
                <a:spcPts val="600"/>
              </a:spcAft>
              <a:buSzPct val="100000"/>
              <a:buChar char="•"/>
            </a:pPr>
            <a:r>
              <a:rPr lang="en-US" sz="1700" dirty="0">
                <a:solidFill>
                  <a:schemeClr val="tx1"/>
                </a:solidFill>
              </a:rPr>
              <a:t>Kendini test etmek, soru çözmek.</a:t>
            </a:r>
            <a:endParaRPr lang="en-US" sz="1700" dirty="0"/>
          </a:p>
          <a:p>
            <a:pPr marL="342900" indent="-342900">
              <a:spcAft>
                <a:spcPts val="600"/>
              </a:spcAft>
              <a:buSzPct val="100000"/>
              <a:buChar char="•"/>
            </a:pPr>
            <a:r>
              <a:rPr lang="en-US" sz="1700" dirty="0">
                <a:solidFill>
                  <a:schemeClr val="tx1"/>
                </a:solidFill>
              </a:rPr>
              <a:t>Daha az süre, daha kalıcı bilgi.</a:t>
            </a:r>
            <a:endParaRPr lang="en-US" sz="1700" dirty="0"/>
          </a:p>
        </p:txBody>
      </p:sp>
      <p:sp>
        <p:nvSpPr>
          <p:cNvPr id="11" name="Text 8"/>
          <p:cNvSpPr txBox="1"/>
          <p:nvPr/>
        </p:nvSpPr>
        <p:spPr>
          <a:xfrm>
            <a:off x="812902" y="4800600"/>
            <a:ext cx="10565892" cy="457200"/>
          </a:xfrm>
          <a:prstGeom prst="rect">
            <a:avLst/>
          </a:prstGeom>
          <a:noFill/>
          <a:ln/>
        </p:spPr>
        <p:txBody>
          <a:bodyPr wrap="square" lIns="0" tIns="0" rIns="0" bIns="0" rtlCol="0" anchor="t"/>
          <a:lstStyle/>
          <a:p>
            <a:pPr indent="0" marL="0">
              <a:buNone/>
            </a:pPr>
            <a:r>
              <a:rPr lang="en-US" sz="2000" dirty="0">
                <a:solidFill>
                  <a:schemeClr val="tx2"/>
                </a:solidFill>
              </a:rPr>
              <a:t>Sen en son ne zaman “Çok çalıştım ama aklımda kalmadı.” dedin?</a:t>
            </a:r>
            <a:endParaRPr lang="en-US" sz="20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Century Schoolbook" pitchFamily="34" charset="0"/>
                <a:ea typeface="Century Schoolbook" pitchFamily="34" charset="-122"/>
                <a:cs typeface="Century Schoolbook" pitchFamily="34" charset="-120"/>
              </a:rPr>
              <a:t>Çalışma ortamını hazırla</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HAZIRLIK</a:t>
            </a:r>
            <a:endParaRPr lang="en-US" sz="1400" dirty="0"/>
          </a:p>
        </p:txBody>
      </p:sp>
      <p:sp>
        <p:nvSpPr>
          <p:cNvPr id="5" name="Telefon başka odada ya da kapalı"/>
          <p:cNvSpPr/>
          <p:nvPr/>
        </p:nvSpPr>
        <p:spPr>
          <a:xfrm>
            <a:off x="812902" y="2057400"/>
            <a:ext cx="5122926" cy="731520"/>
          </a:xfrm>
          <a:prstGeom prst="roundRect">
            <a:avLst>
              <a:gd name="adj" fmla="val 22500"/>
            </a:avLst>
          </a:prstGeom>
          <a:solidFill>
            <a:schemeClr val="bg2"/>
          </a:solidFill>
          <a:ln/>
        </p:spPr>
      </p:sp>
      <p:pic>
        <p:nvPicPr>
          <p:cNvPr id="6" name="Simge" descr="check">    </p:cNvPr>
          <p:cNvPicPr>
            <a:picLocks noChangeAspect="1"/>
          </p:cNvPicPr>
          <p:nvPr/>
        </p:nvPicPr>
        <p:blipFill>
          <a:blip r:embed="rId1"/>
          <a:stretch>
            <a:fillRect/>
          </a:stretch>
        </p:blipFill>
        <p:spPr>
          <a:xfrm>
            <a:off x="1087222" y="2258568"/>
            <a:ext cx="329184" cy="329184"/>
          </a:xfrm>
          <a:prstGeom prst="rect">
            <a:avLst/>
          </a:prstGeom>
        </p:spPr>
      </p:pic>
      <p:sp>
        <p:nvSpPr>
          <p:cNvPr id="7" name="Text 3"/>
          <p:cNvSpPr txBox="1"/>
          <p:nvPr/>
        </p:nvSpPr>
        <p:spPr>
          <a:xfrm>
            <a:off x="1635862" y="2057400"/>
            <a:ext cx="4117086" cy="731520"/>
          </a:xfrm>
          <a:prstGeom prst="rect">
            <a:avLst/>
          </a:prstGeom>
          <a:noFill/>
          <a:ln/>
        </p:spPr>
        <p:txBody>
          <a:bodyPr wrap="square" lIns="0" tIns="0" rIns="0" bIns="0" rtlCol="0" anchor="ctr"/>
          <a:lstStyle/>
          <a:p>
            <a:pPr indent="0" marL="0">
              <a:buNone/>
            </a:pPr>
            <a:r>
              <a:rPr lang="en-US" sz="1900" dirty="0">
                <a:solidFill>
                  <a:schemeClr val="tx1"/>
                </a:solidFill>
              </a:rPr>
              <a:t>Telefon başka odada ya da kapalı</a:t>
            </a:r>
            <a:endParaRPr lang="en-US" sz="1900" dirty="0"/>
          </a:p>
        </p:txBody>
      </p:sp>
      <p:sp>
        <p:nvSpPr>
          <p:cNvPr id="8" name="Masada yalnızca o dersin malzemeleri"/>
          <p:cNvSpPr/>
          <p:nvPr/>
        </p:nvSpPr>
        <p:spPr>
          <a:xfrm>
            <a:off x="6255868" y="2057400"/>
            <a:ext cx="5122926" cy="731520"/>
          </a:xfrm>
          <a:prstGeom prst="roundRect">
            <a:avLst>
              <a:gd name="adj" fmla="val 22500"/>
            </a:avLst>
          </a:prstGeom>
          <a:solidFill>
            <a:schemeClr val="bg2"/>
          </a:solidFill>
          <a:ln/>
        </p:spPr>
      </p:sp>
      <p:pic>
        <p:nvPicPr>
          <p:cNvPr id="9" name="Simge" descr="check">    </p:cNvPr>
          <p:cNvPicPr>
            <a:picLocks noChangeAspect="1"/>
          </p:cNvPicPr>
          <p:nvPr/>
        </p:nvPicPr>
        <p:blipFill>
          <a:blip r:embed="rId2"/>
          <a:stretch>
            <a:fillRect/>
          </a:stretch>
        </p:blipFill>
        <p:spPr>
          <a:xfrm>
            <a:off x="6530188" y="2258568"/>
            <a:ext cx="329184" cy="329184"/>
          </a:xfrm>
          <a:prstGeom prst="rect">
            <a:avLst/>
          </a:prstGeom>
        </p:spPr>
      </p:pic>
      <p:sp>
        <p:nvSpPr>
          <p:cNvPr id="10" name="Text 5"/>
          <p:cNvSpPr txBox="1"/>
          <p:nvPr/>
        </p:nvSpPr>
        <p:spPr>
          <a:xfrm>
            <a:off x="7078828" y="2057400"/>
            <a:ext cx="4117086" cy="731520"/>
          </a:xfrm>
          <a:prstGeom prst="rect">
            <a:avLst/>
          </a:prstGeom>
          <a:noFill/>
          <a:ln/>
        </p:spPr>
        <p:txBody>
          <a:bodyPr wrap="square" lIns="0" tIns="0" rIns="0" bIns="0" rtlCol="0" anchor="ctr"/>
          <a:lstStyle/>
          <a:p>
            <a:pPr indent="0" marL="0">
              <a:buNone/>
            </a:pPr>
            <a:r>
              <a:rPr lang="en-US" sz="1900" dirty="0">
                <a:solidFill>
                  <a:schemeClr val="tx1"/>
                </a:solidFill>
              </a:rPr>
              <a:t>Masada yalnızca o dersin malzemeleri</a:t>
            </a:r>
            <a:endParaRPr lang="en-US" sz="1900" dirty="0"/>
          </a:p>
        </p:txBody>
      </p:sp>
      <p:sp>
        <p:nvSpPr>
          <p:cNvPr id="11" name="Bol ışık ve düzenli bir masa"/>
          <p:cNvSpPr/>
          <p:nvPr/>
        </p:nvSpPr>
        <p:spPr>
          <a:xfrm>
            <a:off x="812902" y="2953512"/>
            <a:ext cx="5122926" cy="731520"/>
          </a:xfrm>
          <a:prstGeom prst="roundRect">
            <a:avLst>
              <a:gd name="adj" fmla="val 22500"/>
            </a:avLst>
          </a:prstGeom>
          <a:solidFill>
            <a:schemeClr val="bg2"/>
          </a:solidFill>
          <a:ln/>
        </p:spPr>
      </p:sp>
      <p:pic>
        <p:nvPicPr>
          <p:cNvPr id="12" name="Simge" descr="check">    </p:cNvPr>
          <p:cNvPicPr>
            <a:picLocks noChangeAspect="1"/>
          </p:cNvPicPr>
          <p:nvPr/>
        </p:nvPicPr>
        <p:blipFill>
          <a:blip r:embed="rId3"/>
          <a:stretch>
            <a:fillRect/>
          </a:stretch>
        </p:blipFill>
        <p:spPr>
          <a:xfrm>
            <a:off x="1087222" y="3154680"/>
            <a:ext cx="329184" cy="329184"/>
          </a:xfrm>
          <a:prstGeom prst="rect">
            <a:avLst/>
          </a:prstGeom>
        </p:spPr>
      </p:pic>
      <p:sp>
        <p:nvSpPr>
          <p:cNvPr id="13" name="Text 7"/>
          <p:cNvSpPr txBox="1"/>
          <p:nvPr/>
        </p:nvSpPr>
        <p:spPr>
          <a:xfrm>
            <a:off x="1635862" y="2953512"/>
            <a:ext cx="4117086" cy="731520"/>
          </a:xfrm>
          <a:prstGeom prst="rect">
            <a:avLst/>
          </a:prstGeom>
          <a:noFill/>
          <a:ln/>
        </p:spPr>
        <p:txBody>
          <a:bodyPr wrap="square" lIns="0" tIns="0" rIns="0" bIns="0" rtlCol="0" anchor="ctr"/>
          <a:lstStyle/>
          <a:p>
            <a:pPr indent="0" marL="0">
              <a:buNone/>
            </a:pPr>
            <a:r>
              <a:rPr lang="en-US" sz="1900" dirty="0">
                <a:solidFill>
                  <a:schemeClr val="tx1"/>
                </a:solidFill>
              </a:rPr>
              <a:t>Bol ışık ve düzenli bir masa</a:t>
            </a:r>
            <a:endParaRPr lang="en-US" sz="1900" dirty="0"/>
          </a:p>
        </p:txBody>
      </p:sp>
      <p:sp>
        <p:nvSpPr>
          <p:cNvPr id="14" name="Yanında bir şişe su"/>
          <p:cNvSpPr/>
          <p:nvPr/>
        </p:nvSpPr>
        <p:spPr>
          <a:xfrm>
            <a:off x="6255868" y="2953512"/>
            <a:ext cx="5122926" cy="731520"/>
          </a:xfrm>
          <a:prstGeom prst="roundRect">
            <a:avLst>
              <a:gd name="adj" fmla="val 22500"/>
            </a:avLst>
          </a:prstGeom>
          <a:solidFill>
            <a:schemeClr val="bg2"/>
          </a:solidFill>
          <a:ln/>
        </p:spPr>
      </p:sp>
      <p:pic>
        <p:nvPicPr>
          <p:cNvPr id="15" name="Simge" descr="check">    </p:cNvPr>
          <p:cNvPicPr>
            <a:picLocks noChangeAspect="1"/>
          </p:cNvPicPr>
          <p:nvPr/>
        </p:nvPicPr>
        <p:blipFill>
          <a:blip r:embed="rId4"/>
          <a:stretch>
            <a:fillRect/>
          </a:stretch>
        </p:blipFill>
        <p:spPr>
          <a:xfrm>
            <a:off x="6530188" y="3154680"/>
            <a:ext cx="329184" cy="329184"/>
          </a:xfrm>
          <a:prstGeom prst="rect">
            <a:avLst/>
          </a:prstGeom>
        </p:spPr>
      </p:pic>
      <p:sp>
        <p:nvSpPr>
          <p:cNvPr id="16" name="Text 9"/>
          <p:cNvSpPr txBox="1"/>
          <p:nvPr/>
        </p:nvSpPr>
        <p:spPr>
          <a:xfrm>
            <a:off x="7078828" y="2953512"/>
            <a:ext cx="4117086" cy="731520"/>
          </a:xfrm>
          <a:prstGeom prst="rect">
            <a:avLst/>
          </a:prstGeom>
          <a:noFill/>
          <a:ln/>
        </p:spPr>
        <p:txBody>
          <a:bodyPr wrap="square" lIns="0" tIns="0" rIns="0" bIns="0" rtlCol="0" anchor="ctr"/>
          <a:lstStyle/>
          <a:p>
            <a:pPr indent="0" marL="0">
              <a:buNone/>
            </a:pPr>
            <a:r>
              <a:rPr lang="en-US" sz="1900" dirty="0">
                <a:solidFill>
                  <a:schemeClr val="tx1"/>
                </a:solidFill>
              </a:rPr>
              <a:t>Yanında bir şişe su</a:t>
            </a:r>
            <a:endParaRPr lang="en-US" sz="1900" dirty="0"/>
          </a:p>
        </p:txBody>
      </p:sp>
      <p:sp>
        <p:nvSpPr>
          <p:cNvPr id="17" name="Her gün aynı yer, aynı saat"/>
          <p:cNvSpPr/>
          <p:nvPr/>
        </p:nvSpPr>
        <p:spPr>
          <a:xfrm>
            <a:off x="812902" y="3849624"/>
            <a:ext cx="5122926" cy="731520"/>
          </a:xfrm>
          <a:prstGeom prst="roundRect">
            <a:avLst>
              <a:gd name="adj" fmla="val 22500"/>
            </a:avLst>
          </a:prstGeom>
          <a:solidFill>
            <a:schemeClr val="bg2"/>
          </a:solidFill>
          <a:ln/>
        </p:spPr>
      </p:sp>
      <p:pic>
        <p:nvPicPr>
          <p:cNvPr id="18" name="Simge" descr="check">    </p:cNvPr>
          <p:cNvPicPr>
            <a:picLocks noChangeAspect="1"/>
          </p:cNvPicPr>
          <p:nvPr/>
        </p:nvPicPr>
        <p:blipFill>
          <a:blip r:embed="rId5"/>
          <a:stretch>
            <a:fillRect/>
          </a:stretch>
        </p:blipFill>
        <p:spPr>
          <a:xfrm>
            <a:off x="1087222" y="4050792"/>
            <a:ext cx="329184" cy="329184"/>
          </a:xfrm>
          <a:prstGeom prst="rect">
            <a:avLst/>
          </a:prstGeom>
        </p:spPr>
      </p:pic>
      <p:sp>
        <p:nvSpPr>
          <p:cNvPr id="19" name="Text 11"/>
          <p:cNvSpPr txBox="1"/>
          <p:nvPr/>
        </p:nvSpPr>
        <p:spPr>
          <a:xfrm>
            <a:off x="1635862" y="3849624"/>
            <a:ext cx="4117086" cy="731520"/>
          </a:xfrm>
          <a:prstGeom prst="rect">
            <a:avLst/>
          </a:prstGeom>
          <a:noFill/>
          <a:ln/>
        </p:spPr>
        <p:txBody>
          <a:bodyPr wrap="square" lIns="0" tIns="0" rIns="0" bIns="0" rtlCol="0" anchor="ctr"/>
          <a:lstStyle/>
          <a:p>
            <a:pPr indent="0" marL="0">
              <a:buNone/>
            </a:pPr>
            <a:r>
              <a:rPr lang="en-US" sz="1900" dirty="0">
                <a:solidFill>
                  <a:schemeClr val="tx1"/>
                </a:solidFill>
              </a:rPr>
              <a:t>Her gün aynı yer, aynı saat</a:t>
            </a:r>
            <a:endParaRPr lang="en-US" sz="1900" dirty="0"/>
          </a:p>
        </p:txBody>
      </p:sp>
      <p:sp>
        <p:nvSpPr>
          <p:cNvPr id="20" name="Ailene çalışma saatini haber ver"/>
          <p:cNvSpPr/>
          <p:nvPr/>
        </p:nvSpPr>
        <p:spPr>
          <a:xfrm>
            <a:off x="6255868" y="3849624"/>
            <a:ext cx="5122926" cy="731520"/>
          </a:xfrm>
          <a:prstGeom prst="roundRect">
            <a:avLst>
              <a:gd name="adj" fmla="val 22500"/>
            </a:avLst>
          </a:prstGeom>
          <a:solidFill>
            <a:schemeClr val="bg2"/>
          </a:solidFill>
          <a:ln/>
        </p:spPr>
      </p:sp>
      <p:pic>
        <p:nvPicPr>
          <p:cNvPr id="21" name="Simge" descr="check">    </p:cNvPr>
          <p:cNvPicPr>
            <a:picLocks noChangeAspect="1"/>
          </p:cNvPicPr>
          <p:nvPr/>
        </p:nvPicPr>
        <p:blipFill>
          <a:blip r:embed="rId6"/>
          <a:stretch>
            <a:fillRect/>
          </a:stretch>
        </p:blipFill>
        <p:spPr>
          <a:xfrm>
            <a:off x="6530188" y="4050792"/>
            <a:ext cx="329184" cy="329184"/>
          </a:xfrm>
          <a:prstGeom prst="rect">
            <a:avLst/>
          </a:prstGeom>
        </p:spPr>
      </p:pic>
      <p:sp>
        <p:nvSpPr>
          <p:cNvPr id="22" name="Text 13"/>
          <p:cNvSpPr txBox="1"/>
          <p:nvPr/>
        </p:nvSpPr>
        <p:spPr>
          <a:xfrm>
            <a:off x="7078828" y="3849624"/>
            <a:ext cx="4117086" cy="731520"/>
          </a:xfrm>
          <a:prstGeom prst="rect">
            <a:avLst/>
          </a:prstGeom>
          <a:noFill/>
          <a:ln/>
        </p:spPr>
        <p:txBody>
          <a:bodyPr wrap="square" lIns="0" tIns="0" rIns="0" bIns="0" rtlCol="0" anchor="ctr"/>
          <a:lstStyle/>
          <a:p>
            <a:pPr indent="0" marL="0">
              <a:buNone/>
            </a:pPr>
            <a:r>
              <a:rPr lang="en-US" sz="1900" dirty="0">
                <a:solidFill>
                  <a:schemeClr val="tx1"/>
                </a:solidFill>
              </a:rPr>
              <a:t>Ailene çalışma saatini haber ver</a:t>
            </a:r>
            <a:endParaRPr lang="en-US" sz="1900" dirty="0"/>
          </a:p>
        </p:txBody>
      </p:sp>
      <p:sp>
        <p:nvSpPr>
          <p:cNvPr id="23" name="Text 14"/>
          <p:cNvSpPr txBox="1"/>
          <p:nvPr/>
        </p:nvSpPr>
        <p:spPr>
          <a:xfrm>
            <a:off x="812902" y="4892040"/>
            <a:ext cx="10565892" cy="457200"/>
          </a:xfrm>
          <a:prstGeom prst="rect">
            <a:avLst/>
          </a:prstGeom>
          <a:noFill/>
          <a:ln/>
        </p:spPr>
        <p:txBody>
          <a:bodyPr wrap="square" lIns="0" tIns="0" rIns="0" bIns="0" rtlCol="0" anchor="t"/>
          <a:lstStyle/>
          <a:p>
            <a:pPr indent="0" marL="0">
              <a:buNone/>
            </a:pPr>
            <a:r>
              <a:rPr lang="en-US" sz="1800" b="1" dirty="0">
                <a:solidFill>
                  <a:schemeClr val="tx2"/>
                </a:solidFill>
              </a:rPr>
              <a:t>İpucu: </a:t>
            </a:r>
            <a:pPr indent="0" marL="0">
              <a:buNone/>
            </a:pPr>
            <a:r>
              <a:rPr lang="en-US" sz="1800" dirty="0">
                <a:solidFill>
                  <a:schemeClr val="tx2"/>
                </a:solidFill>
              </a:rPr>
              <a:t>Çalışmaya başlamadan önce 2 dakika ayırıp masanı hazırla; sonra kalkmak zorunda kalma.</a:t>
            </a:r>
            <a:endParaRPr lang="en-US" sz="18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Century Schoolbook" pitchFamily="34" charset="0"/>
                <a:ea typeface="Century Schoolbook" pitchFamily="34" charset="-122"/>
                <a:cs typeface="Century Schoolbook" pitchFamily="34" charset="-120"/>
              </a:rPr>
              <a:t>Haftalık planını kendin yap</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PLANLAMA</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902" y="1965960"/>
          <a:ext cx="10565892" cy="914400"/>
        </p:xfrm>
        <a:graphic>
          <a:graphicData uri="http://schemas.openxmlformats.org/drawingml/2006/table">
            <a:tbl>
              <a:tblPr/>
              <a:tblGrid>
                <a:gridCol w="1691640"/>
                <a:gridCol w="2958084"/>
                <a:gridCol w="2958084"/>
                <a:gridCol w="2958998"/>
              </a:tblGrid>
              <a:tr h="384048">
                <a:tc>
                  <a:txBody>
                    <a:bodyPr/>
                    <a:lstStyle/>
                    <a:p>
                      <a:pPr indent="0" marL="0">
                        <a:buNone/>
                      </a:pPr>
                      <a:r>
                        <a:rPr lang="en-US" sz="1500" b="1" dirty="0">
                          <a:solidFill>
                            <a:schemeClr val="bg1"/>
                          </a:solidFill>
                        </a:rPr>
                        <a:t>Gün</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500" b="1" dirty="0">
                          <a:solidFill>
                            <a:schemeClr val="bg1"/>
                          </a:solidFill>
                        </a:rPr>
                        <a:t>1. oturum</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500" b="1" dirty="0">
                          <a:solidFill>
                            <a:schemeClr val="bg1"/>
                          </a:solidFill>
                        </a:rPr>
                        <a:t>2. oturum</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500" b="1" dirty="0">
                          <a:solidFill>
                            <a:schemeClr val="bg1"/>
                          </a:solidFill>
                        </a:rPr>
                        <a:t>Kısa tekrar</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tx1"/>
                    </a:solidFill>
                  </a:tcPr>
                </a:tc>
              </a:tr>
              <a:tr h="384048">
                <a:tc>
                  <a:txBody>
                    <a:bodyPr/>
                    <a:lstStyle/>
                    <a:p>
                      <a:pPr indent="0" marL="0">
                        <a:buNone/>
                      </a:pPr>
                      <a:r>
                        <a:rPr lang="en-US" sz="1500" b="1" dirty="0">
                          <a:solidFill>
                            <a:schemeClr val="tx1"/>
                          </a:solidFill>
                        </a:rPr>
                        <a:t>Pazartesi</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Matematik: konu + soru</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Türkçe: paragraf</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Fen tekrarı</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500" b="1" dirty="0">
                          <a:solidFill>
                            <a:schemeClr val="tx1"/>
                          </a:solidFill>
                        </a:rPr>
                        <a:t>Salı</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Fen Bilimleri: konu + soru</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İngilizce: kelime</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Matematik yanlışları</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r>
              <a:tr h="384048">
                <a:tc>
                  <a:txBody>
                    <a:bodyPr/>
                    <a:lstStyle/>
                    <a:p>
                      <a:pPr indent="0" marL="0">
                        <a:buNone/>
                      </a:pPr>
                      <a:r>
                        <a:rPr lang="en-US" sz="1500" b="1" dirty="0">
                          <a:solidFill>
                            <a:schemeClr val="tx1"/>
                          </a:solidFill>
                        </a:rPr>
                        <a:t>Çarşamba</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Matematik: soru</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İnkılap Tarihi: okuma</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Türkçe tekrarı</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500" b="1" dirty="0">
                          <a:solidFill>
                            <a:schemeClr val="tx1"/>
                          </a:solidFill>
                        </a:rPr>
                        <a:t>Perşembe</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Türkçe: dil bilgisi</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Din Kültürü</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Fen yanlışları</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r>
              <a:tr h="384048">
                <a:tc>
                  <a:txBody>
                    <a:bodyPr/>
                    <a:lstStyle/>
                    <a:p>
                      <a:pPr indent="0" marL="0">
                        <a:buNone/>
                      </a:pPr>
                      <a:r>
                        <a:rPr lang="en-US" sz="1500" b="1" dirty="0">
                          <a:solidFill>
                            <a:schemeClr val="tx1"/>
                          </a:solidFill>
                        </a:rPr>
                        <a:t>Cuma</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Fen Bilimleri: soru</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Matematik: soru</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Haftanın özeti</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500" b="1" dirty="0">
                          <a:solidFill>
                            <a:schemeClr val="tx1"/>
                          </a:solidFill>
                        </a:rPr>
                        <a:t>Cumartesi</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Deneme sınavı</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Deneme analizi</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Serbest</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r>
              <a:tr h="384048">
                <a:tc>
                  <a:txBody>
                    <a:bodyPr/>
                    <a:lstStyle/>
                    <a:p>
                      <a:pPr indent="0" marL="0">
                        <a:buNone/>
                      </a:pPr>
                      <a:r>
                        <a:rPr lang="en-US" sz="1500" b="1" dirty="0">
                          <a:solidFill>
                            <a:schemeClr val="tx1"/>
                          </a:solidFill>
                        </a:rPr>
                        <a:t>Pazar</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Dinlenme</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Haftalık tekrar</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Yeni haftayı planla</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Text 2"/>
          <p:cNvSpPr txBox="1"/>
          <p:nvPr/>
        </p:nvSpPr>
        <p:spPr>
          <a:xfrm>
            <a:off x="812902" y="5349240"/>
            <a:ext cx="10565892" cy="365760"/>
          </a:xfrm>
          <a:prstGeom prst="rect">
            <a:avLst/>
          </a:prstGeom>
          <a:noFill/>
          <a:ln/>
        </p:spPr>
        <p:txBody>
          <a:bodyPr wrap="square" lIns="0" tIns="0" rIns="0" bIns="0" rtlCol="0" anchor="t"/>
          <a:lstStyle/>
          <a:p>
            <a:pPr indent="0" marL="0">
              <a:buNone/>
            </a:pPr>
            <a:r>
              <a:rPr lang="en-US" sz="1500" dirty="0">
                <a:solidFill>
                  <a:schemeClr val="tx2"/>
                </a:solidFill>
              </a:rPr>
              <a:t>Bu bir örnektir. Okul saatlerine, kurslarına ve kendi hızına göre uyarla; zorlandığın derse daha çok yer ayır.</a:t>
            </a:r>
            <a:endParaRPr lang="en-US" sz="15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Century Schoolbook" pitchFamily="34" charset="0"/>
                <a:ea typeface="Century Schoolbook" pitchFamily="34" charset="-122"/>
                <a:cs typeface="Century Schoolbook" pitchFamily="34" charset="-120"/>
              </a:rPr>
              <a:t>Pomodoro tekniği</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ODAKLANMA</a:t>
            </a:r>
            <a:endParaRPr lang="en-US" sz="1400" dirty="0"/>
          </a:p>
        </p:txBody>
      </p:sp>
      <p:sp>
        <p:nvSpPr>
          <p:cNvPr id="5" name="Text 2"/>
          <p:cNvSpPr txBox="1"/>
          <p:nvPr/>
        </p:nvSpPr>
        <p:spPr>
          <a:xfrm>
            <a:off x="812902" y="1965960"/>
            <a:ext cx="10565892" cy="502920"/>
          </a:xfrm>
          <a:prstGeom prst="rect">
            <a:avLst/>
          </a:prstGeom>
          <a:noFill/>
          <a:ln/>
        </p:spPr>
        <p:txBody>
          <a:bodyPr wrap="square" lIns="0" tIns="0" rIns="0" bIns="0" rtlCol="0" anchor="t"/>
          <a:lstStyle/>
          <a:p>
            <a:pPr indent="0" marL="0">
              <a:buNone/>
            </a:pPr>
            <a:r>
              <a:rPr lang="en-US" sz="2600" dirty="0">
                <a:solidFill>
                  <a:schemeClr val="tx1"/>
                </a:solidFill>
              </a:rPr>
              <a:t>25 dakika tek işe odaklan, 5 dakika mola ver.</a:t>
            </a:r>
            <a:endParaRPr lang="en-US" sz="2600" dirty="0"/>
          </a:p>
        </p:txBody>
      </p:sp>
      <p:sp>
        <p:nvSpPr>
          <p:cNvPr id="6" name="Odak"/>
          <p:cNvSpPr/>
          <p:nvPr/>
        </p:nvSpPr>
        <p:spPr>
          <a:xfrm>
            <a:off x="812902" y="2697480"/>
            <a:ext cx="1885527" cy="640080"/>
          </a:xfrm>
          <a:prstGeom prst="roundRect">
            <a:avLst>
              <a:gd name="adj" fmla="val 25714"/>
            </a:avLst>
          </a:prstGeom>
          <a:solidFill>
            <a:schemeClr val="tx1"/>
          </a:solidFill>
          <a:ln/>
        </p:spPr>
      </p:sp>
      <p:sp>
        <p:nvSpPr>
          <p:cNvPr id="7" name="Text 4"/>
          <p:cNvSpPr txBox="1"/>
          <p:nvPr/>
        </p:nvSpPr>
        <p:spPr>
          <a:xfrm>
            <a:off x="812902" y="2697480"/>
            <a:ext cx="1885527" cy="640080"/>
          </a:xfrm>
          <a:prstGeom prst="rect">
            <a:avLst/>
          </a:prstGeom>
          <a:noFill/>
          <a:ln/>
        </p:spPr>
        <p:txBody>
          <a:bodyPr wrap="square" lIns="0" tIns="0" rIns="0" bIns="0" rtlCol="0" anchor="ctr"/>
          <a:lstStyle/>
          <a:p>
            <a:pPr algn="ctr" indent="0" marL="0">
              <a:buNone/>
            </a:pPr>
            <a:r>
              <a:rPr lang="en-US" sz="1500" b="1" dirty="0">
                <a:solidFill>
                  <a:schemeClr val="bg1"/>
                </a:solidFill>
              </a:rPr>
              <a:t>25 dk odak</a:t>
            </a:r>
            <a:endParaRPr lang="en-US" sz="1500" dirty="0"/>
          </a:p>
        </p:txBody>
      </p:sp>
      <p:sp>
        <p:nvSpPr>
          <p:cNvPr id="8" name="Mola"/>
          <p:cNvSpPr/>
          <p:nvPr/>
        </p:nvSpPr>
        <p:spPr>
          <a:xfrm>
            <a:off x="2753292" y="2697480"/>
            <a:ext cx="377105" cy="640080"/>
          </a:xfrm>
          <a:prstGeom prst="roundRect">
            <a:avLst>
              <a:gd name="adj" fmla="val 43646"/>
            </a:avLst>
          </a:prstGeom>
          <a:solidFill>
            <a:schemeClr val="accent1"/>
          </a:solidFill>
          <a:ln/>
        </p:spPr>
      </p:sp>
      <p:sp>
        <p:nvSpPr>
          <p:cNvPr id="9" name="Text 6"/>
          <p:cNvSpPr txBox="1"/>
          <p:nvPr/>
        </p:nvSpPr>
        <p:spPr>
          <a:xfrm>
            <a:off x="2753292" y="2697480"/>
            <a:ext cx="377105" cy="640080"/>
          </a:xfrm>
          <a:prstGeom prst="rect">
            <a:avLst/>
          </a:prstGeom>
          <a:noFill/>
          <a:ln/>
        </p:spPr>
        <p:txBody>
          <a:bodyPr wrap="square" lIns="0" tIns="0" rIns="0" bIns="0" rtlCol="0" anchor="ctr"/>
          <a:lstStyle/>
          <a:p>
            <a:pPr algn="ctr" indent="0" marL="0">
              <a:buNone/>
            </a:pPr>
            <a:r>
              <a:rPr lang="en-US" sz="1500" b="1" dirty="0">
                <a:solidFill>
                  <a:schemeClr val="tx1"/>
                </a:solidFill>
              </a:rPr>
              <a:t>5</a:t>
            </a:r>
            <a:endParaRPr lang="en-US" sz="1500" dirty="0"/>
          </a:p>
        </p:txBody>
      </p:sp>
      <p:sp>
        <p:nvSpPr>
          <p:cNvPr id="10" name="Odak"/>
          <p:cNvSpPr/>
          <p:nvPr/>
        </p:nvSpPr>
        <p:spPr>
          <a:xfrm>
            <a:off x="3185262" y="2697480"/>
            <a:ext cx="1885527" cy="640080"/>
          </a:xfrm>
          <a:prstGeom prst="roundRect">
            <a:avLst>
              <a:gd name="adj" fmla="val 25714"/>
            </a:avLst>
          </a:prstGeom>
          <a:solidFill>
            <a:schemeClr val="tx1"/>
          </a:solidFill>
          <a:ln/>
        </p:spPr>
      </p:sp>
      <p:sp>
        <p:nvSpPr>
          <p:cNvPr id="11" name="Text 8"/>
          <p:cNvSpPr txBox="1"/>
          <p:nvPr/>
        </p:nvSpPr>
        <p:spPr>
          <a:xfrm>
            <a:off x="3185262" y="2697480"/>
            <a:ext cx="1885527" cy="640080"/>
          </a:xfrm>
          <a:prstGeom prst="rect">
            <a:avLst/>
          </a:prstGeom>
          <a:noFill/>
          <a:ln/>
        </p:spPr>
        <p:txBody>
          <a:bodyPr wrap="square" lIns="0" tIns="0" rIns="0" bIns="0" rtlCol="0" anchor="ctr"/>
          <a:lstStyle/>
          <a:p>
            <a:pPr algn="ctr" indent="0" marL="0">
              <a:buNone/>
            </a:pPr>
            <a:r>
              <a:rPr lang="en-US" sz="1500" b="1" dirty="0">
                <a:solidFill>
                  <a:schemeClr val="bg1"/>
                </a:solidFill>
              </a:rPr>
              <a:t>25 dk odak</a:t>
            </a:r>
            <a:endParaRPr lang="en-US" sz="1500" dirty="0"/>
          </a:p>
        </p:txBody>
      </p:sp>
      <p:sp>
        <p:nvSpPr>
          <p:cNvPr id="12" name="Mola"/>
          <p:cNvSpPr/>
          <p:nvPr/>
        </p:nvSpPr>
        <p:spPr>
          <a:xfrm>
            <a:off x="5125652" y="2697480"/>
            <a:ext cx="377105" cy="640080"/>
          </a:xfrm>
          <a:prstGeom prst="roundRect">
            <a:avLst>
              <a:gd name="adj" fmla="val 43646"/>
            </a:avLst>
          </a:prstGeom>
          <a:solidFill>
            <a:schemeClr val="accent1"/>
          </a:solidFill>
          <a:ln/>
        </p:spPr>
      </p:sp>
      <p:sp>
        <p:nvSpPr>
          <p:cNvPr id="13" name="Text 10"/>
          <p:cNvSpPr txBox="1"/>
          <p:nvPr/>
        </p:nvSpPr>
        <p:spPr>
          <a:xfrm>
            <a:off x="5125652" y="2697480"/>
            <a:ext cx="377105" cy="640080"/>
          </a:xfrm>
          <a:prstGeom prst="rect">
            <a:avLst/>
          </a:prstGeom>
          <a:noFill/>
          <a:ln/>
        </p:spPr>
        <p:txBody>
          <a:bodyPr wrap="square" lIns="0" tIns="0" rIns="0" bIns="0" rtlCol="0" anchor="ctr"/>
          <a:lstStyle/>
          <a:p>
            <a:pPr algn="ctr" indent="0" marL="0">
              <a:buNone/>
            </a:pPr>
            <a:r>
              <a:rPr lang="en-US" sz="1500" b="1" dirty="0">
                <a:solidFill>
                  <a:schemeClr val="tx1"/>
                </a:solidFill>
              </a:rPr>
              <a:t>5</a:t>
            </a:r>
            <a:endParaRPr lang="en-US" sz="1500" dirty="0"/>
          </a:p>
        </p:txBody>
      </p:sp>
      <p:sp>
        <p:nvSpPr>
          <p:cNvPr id="14" name="Odak"/>
          <p:cNvSpPr/>
          <p:nvPr/>
        </p:nvSpPr>
        <p:spPr>
          <a:xfrm>
            <a:off x="5557622" y="2697480"/>
            <a:ext cx="1885527" cy="640080"/>
          </a:xfrm>
          <a:prstGeom prst="roundRect">
            <a:avLst>
              <a:gd name="adj" fmla="val 25714"/>
            </a:avLst>
          </a:prstGeom>
          <a:solidFill>
            <a:schemeClr val="tx1"/>
          </a:solidFill>
          <a:ln/>
        </p:spPr>
      </p:sp>
      <p:sp>
        <p:nvSpPr>
          <p:cNvPr id="15" name="Text 12"/>
          <p:cNvSpPr txBox="1"/>
          <p:nvPr/>
        </p:nvSpPr>
        <p:spPr>
          <a:xfrm>
            <a:off x="5557622" y="2697480"/>
            <a:ext cx="1885527" cy="640080"/>
          </a:xfrm>
          <a:prstGeom prst="rect">
            <a:avLst/>
          </a:prstGeom>
          <a:noFill/>
          <a:ln/>
        </p:spPr>
        <p:txBody>
          <a:bodyPr wrap="square" lIns="0" tIns="0" rIns="0" bIns="0" rtlCol="0" anchor="ctr"/>
          <a:lstStyle/>
          <a:p>
            <a:pPr algn="ctr" indent="0" marL="0">
              <a:buNone/>
            </a:pPr>
            <a:r>
              <a:rPr lang="en-US" sz="1500" b="1" dirty="0">
                <a:solidFill>
                  <a:schemeClr val="bg1"/>
                </a:solidFill>
              </a:rPr>
              <a:t>25 dk odak</a:t>
            </a:r>
            <a:endParaRPr lang="en-US" sz="1500" dirty="0"/>
          </a:p>
        </p:txBody>
      </p:sp>
      <p:sp>
        <p:nvSpPr>
          <p:cNvPr id="16" name="Mola"/>
          <p:cNvSpPr/>
          <p:nvPr/>
        </p:nvSpPr>
        <p:spPr>
          <a:xfrm>
            <a:off x="7498012" y="2697480"/>
            <a:ext cx="377105" cy="640080"/>
          </a:xfrm>
          <a:prstGeom prst="roundRect">
            <a:avLst>
              <a:gd name="adj" fmla="val 43646"/>
            </a:avLst>
          </a:prstGeom>
          <a:solidFill>
            <a:schemeClr val="accent1"/>
          </a:solidFill>
          <a:ln/>
        </p:spPr>
      </p:sp>
      <p:sp>
        <p:nvSpPr>
          <p:cNvPr id="17" name="Text 14"/>
          <p:cNvSpPr txBox="1"/>
          <p:nvPr/>
        </p:nvSpPr>
        <p:spPr>
          <a:xfrm>
            <a:off x="7498012" y="2697480"/>
            <a:ext cx="377105" cy="640080"/>
          </a:xfrm>
          <a:prstGeom prst="rect">
            <a:avLst/>
          </a:prstGeom>
          <a:noFill/>
          <a:ln/>
        </p:spPr>
        <p:txBody>
          <a:bodyPr wrap="square" lIns="0" tIns="0" rIns="0" bIns="0" rtlCol="0" anchor="ctr"/>
          <a:lstStyle/>
          <a:p>
            <a:pPr algn="ctr" indent="0" marL="0">
              <a:buNone/>
            </a:pPr>
            <a:r>
              <a:rPr lang="en-US" sz="1500" b="1" dirty="0">
                <a:solidFill>
                  <a:schemeClr val="tx1"/>
                </a:solidFill>
              </a:rPr>
              <a:t>5</a:t>
            </a:r>
            <a:endParaRPr lang="en-US" sz="1500" dirty="0"/>
          </a:p>
        </p:txBody>
      </p:sp>
      <p:sp>
        <p:nvSpPr>
          <p:cNvPr id="18" name="Odak"/>
          <p:cNvSpPr/>
          <p:nvPr/>
        </p:nvSpPr>
        <p:spPr>
          <a:xfrm>
            <a:off x="7929982" y="2697480"/>
            <a:ext cx="1885527" cy="640080"/>
          </a:xfrm>
          <a:prstGeom prst="roundRect">
            <a:avLst>
              <a:gd name="adj" fmla="val 25714"/>
            </a:avLst>
          </a:prstGeom>
          <a:solidFill>
            <a:schemeClr val="tx1"/>
          </a:solidFill>
          <a:ln/>
        </p:spPr>
      </p:sp>
      <p:sp>
        <p:nvSpPr>
          <p:cNvPr id="19" name="Text 16"/>
          <p:cNvSpPr txBox="1"/>
          <p:nvPr/>
        </p:nvSpPr>
        <p:spPr>
          <a:xfrm>
            <a:off x="7929982" y="2697480"/>
            <a:ext cx="1885527" cy="640080"/>
          </a:xfrm>
          <a:prstGeom prst="rect">
            <a:avLst/>
          </a:prstGeom>
          <a:noFill/>
          <a:ln/>
        </p:spPr>
        <p:txBody>
          <a:bodyPr wrap="square" lIns="0" tIns="0" rIns="0" bIns="0" rtlCol="0" anchor="ctr"/>
          <a:lstStyle/>
          <a:p>
            <a:pPr algn="ctr" indent="0" marL="0">
              <a:buNone/>
            </a:pPr>
            <a:r>
              <a:rPr lang="en-US" sz="1500" b="1" dirty="0">
                <a:solidFill>
                  <a:schemeClr val="bg1"/>
                </a:solidFill>
              </a:rPr>
              <a:t>25 dk odak</a:t>
            </a:r>
            <a:endParaRPr lang="en-US" sz="1500" dirty="0"/>
          </a:p>
        </p:txBody>
      </p:sp>
      <p:sp>
        <p:nvSpPr>
          <p:cNvPr id="20" name="Mola"/>
          <p:cNvSpPr/>
          <p:nvPr/>
        </p:nvSpPr>
        <p:spPr>
          <a:xfrm>
            <a:off x="9870372" y="2697480"/>
            <a:ext cx="1508421" cy="640080"/>
          </a:xfrm>
          <a:prstGeom prst="roundRect">
            <a:avLst>
              <a:gd name="adj" fmla="val 25714"/>
            </a:avLst>
          </a:prstGeom>
          <a:solidFill>
            <a:schemeClr val="accent1"/>
          </a:solidFill>
          <a:ln/>
        </p:spPr>
      </p:sp>
      <p:sp>
        <p:nvSpPr>
          <p:cNvPr id="21" name="Text 18"/>
          <p:cNvSpPr txBox="1"/>
          <p:nvPr/>
        </p:nvSpPr>
        <p:spPr>
          <a:xfrm>
            <a:off x="9870372" y="2697480"/>
            <a:ext cx="1508421" cy="640080"/>
          </a:xfrm>
          <a:prstGeom prst="rect">
            <a:avLst/>
          </a:prstGeom>
          <a:noFill/>
          <a:ln/>
        </p:spPr>
        <p:txBody>
          <a:bodyPr wrap="square" lIns="0" tIns="0" rIns="0" bIns="0" rtlCol="0" anchor="ctr"/>
          <a:lstStyle/>
          <a:p>
            <a:pPr algn="ctr" indent="0" marL="0">
              <a:buNone/>
            </a:pPr>
            <a:r>
              <a:rPr lang="en-US" sz="1500" b="1" dirty="0">
                <a:solidFill>
                  <a:schemeClr val="tx1"/>
                </a:solidFill>
              </a:rPr>
              <a:t>Uzun mola</a:t>
            </a:r>
            <a:endParaRPr lang="en-US" sz="1500" dirty="0"/>
          </a:p>
        </p:txBody>
      </p:sp>
      <p:sp>
        <p:nvSpPr>
          <p:cNvPr id="22" name="Text 19"/>
          <p:cNvSpPr txBox="1"/>
          <p:nvPr/>
        </p:nvSpPr>
        <p:spPr>
          <a:xfrm>
            <a:off x="812902" y="3456432"/>
            <a:ext cx="10565892" cy="320040"/>
          </a:xfrm>
          <a:prstGeom prst="rect">
            <a:avLst/>
          </a:prstGeom>
          <a:noFill/>
          <a:ln/>
        </p:spPr>
        <p:txBody>
          <a:bodyPr wrap="square" lIns="0" tIns="0" rIns="0" bIns="0" rtlCol="0" anchor="t"/>
          <a:lstStyle/>
          <a:p>
            <a:pPr indent="0" marL="0">
              <a:buNone/>
            </a:pPr>
            <a:r>
              <a:rPr lang="en-US" sz="1500" dirty="0">
                <a:solidFill>
                  <a:schemeClr val="tx2"/>
                </a:solidFill>
              </a:rPr>
              <a:t>Sarı kutular mola: kısa molalar 5 dakika, 4 turdan sonraki uzun mola 15–30 dakika.</a:t>
            </a:r>
            <a:endParaRPr lang="en-US" sz="1500" dirty="0"/>
          </a:p>
        </p:txBody>
      </p:sp>
      <p:sp>
        <p:nvSpPr>
          <p:cNvPr id="23" name="Tek görev"/>
          <p:cNvSpPr/>
          <p:nvPr/>
        </p:nvSpPr>
        <p:spPr>
          <a:xfrm>
            <a:off x="812902" y="4023360"/>
            <a:ext cx="3320796" cy="1691640"/>
          </a:xfrm>
          <a:prstGeom prst="roundRect">
            <a:avLst>
              <a:gd name="adj" fmla="val 9730"/>
            </a:avLst>
          </a:prstGeom>
          <a:solidFill>
            <a:schemeClr val="bg2"/>
          </a:solidFill>
          <a:ln/>
        </p:spPr>
      </p:sp>
      <p:sp>
        <p:nvSpPr>
          <p:cNvPr id="24" name="Text 21"/>
          <p:cNvSpPr txBox="1"/>
          <p:nvPr/>
        </p:nvSpPr>
        <p:spPr>
          <a:xfrm>
            <a:off x="1087222" y="4224528"/>
            <a:ext cx="2772156" cy="384048"/>
          </a:xfrm>
          <a:prstGeom prst="rect">
            <a:avLst/>
          </a:prstGeom>
          <a:noFill/>
          <a:ln/>
        </p:spPr>
        <p:txBody>
          <a:bodyPr wrap="square" lIns="0" tIns="0" rIns="0" bIns="0" rtlCol="0" anchor="t"/>
          <a:lstStyle/>
          <a:p>
            <a:pPr indent="0" marL="0">
              <a:buNone/>
            </a:pPr>
            <a:r>
              <a:rPr lang="en-US" sz="1900" b="1" dirty="0">
                <a:solidFill>
                  <a:schemeClr val="tx1"/>
                </a:solidFill>
                <a:latin typeface="Century Schoolbook" pitchFamily="34" charset="0"/>
                <a:ea typeface="Century Schoolbook" pitchFamily="34" charset="-122"/>
                <a:cs typeface="Century Schoolbook" pitchFamily="34" charset="-120"/>
              </a:rPr>
              <a:t>Tek görev</a:t>
            </a:r>
            <a:endParaRPr lang="en-US" sz="1900" dirty="0"/>
          </a:p>
        </p:txBody>
      </p:sp>
      <p:sp>
        <p:nvSpPr>
          <p:cNvPr id="25" name="Text 22"/>
          <p:cNvSpPr txBox="1"/>
          <p:nvPr/>
        </p:nvSpPr>
        <p:spPr>
          <a:xfrm>
            <a:off x="1087222" y="4681728"/>
            <a:ext cx="2772156" cy="868680"/>
          </a:xfrm>
          <a:prstGeom prst="rect">
            <a:avLst/>
          </a:prstGeom>
          <a:noFill/>
          <a:ln/>
        </p:spPr>
        <p:txBody>
          <a:bodyPr wrap="square" lIns="0" tIns="0" rIns="0" bIns="0" rtlCol="0" anchor="t"/>
          <a:lstStyle/>
          <a:p>
            <a:pPr indent="0" marL="0">
              <a:buNone/>
            </a:pPr>
            <a:r>
              <a:rPr lang="en-US" sz="1500" dirty="0">
                <a:solidFill>
                  <a:schemeClr val="tx2"/>
                </a:solidFill>
              </a:rPr>
              <a:t>Her tura tek bir iş ver: “Fen, 15 soru” gibi.</a:t>
            </a:r>
            <a:endParaRPr lang="en-US" sz="1500" dirty="0"/>
          </a:p>
        </p:txBody>
      </p:sp>
      <p:sp>
        <p:nvSpPr>
          <p:cNvPr id="26" name="Gerçek mola"/>
          <p:cNvSpPr/>
          <p:nvPr/>
        </p:nvSpPr>
        <p:spPr>
          <a:xfrm>
            <a:off x="4435450" y="4023360"/>
            <a:ext cx="3320796" cy="1691640"/>
          </a:xfrm>
          <a:prstGeom prst="roundRect">
            <a:avLst>
              <a:gd name="adj" fmla="val 9730"/>
            </a:avLst>
          </a:prstGeom>
          <a:solidFill>
            <a:schemeClr val="bg2"/>
          </a:solidFill>
          <a:ln/>
        </p:spPr>
      </p:sp>
      <p:sp>
        <p:nvSpPr>
          <p:cNvPr id="27" name="Text 24"/>
          <p:cNvSpPr txBox="1"/>
          <p:nvPr/>
        </p:nvSpPr>
        <p:spPr>
          <a:xfrm>
            <a:off x="4709770" y="4224528"/>
            <a:ext cx="2772156" cy="384048"/>
          </a:xfrm>
          <a:prstGeom prst="rect">
            <a:avLst/>
          </a:prstGeom>
          <a:noFill/>
          <a:ln/>
        </p:spPr>
        <p:txBody>
          <a:bodyPr wrap="square" lIns="0" tIns="0" rIns="0" bIns="0" rtlCol="0" anchor="t"/>
          <a:lstStyle/>
          <a:p>
            <a:pPr indent="0" marL="0">
              <a:buNone/>
            </a:pPr>
            <a:r>
              <a:rPr lang="en-US" sz="1900" b="1" dirty="0">
                <a:solidFill>
                  <a:schemeClr val="tx1"/>
                </a:solidFill>
                <a:latin typeface="Century Schoolbook" pitchFamily="34" charset="0"/>
                <a:ea typeface="Century Schoolbook" pitchFamily="34" charset="-122"/>
                <a:cs typeface="Century Schoolbook" pitchFamily="34" charset="-120"/>
              </a:rPr>
              <a:t>Gerçek mola</a:t>
            </a:r>
            <a:endParaRPr lang="en-US" sz="1900" dirty="0"/>
          </a:p>
        </p:txBody>
      </p:sp>
      <p:sp>
        <p:nvSpPr>
          <p:cNvPr id="28" name="Text 25"/>
          <p:cNvSpPr txBox="1"/>
          <p:nvPr/>
        </p:nvSpPr>
        <p:spPr>
          <a:xfrm>
            <a:off x="4709770" y="4681728"/>
            <a:ext cx="2772156" cy="868680"/>
          </a:xfrm>
          <a:prstGeom prst="rect">
            <a:avLst/>
          </a:prstGeom>
          <a:noFill/>
          <a:ln/>
        </p:spPr>
        <p:txBody>
          <a:bodyPr wrap="square" lIns="0" tIns="0" rIns="0" bIns="0" rtlCol="0" anchor="t"/>
          <a:lstStyle/>
          <a:p>
            <a:pPr indent="0" marL="0">
              <a:buNone/>
            </a:pPr>
            <a:r>
              <a:rPr lang="en-US" sz="1500" dirty="0">
                <a:solidFill>
                  <a:schemeClr val="tx2"/>
                </a:solidFill>
              </a:rPr>
              <a:t>Molada ekrana bakma; kalk, su iç, biraz yürü.</a:t>
            </a:r>
            <a:endParaRPr lang="en-US" sz="1500" dirty="0"/>
          </a:p>
        </p:txBody>
      </p:sp>
      <p:sp>
        <p:nvSpPr>
          <p:cNvPr id="29" name="Not al, devam et"/>
          <p:cNvSpPr/>
          <p:nvPr/>
        </p:nvSpPr>
        <p:spPr>
          <a:xfrm>
            <a:off x="8057998" y="4023360"/>
            <a:ext cx="3320796" cy="1691640"/>
          </a:xfrm>
          <a:prstGeom prst="roundRect">
            <a:avLst>
              <a:gd name="adj" fmla="val 9730"/>
            </a:avLst>
          </a:prstGeom>
          <a:solidFill>
            <a:schemeClr val="bg2"/>
          </a:solidFill>
          <a:ln/>
        </p:spPr>
      </p:sp>
      <p:sp>
        <p:nvSpPr>
          <p:cNvPr id="30" name="Text 27"/>
          <p:cNvSpPr txBox="1"/>
          <p:nvPr/>
        </p:nvSpPr>
        <p:spPr>
          <a:xfrm>
            <a:off x="8332318" y="4224528"/>
            <a:ext cx="2772156" cy="384048"/>
          </a:xfrm>
          <a:prstGeom prst="rect">
            <a:avLst/>
          </a:prstGeom>
          <a:noFill/>
          <a:ln/>
        </p:spPr>
        <p:txBody>
          <a:bodyPr wrap="square" lIns="0" tIns="0" rIns="0" bIns="0" rtlCol="0" anchor="t"/>
          <a:lstStyle/>
          <a:p>
            <a:pPr indent="0" marL="0">
              <a:buNone/>
            </a:pPr>
            <a:r>
              <a:rPr lang="en-US" sz="1900" b="1" dirty="0">
                <a:solidFill>
                  <a:schemeClr val="tx1"/>
                </a:solidFill>
                <a:latin typeface="Century Schoolbook" pitchFamily="34" charset="0"/>
                <a:ea typeface="Century Schoolbook" pitchFamily="34" charset="-122"/>
                <a:cs typeface="Century Schoolbook" pitchFamily="34" charset="-120"/>
              </a:rPr>
              <a:t>Not al, devam et</a:t>
            </a:r>
            <a:endParaRPr lang="en-US" sz="1900" dirty="0"/>
          </a:p>
        </p:txBody>
      </p:sp>
      <p:sp>
        <p:nvSpPr>
          <p:cNvPr id="31" name="Text 28"/>
          <p:cNvSpPr txBox="1"/>
          <p:nvPr/>
        </p:nvSpPr>
        <p:spPr>
          <a:xfrm>
            <a:off x="8332318" y="4681728"/>
            <a:ext cx="2772156" cy="868680"/>
          </a:xfrm>
          <a:prstGeom prst="rect">
            <a:avLst/>
          </a:prstGeom>
          <a:noFill/>
          <a:ln/>
        </p:spPr>
        <p:txBody>
          <a:bodyPr wrap="square" lIns="0" tIns="0" rIns="0" bIns="0" rtlCol="0" anchor="t"/>
          <a:lstStyle/>
          <a:p>
            <a:pPr indent="0" marL="0">
              <a:buNone/>
            </a:pPr>
            <a:r>
              <a:rPr lang="en-US" sz="1500" dirty="0">
                <a:solidFill>
                  <a:schemeClr val="tx2"/>
                </a:solidFill>
              </a:rPr>
              <a:t>Aklına başka bir şey gelirse kâğıda yaz, sonra işine dön.</a:t>
            </a:r>
            <a:endParaRPr lang="en-US" sz="15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Century Schoolbook" pitchFamily="34" charset="0"/>
                <a:ea typeface="Century Schoolbook" pitchFamily="34" charset="-122"/>
                <a:cs typeface="Century Schoolbook" pitchFamily="34" charset="-120"/>
              </a:rPr>
              <a:t>Okumak yetmez: kendini test et</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AKTİF HATIRLAMA</a:t>
            </a:r>
            <a:endParaRPr lang="en-US" sz="1400" dirty="0"/>
          </a:p>
        </p:txBody>
      </p:sp>
      <p:sp>
        <p:nvSpPr>
          <p:cNvPr id="5" name="Text 2"/>
          <p:cNvSpPr txBox="1"/>
          <p:nvPr/>
        </p:nvSpPr>
        <p:spPr>
          <a:xfrm>
            <a:off x="812902" y="1965960"/>
            <a:ext cx="10565892" cy="685800"/>
          </a:xfrm>
          <a:prstGeom prst="rect">
            <a:avLst/>
          </a:prstGeom>
          <a:noFill/>
          <a:ln/>
        </p:spPr>
        <p:txBody>
          <a:bodyPr wrap="square" lIns="0" tIns="0" rIns="0" bIns="0" rtlCol="0" anchor="t"/>
          <a:lstStyle/>
          <a:p>
            <a:pPr indent="0" marL="0">
              <a:buNone/>
            </a:pPr>
            <a:r>
              <a:rPr lang="en-US" sz="1800" dirty="0">
                <a:solidFill>
                  <a:schemeClr val="tx2"/>
                </a:solidFill>
              </a:rPr>
              <a:t>Araştırmalar, kendini test etmenin konuyu tekrar tekrar okumaktan daha kalıcı öğrenme sağladığını gösteriyor.</a:t>
            </a:r>
            <a:endParaRPr lang="en-US" sz="1800" dirty="0"/>
          </a:p>
        </p:txBody>
      </p:sp>
      <p:sp>
        <p:nvSpPr>
          <p:cNvPr id="6" name="Daha az etkili"/>
          <p:cNvSpPr/>
          <p:nvPr/>
        </p:nvSpPr>
        <p:spPr>
          <a:xfrm>
            <a:off x="812902" y="2834640"/>
            <a:ext cx="5122926" cy="2743200"/>
          </a:xfrm>
          <a:prstGeom prst="roundRect">
            <a:avLst>
              <a:gd name="adj" fmla="val 6000"/>
            </a:avLst>
          </a:prstGeom>
          <a:solidFill>
            <a:schemeClr val="bg1"/>
          </a:solidFill>
          <a:ln/>
        </p:spPr>
      </p:sp>
      <p:sp>
        <p:nvSpPr>
          <p:cNvPr id="7" name="Text 4"/>
          <p:cNvSpPr txBox="1"/>
          <p:nvPr/>
        </p:nvSpPr>
        <p:spPr>
          <a:xfrm>
            <a:off x="1178662" y="3108960"/>
            <a:ext cx="4391406" cy="502920"/>
          </a:xfrm>
          <a:prstGeom prst="rect">
            <a:avLst/>
          </a:prstGeom>
          <a:noFill/>
          <a:ln/>
        </p:spPr>
        <p:txBody>
          <a:bodyPr wrap="square" lIns="0" tIns="0" rIns="0" bIns="0" rtlCol="0" anchor="t"/>
          <a:lstStyle/>
          <a:p>
            <a:pPr indent="0" marL="0">
              <a:buNone/>
            </a:pPr>
            <a:r>
              <a:rPr lang="en-US" sz="2600" b="1" dirty="0">
                <a:solidFill>
                  <a:schemeClr val="tx1"/>
                </a:solidFill>
                <a:latin typeface="Century Schoolbook" pitchFamily="34" charset="0"/>
                <a:ea typeface="Century Schoolbook" pitchFamily="34" charset="-122"/>
                <a:cs typeface="Century Schoolbook" pitchFamily="34" charset="-120"/>
              </a:rPr>
              <a:t>Daha az etkili</a:t>
            </a:r>
            <a:endParaRPr lang="en-US" sz="2600" dirty="0"/>
          </a:p>
        </p:txBody>
      </p:sp>
      <p:sp>
        <p:nvSpPr>
          <p:cNvPr id="8" name="Text 5"/>
          <p:cNvSpPr txBox="1"/>
          <p:nvPr/>
        </p:nvSpPr>
        <p:spPr>
          <a:xfrm>
            <a:off x="1178662" y="3794760"/>
            <a:ext cx="4391406" cy="1554480"/>
          </a:xfrm>
          <a:prstGeom prst="rect">
            <a:avLst/>
          </a:prstGeom>
          <a:noFill/>
          <a:ln/>
        </p:spPr>
        <p:txBody>
          <a:bodyPr wrap="square" lIns="0" tIns="0" rIns="0" bIns="0" rtlCol="0" anchor="t"/>
          <a:lstStyle/>
          <a:p>
            <a:pPr marL="342900" indent="-342900">
              <a:spcAft>
                <a:spcPts val="800"/>
              </a:spcAft>
              <a:buSzPct val="100000"/>
              <a:buChar char="•"/>
            </a:pPr>
            <a:r>
              <a:rPr lang="en-US" sz="1900" dirty="0">
                <a:solidFill>
                  <a:schemeClr val="tx2"/>
                </a:solidFill>
              </a:rPr>
              <a:t>Konuyu defalarca okumak</a:t>
            </a:r>
            <a:endParaRPr lang="en-US" sz="1900" dirty="0"/>
          </a:p>
          <a:p>
            <a:pPr marL="342900" indent="-342900">
              <a:spcAft>
                <a:spcPts val="800"/>
              </a:spcAft>
              <a:buSzPct val="100000"/>
              <a:buChar char="•"/>
            </a:pPr>
            <a:r>
              <a:rPr lang="en-US" sz="1900" dirty="0">
                <a:solidFill>
                  <a:schemeClr val="tx2"/>
                </a:solidFill>
              </a:rPr>
              <a:t>Her satırın altını çizmek</a:t>
            </a:r>
            <a:endParaRPr lang="en-US" sz="1900" dirty="0"/>
          </a:p>
          <a:p>
            <a:pPr marL="342900" indent="-342900">
              <a:spcAft>
                <a:spcPts val="800"/>
              </a:spcAft>
              <a:buSzPct val="100000"/>
              <a:buChar char="•"/>
            </a:pPr>
            <a:r>
              <a:rPr lang="en-US" sz="1900" dirty="0">
                <a:solidFill>
                  <a:schemeClr val="tx2"/>
                </a:solidFill>
              </a:rPr>
              <a:t>Çözümlü örneklere sadece bakmak</a:t>
            </a:r>
            <a:endParaRPr lang="en-US" sz="1900" dirty="0"/>
          </a:p>
        </p:txBody>
      </p:sp>
      <p:sp>
        <p:nvSpPr>
          <p:cNvPr id="9" name="Daha etkili"/>
          <p:cNvSpPr/>
          <p:nvPr/>
        </p:nvSpPr>
        <p:spPr>
          <a:xfrm>
            <a:off x="6255868" y="2834640"/>
            <a:ext cx="5122926" cy="2743200"/>
          </a:xfrm>
          <a:prstGeom prst="roundRect">
            <a:avLst>
              <a:gd name="adj" fmla="val 6000"/>
            </a:avLst>
          </a:prstGeom>
          <a:solidFill>
            <a:schemeClr val="tx1"/>
          </a:solidFill>
          <a:ln/>
        </p:spPr>
      </p:sp>
      <p:sp>
        <p:nvSpPr>
          <p:cNvPr id="10" name="Text 7"/>
          <p:cNvSpPr txBox="1"/>
          <p:nvPr/>
        </p:nvSpPr>
        <p:spPr>
          <a:xfrm>
            <a:off x="6621628" y="3108960"/>
            <a:ext cx="4391406" cy="502920"/>
          </a:xfrm>
          <a:prstGeom prst="rect">
            <a:avLst/>
          </a:prstGeom>
          <a:noFill/>
          <a:ln/>
        </p:spPr>
        <p:txBody>
          <a:bodyPr wrap="square" lIns="0" tIns="0" rIns="0" bIns="0" rtlCol="0" anchor="t"/>
          <a:lstStyle/>
          <a:p>
            <a:pPr indent="0" marL="0">
              <a:buNone/>
            </a:pPr>
            <a:r>
              <a:rPr lang="en-US" sz="2600" b="1" dirty="0">
                <a:solidFill>
                  <a:schemeClr val="accent1"/>
                </a:solidFill>
                <a:latin typeface="Century Schoolbook" pitchFamily="34" charset="0"/>
                <a:ea typeface="Century Schoolbook" pitchFamily="34" charset="-122"/>
                <a:cs typeface="Century Schoolbook" pitchFamily="34" charset="-120"/>
              </a:rPr>
              <a:t>Daha etkili</a:t>
            </a:r>
            <a:endParaRPr lang="en-US" sz="2600" dirty="0"/>
          </a:p>
        </p:txBody>
      </p:sp>
      <p:sp>
        <p:nvSpPr>
          <p:cNvPr id="11" name="Text 8"/>
          <p:cNvSpPr txBox="1"/>
          <p:nvPr/>
        </p:nvSpPr>
        <p:spPr>
          <a:xfrm>
            <a:off x="6621628" y="3794760"/>
            <a:ext cx="4391406" cy="1554480"/>
          </a:xfrm>
          <a:prstGeom prst="rect">
            <a:avLst/>
          </a:prstGeom>
          <a:noFill/>
          <a:ln/>
        </p:spPr>
        <p:txBody>
          <a:bodyPr wrap="square" lIns="0" tIns="0" rIns="0" bIns="0" rtlCol="0" anchor="t"/>
          <a:lstStyle/>
          <a:p>
            <a:pPr marL="342900" indent="-342900">
              <a:spcAft>
                <a:spcPts val="800"/>
              </a:spcAft>
              <a:buSzPct val="100000"/>
              <a:buChar char="•"/>
            </a:pPr>
            <a:r>
              <a:rPr lang="en-US" sz="1900" dirty="0">
                <a:solidFill>
                  <a:schemeClr val="bg1"/>
                </a:solidFill>
              </a:rPr>
              <a:t>Kitabı kapat, hatırladığını yaz</a:t>
            </a:r>
            <a:endParaRPr lang="en-US" sz="1900" dirty="0"/>
          </a:p>
          <a:p>
            <a:pPr marL="342900" indent="-342900">
              <a:spcAft>
                <a:spcPts val="800"/>
              </a:spcAft>
              <a:buSzPct val="100000"/>
              <a:buChar char="•"/>
            </a:pPr>
            <a:r>
              <a:rPr lang="en-US" sz="1900" dirty="0">
                <a:solidFill>
                  <a:schemeClr val="bg1"/>
                </a:solidFill>
              </a:rPr>
              <a:t>Kendine soru sor ve cevapla</a:t>
            </a:r>
            <a:endParaRPr lang="en-US" sz="1900" dirty="0"/>
          </a:p>
          <a:p>
            <a:pPr marL="342900" indent="-342900">
              <a:spcAft>
                <a:spcPts val="800"/>
              </a:spcAft>
              <a:buSzPct val="100000"/>
              <a:buChar char="•"/>
            </a:pPr>
            <a:r>
              <a:rPr lang="en-US" sz="1900" dirty="0">
                <a:solidFill>
                  <a:schemeClr val="bg1"/>
                </a:solidFill>
              </a:rPr>
              <a:t>Önce çöz, sonra çözüme bak</a:t>
            </a:r>
            <a:endParaRPr lang="en-US" sz="19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Century Schoolbook" pitchFamily="34" charset="0"/>
                <a:ea typeface="Century Schoolbook" pitchFamily="34" charset="-122"/>
                <a:cs typeface="Century Schoolbook" pitchFamily="34" charset="-120"/>
              </a:rPr>
              <a:t>Unutmadan önce tekrar et</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ARALIKLI TEKRAR</a:t>
            </a:r>
            <a:endParaRPr lang="en-US" sz="1400" dirty="0"/>
          </a:p>
        </p:txBody>
      </p:sp>
      <p:sp>
        <p:nvSpPr>
          <p:cNvPr id="5" name="Zaman çizgisi"/>
          <p:cNvSpPr/>
          <p:nvPr/>
        </p:nvSpPr>
        <p:spPr>
          <a:xfrm>
            <a:off x="1869491" y="2423160"/>
            <a:ext cx="8452714" cy="0"/>
          </a:xfrm>
          <a:prstGeom prst="line">
            <a:avLst/>
          </a:prstGeom>
          <a:noFill/>
          <a:ln w="31750">
            <a:solidFill>
              <a:schemeClr val="tx1"/>
            </a:solidFill>
            <a:prstDash val="solid"/>
          </a:ln>
        </p:spPr>
      </p:sp>
      <p:sp>
        <p:nvSpPr>
          <p:cNvPr id="6" name="Adım 1"/>
          <p:cNvSpPr/>
          <p:nvPr/>
        </p:nvSpPr>
        <p:spPr>
          <a:xfrm>
            <a:off x="1503731" y="2057400"/>
            <a:ext cx="731520" cy="731520"/>
          </a:xfrm>
          <a:prstGeom prst="ellipse">
            <a:avLst/>
          </a:prstGeom>
          <a:solidFill>
            <a:schemeClr val="accent1"/>
          </a:solidFill>
          <a:ln/>
        </p:spPr>
      </p:sp>
      <p:sp>
        <p:nvSpPr>
          <p:cNvPr id="7" name="Text 4"/>
          <p:cNvSpPr txBox="1"/>
          <p:nvPr/>
        </p:nvSpPr>
        <p:spPr>
          <a:xfrm>
            <a:off x="1503731" y="2057400"/>
            <a:ext cx="731520" cy="731520"/>
          </a:xfrm>
          <a:prstGeom prst="rect">
            <a:avLst/>
          </a:prstGeom>
          <a:noFill/>
          <a:ln/>
        </p:spPr>
        <p:txBody>
          <a:bodyPr wrap="square" lIns="0" tIns="0" rIns="0" bIns="0" rtlCol="0" anchor="ctr"/>
          <a:lstStyle/>
          <a:p>
            <a:pPr algn="ctr" indent="0" marL="0">
              <a:buNone/>
            </a:pPr>
            <a:r>
              <a:rPr lang="en-US" sz="2400" b="1" dirty="0">
                <a:solidFill>
                  <a:schemeClr val="tx1"/>
                </a:solidFill>
                <a:latin typeface="Century Schoolbook" pitchFamily="34" charset="0"/>
                <a:ea typeface="Century Schoolbook" pitchFamily="34" charset="-122"/>
                <a:cs typeface="Century Schoolbook" pitchFamily="34" charset="-120"/>
              </a:rPr>
              <a:t>1</a:t>
            </a:r>
            <a:endParaRPr lang="en-US" sz="2400" dirty="0"/>
          </a:p>
        </p:txBody>
      </p:sp>
      <p:sp>
        <p:nvSpPr>
          <p:cNvPr id="8" name="Text 5"/>
          <p:cNvSpPr txBox="1"/>
          <p:nvPr/>
        </p:nvSpPr>
        <p:spPr>
          <a:xfrm>
            <a:off x="904342" y="2971800"/>
            <a:ext cx="1930298" cy="384048"/>
          </a:xfrm>
          <a:prstGeom prst="rect">
            <a:avLst/>
          </a:prstGeom>
          <a:noFill/>
          <a:ln/>
        </p:spPr>
        <p:txBody>
          <a:bodyPr wrap="square" lIns="0" tIns="0" rIns="0" bIns="0" rtlCol="0" anchor="t"/>
          <a:lstStyle/>
          <a:p>
            <a:pPr algn="ctr" indent="0" marL="0">
              <a:buNone/>
            </a:pPr>
            <a:r>
              <a:rPr lang="en-US" sz="1900" b="1" dirty="0">
                <a:solidFill>
                  <a:schemeClr val="tx1"/>
                </a:solidFill>
                <a:latin typeface="Century Schoolbook" pitchFamily="34" charset="0"/>
                <a:ea typeface="Century Schoolbook" pitchFamily="34" charset="-122"/>
                <a:cs typeface="Century Schoolbook" pitchFamily="34" charset="-120"/>
              </a:rPr>
              <a:t>Bugün</a:t>
            </a:r>
            <a:endParaRPr lang="en-US" sz="1900" dirty="0"/>
          </a:p>
        </p:txBody>
      </p:sp>
      <p:sp>
        <p:nvSpPr>
          <p:cNvPr id="9" name="Text 6"/>
          <p:cNvSpPr txBox="1"/>
          <p:nvPr/>
        </p:nvSpPr>
        <p:spPr>
          <a:xfrm>
            <a:off x="950062" y="3401568"/>
            <a:ext cx="1838858" cy="777240"/>
          </a:xfrm>
          <a:prstGeom prst="rect">
            <a:avLst/>
          </a:prstGeom>
          <a:noFill/>
          <a:ln/>
        </p:spPr>
        <p:txBody>
          <a:bodyPr wrap="square" lIns="0" tIns="0" rIns="0" bIns="0" rtlCol="0" anchor="t"/>
          <a:lstStyle/>
          <a:p>
            <a:pPr algn="ctr" indent="0" marL="0">
              <a:buNone/>
            </a:pPr>
            <a:r>
              <a:rPr lang="en-US" sz="1500" dirty="0">
                <a:solidFill>
                  <a:schemeClr val="tx2"/>
                </a:solidFill>
              </a:rPr>
              <a:t>Konuyu öğren, özetini çıkar.</a:t>
            </a:r>
            <a:endParaRPr lang="en-US" sz="1500" dirty="0"/>
          </a:p>
        </p:txBody>
      </p:sp>
      <p:sp>
        <p:nvSpPr>
          <p:cNvPr id="10" name="Adım 2"/>
          <p:cNvSpPr/>
          <p:nvPr/>
        </p:nvSpPr>
        <p:spPr>
          <a:xfrm>
            <a:off x="3616909" y="2057400"/>
            <a:ext cx="731520" cy="731520"/>
          </a:xfrm>
          <a:prstGeom prst="ellipse">
            <a:avLst/>
          </a:prstGeom>
          <a:solidFill>
            <a:schemeClr val="accent1"/>
          </a:solidFill>
          <a:ln/>
        </p:spPr>
      </p:sp>
      <p:sp>
        <p:nvSpPr>
          <p:cNvPr id="11" name="Text 8"/>
          <p:cNvSpPr txBox="1"/>
          <p:nvPr/>
        </p:nvSpPr>
        <p:spPr>
          <a:xfrm>
            <a:off x="3616909" y="2057400"/>
            <a:ext cx="731520" cy="731520"/>
          </a:xfrm>
          <a:prstGeom prst="rect">
            <a:avLst/>
          </a:prstGeom>
          <a:noFill/>
          <a:ln/>
        </p:spPr>
        <p:txBody>
          <a:bodyPr wrap="square" lIns="0" tIns="0" rIns="0" bIns="0" rtlCol="0" anchor="ctr"/>
          <a:lstStyle/>
          <a:p>
            <a:pPr algn="ctr" indent="0" marL="0">
              <a:buNone/>
            </a:pPr>
            <a:r>
              <a:rPr lang="en-US" sz="2400" b="1" dirty="0">
                <a:solidFill>
                  <a:schemeClr val="tx1"/>
                </a:solidFill>
                <a:latin typeface="Century Schoolbook" pitchFamily="34" charset="0"/>
                <a:ea typeface="Century Schoolbook" pitchFamily="34" charset="-122"/>
                <a:cs typeface="Century Schoolbook" pitchFamily="34" charset="-120"/>
              </a:rPr>
              <a:t>2</a:t>
            </a:r>
            <a:endParaRPr lang="en-US" sz="2400" dirty="0"/>
          </a:p>
        </p:txBody>
      </p:sp>
      <p:sp>
        <p:nvSpPr>
          <p:cNvPr id="12" name="Text 9"/>
          <p:cNvSpPr txBox="1"/>
          <p:nvPr/>
        </p:nvSpPr>
        <p:spPr>
          <a:xfrm>
            <a:off x="3017520" y="2971800"/>
            <a:ext cx="1930298" cy="384048"/>
          </a:xfrm>
          <a:prstGeom prst="rect">
            <a:avLst/>
          </a:prstGeom>
          <a:noFill/>
          <a:ln/>
        </p:spPr>
        <p:txBody>
          <a:bodyPr wrap="square" lIns="0" tIns="0" rIns="0" bIns="0" rtlCol="0" anchor="t"/>
          <a:lstStyle/>
          <a:p>
            <a:pPr algn="ctr" indent="0" marL="0">
              <a:buNone/>
            </a:pPr>
            <a:r>
              <a:rPr lang="en-US" sz="1900" b="1" dirty="0">
                <a:solidFill>
                  <a:schemeClr val="tx1"/>
                </a:solidFill>
                <a:latin typeface="Century Schoolbook" pitchFamily="34" charset="0"/>
                <a:ea typeface="Century Schoolbook" pitchFamily="34" charset="-122"/>
                <a:cs typeface="Century Schoolbook" pitchFamily="34" charset="-120"/>
              </a:rPr>
              <a:t>1 gün sonra</a:t>
            </a:r>
            <a:endParaRPr lang="en-US" sz="1900" dirty="0"/>
          </a:p>
        </p:txBody>
      </p:sp>
      <p:sp>
        <p:nvSpPr>
          <p:cNvPr id="13" name="Text 10"/>
          <p:cNvSpPr txBox="1"/>
          <p:nvPr/>
        </p:nvSpPr>
        <p:spPr>
          <a:xfrm>
            <a:off x="3063240" y="3401568"/>
            <a:ext cx="1838858" cy="777240"/>
          </a:xfrm>
          <a:prstGeom prst="rect">
            <a:avLst/>
          </a:prstGeom>
          <a:noFill/>
          <a:ln/>
        </p:spPr>
        <p:txBody>
          <a:bodyPr wrap="square" lIns="0" tIns="0" rIns="0" bIns="0" rtlCol="0" anchor="t"/>
          <a:lstStyle/>
          <a:p>
            <a:pPr algn="ctr" indent="0" marL="0">
              <a:buNone/>
            </a:pPr>
            <a:r>
              <a:rPr lang="en-US" sz="1500" dirty="0">
                <a:solidFill>
                  <a:schemeClr val="tx2"/>
                </a:solidFill>
              </a:rPr>
              <a:t>Kitabı kapat, hatırladıklarını yaz.</a:t>
            </a:r>
            <a:endParaRPr lang="en-US" sz="1500" dirty="0"/>
          </a:p>
        </p:txBody>
      </p:sp>
      <p:sp>
        <p:nvSpPr>
          <p:cNvPr id="14" name="Adım 3"/>
          <p:cNvSpPr/>
          <p:nvPr/>
        </p:nvSpPr>
        <p:spPr>
          <a:xfrm>
            <a:off x="5730088" y="2057400"/>
            <a:ext cx="731520" cy="731520"/>
          </a:xfrm>
          <a:prstGeom prst="ellipse">
            <a:avLst/>
          </a:prstGeom>
          <a:solidFill>
            <a:schemeClr val="accent1"/>
          </a:solidFill>
          <a:ln/>
        </p:spPr>
      </p:sp>
      <p:sp>
        <p:nvSpPr>
          <p:cNvPr id="15" name="Text 12"/>
          <p:cNvSpPr txBox="1"/>
          <p:nvPr/>
        </p:nvSpPr>
        <p:spPr>
          <a:xfrm>
            <a:off x="5730088" y="2057400"/>
            <a:ext cx="731520" cy="731520"/>
          </a:xfrm>
          <a:prstGeom prst="rect">
            <a:avLst/>
          </a:prstGeom>
          <a:noFill/>
          <a:ln/>
        </p:spPr>
        <p:txBody>
          <a:bodyPr wrap="square" lIns="0" tIns="0" rIns="0" bIns="0" rtlCol="0" anchor="ctr"/>
          <a:lstStyle/>
          <a:p>
            <a:pPr algn="ctr" indent="0" marL="0">
              <a:buNone/>
            </a:pPr>
            <a:r>
              <a:rPr lang="en-US" sz="2400" b="1" dirty="0">
                <a:solidFill>
                  <a:schemeClr val="tx1"/>
                </a:solidFill>
                <a:latin typeface="Century Schoolbook" pitchFamily="34" charset="0"/>
                <a:ea typeface="Century Schoolbook" pitchFamily="34" charset="-122"/>
                <a:cs typeface="Century Schoolbook" pitchFamily="34" charset="-120"/>
              </a:rPr>
              <a:t>3</a:t>
            </a:r>
            <a:endParaRPr lang="en-US" sz="2400" dirty="0"/>
          </a:p>
        </p:txBody>
      </p:sp>
      <p:sp>
        <p:nvSpPr>
          <p:cNvPr id="16" name="Text 13"/>
          <p:cNvSpPr txBox="1"/>
          <p:nvPr/>
        </p:nvSpPr>
        <p:spPr>
          <a:xfrm>
            <a:off x="5130698" y="2971800"/>
            <a:ext cx="1930298" cy="384048"/>
          </a:xfrm>
          <a:prstGeom prst="rect">
            <a:avLst/>
          </a:prstGeom>
          <a:noFill/>
          <a:ln/>
        </p:spPr>
        <p:txBody>
          <a:bodyPr wrap="square" lIns="0" tIns="0" rIns="0" bIns="0" rtlCol="0" anchor="t"/>
          <a:lstStyle/>
          <a:p>
            <a:pPr algn="ctr" indent="0" marL="0">
              <a:buNone/>
            </a:pPr>
            <a:r>
              <a:rPr lang="en-US" sz="1900" b="1" dirty="0">
                <a:solidFill>
                  <a:schemeClr val="tx1"/>
                </a:solidFill>
                <a:latin typeface="Century Schoolbook" pitchFamily="34" charset="0"/>
                <a:ea typeface="Century Schoolbook" pitchFamily="34" charset="-122"/>
                <a:cs typeface="Century Schoolbook" pitchFamily="34" charset="-120"/>
              </a:rPr>
              <a:t>3 gün sonra</a:t>
            </a:r>
            <a:endParaRPr lang="en-US" sz="1900" dirty="0"/>
          </a:p>
        </p:txBody>
      </p:sp>
      <p:sp>
        <p:nvSpPr>
          <p:cNvPr id="17" name="Text 14"/>
          <p:cNvSpPr txBox="1"/>
          <p:nvPr/>
        </p:nvSpPr>
        <p:spPr>
          <a:xfrm>
            <a:off x="5176418" y="3401568"/>
            <a:ext cx="1838858" cy="777240"/>
          </a:xfrm>
          <a:prstGeom prst="rect">
            <a:avLst/>
          </a:prstGeom>
          <a:noFill/>
          <a:ln/>
        </p:spPr>
        <p:txBody>
          <a:bodyPr wrap="square" lIns="0" tIns="0" rIns="0" bIns="0" rtlCol="0" anchor="t"/>
          <a:lstStyle/>
          <a:p>
            <a:pPr algn="ctr" indent="0" marL="0">
              <a:buNone/>
            </a:pPr>
            <a:r>
              <a:rPr lang="en-US" sz="1500" dirty="0">
                <a:solidFill>
                  <a:schemeClr val="tx2"/>
                </a:solidFill>
              </a:rPr>
              <a:t>O konudan 10 soru çöz.</a:t>
            </a:r>
            <a:endParaRPr lang="en-US" sz="1500" dirty="0"/>
          </a:p>
        </p:txBody>
      </p:sp>
      <p:sp>
        <p:nvSpPr>
          <p:cNvPr id="18" name="Adım 4"/>
          <p:cNvSpPr/>
          <p:nvPr/>
        </p:nvSpPr>
        <p:spPr>
          <a:xfrm>
            <a:off x="7843266" y="2057400"/>
            <a:ext cx="731520" cy="731520"/>
          </a:xfrm>
          <a:prstGeom prst="ellipse">
            <a:avLst/>
          </a:prstGeom>
          <a:solidFill>
            <a:schemeClr val="accent1"/>
          </a:solidFill>
          <a:ln/>
        </p:spPr>
      </p:sp>
      <p:sp>
        <p:nvSpPr>
          <p:cNvPr id="19" name="Text 16"/>
          <p:cNvSpPr txBox="1"/>
          <p:nvPr/>
        </p:nvSpPr>
        <p:spPr>
          <a:xfrm>
            <a:off x="7843266" y="2057400"/>
            <a:ext cx="731520" cy="731520"/>
          </a:xfrm>
          <a:prstGeom prst="rect">
            <a:avLst/>
          </a:prstGeom>
          <a:noFill/>
          <a:ln/>
        </p:spPr>
        <p:txBody>
          <a:bodyPr wrap="square" lIns="0" tIns="0" rIns="0" bIns="0" rtlCol="0" anchor="ctr"/>
          <a:lstStyle/>
          <a:p>
            <a:pPr algn="ctr" indent="0" marL="0">
              <a:buNone/>
            </a:pPr>
            <a:r>
              <a:rPr lang="en-US" sz="2400" b="1" dirty="0">
                <a:solidFill>
                  <a:schemeClr val="tx1"/>
                </a:solidFill>
                <a:latin typeface="Century Schoolbook" pitchFamily="34" charset="0"/>
                <a:ea typeface="Century Schoolbook" pitchFamily="34" charset="-122"/>
                <a:cs typeface="Century Schoolbook" pitchFamily="34" charset="-120"/>
              </a:rPr>
              <a:t>4</a:t>
            </a:r>
            <a:endParaRPr lang="en-US" sz="2400" dirty="0"/>
          </a:p>
        </p:txBody>
      </p:sp>
      <p:sp>
        <p:nvSpPr>
          <p:cNvPr id="20" name="Text 17"/>
          <p:cNvSpPr txBox="1"/>
          <p:nvPr/>
        </p:nvSpPr>
        <p:spPr>
          <a:xfrm>
            <a:off x="7243877" y="2971800"/>
            <a:ext cx="1930298" cy="384048"/>
          </a:xfrm>
          <a:prstGeom prst="rect">
            <a:avLst/>
          </a:prstGeom>
          <a:noFill/>
          <a:ln/>
        </p:spPr>
        <p:txBody>
          <a:bodyPr wrap="square" lIns="0" tIns="0" rIns="0" bIns="0" rtlCol="0" anchor="t"/>
          <a:lstStyle/>
          <a:p>
            <a:pPr algn="ctr" indent="0" marL="0">
              <a:buNone/>
            </a:pPr>
            <a:r>
              <a:rPr lang="en-US" sz="1900" b="1" dirty="0">
                <a:solidFill>
                  <a:schemeClr val="tx1"/>
                </a:solidFill>
                <a:latin typeface="Century Schoolbook" pitchFamily="34" charset="0"/>
                <a:ea typeface="Century Schoolbook" pitchFamily="34" charset="-122"/>
                <a:cs typeface="Century Schoolbook" pitchFamily="34" charset="-120"/>
              </a:rPr>
              <a:t>1 hafta sonra</a:t>
            </a:r>
            <a:endParaRPr lang="en-US" sz="1900" dirty="0"/>
          </a:p>
        </p:txBody>
      </p:sp>
      <p:sp>
        <p:nvSpPr>
          <p:cNvPr id="21" name="Text 18"/>
          <p:cNvSpPr txBox="1"/>
          <p:nvPr/>
        </p:nvSpPr>
        <p:spPr>
          <a:xfrm>
            <a:off x="7289597" y="3401568"/>
            <a:ext cx="1838858" cy="777240"/>
          </a:xfrm>
          <a:prstGeom prst="rect">
            <a:avLst/>
          </a:prstGeom>
          <a:noFill/>
          <a:ln/>
        </p:spPr>
        <p:txBody>
          <a:bodyPr wrap="square" lIns="0" tIns="0" rIns="0" bIns="0" rtlCol="0" anchor="t"/>
          <a:lstStyle/>
          <a:p>
            <a:pPr algn="ctr" indent="0" marL="0">
              <a:buNone/>
            </a:pPr>
            <a:r>
              <a:rPr lang="en-US" sz="1500" dirty="0">
                <a:solidFill>
                  <a:schemeClr val="tx2"/>
                </a:solidFill>
              </a:rPr>
              <a:t>Yanlışlarını yeniden çöz.</a:t>
            </a:r>
            <a:endParaRPr lang="en-US" sz="1500" dirty="0"/>
          </a:p>
        </p:txBody>
      </p:sp>
      <p:sp>
        <p:nvSpPr>
          <p:cNvPr id="22" name="Adım 5"/>
          <p:cNvSpPr/>
          <p:nvPr/>
        </p:nvSpPr>
        <p:spPr>
          <a:xfrm>
            <a:off x="9956444" y="2057400"/>
            <a:ext cx="731520" cy="731520"/>
          </a:xfrm>
          <a:prstGeom prst="ellipse">
            <a:avLst/>
          </a:prstGeom>
          <a:solidFill>
            <a:schemeClr val="accent1"/>
          </a:solidFill>
          <a:ln/>
        </p:spPr>
      </p:sp>
      <p:sp>
        <p:nvSpPr>
          <p:cNvPr id="23" name="Text 20"/>
          <p:cNvSpPr txBox="1"/>
          <p:nvPr/>
        </p:nvSpPr>
        <p:spPr>
          <a:xfrm>
            <a:off x="9956444" y="2057400"/>
            <a:ext cx="731520" cy="731520"/>
          </a:xfrm>
          <a:prstGeom prst="rect">
            <a:avLst/>
          </a:prstGeom>
          <a:noFill/>
          <a:ln/>
        </p:spPr>
        <p:txBody>
          <a:bodyPr wrap="square" lIns="0" tIns="0" rIns="0" bIns="0" rtlCol="0" anchor="ctr"/>
          <a:lstStyle/>
          <a:p>
            <a:pPr algn="ctr" indent="0" marL="0">
              <a:buNone/>
            </a:pPr>
            <a:r>
              <a:rPr lang="en-US" sz="2400" b="1" dirty="0">
                <a:solidFill>
                  <a:schemeClr val="tx1"/>
                </a:solidFill>
                <a:latin typeface="Century Schoolbook" pitchFamily="34" charset="0"/>
                <a:ea typeface="Century Schoolbook" pitchFamily="34" charset="-122"/>
                <a:cs typeface="Century Schoolbook" pitchFamily="34" charset="-120"/>
              </a:rPr>
              <a:t>5</a:t>
            </a:r>
            <a:endParaRPr lang="en-US" sz="2400" dirty="0"/>
          </a:p>
        </p:txBody>
      </p:sp>
      <p:sp>
        <p:nvSpPr>
          <p:cNvPr id="24" name="Text 21"/>
          <p:cNvSpPr txBox="1"/>
          <p:nvPr/>
        </p:nvSpPr>
        <p:spPr>
          <a:xfrm>
            <a:off x="9357055" y="2971800"/>
            <a:ext cx="1930298" cy="384048"/>
          </a:xfrm>
          <a:prstGeom prst="rect">
            <a:avLst/>
          </a:prstGeom>
          <a:noFill/>
          <a:ln/>
        </p:spPr>
        <p:txBody>
          <a:bodyPr wrap="square" lIns="0" tIns="0" rIns="0" bIns="0" rtlCol="0" anchor="t"/>
          <a:lstStyle/>
          <a:p>
            <a:pPr algn="ctr" indent="0" marL="0">
              <a:buNone/>
            </a:pPr>
            <a:r>
              <a:rPr lang="en-US" sz="1900" b="1" dirty="0">
                <a:solidFill>
                  <a:schemeClr val="tx1"/>
                </a:solidFill>
                <a:latin typeface="Century Schoolbook" pitchFamily="34" charset="0"/>
                <a:ea typeface="Century Schoolbook" pitchFamily="34" charset="-122"/>
                <a:cs typeface="Century Schoolbook" pitchFamily="34" charset="-120"/>
              </a:rPr>
              <a:t>1 ay sonra</a:t>
            </a:r>
            <a:endParaRPr lang="en-US" sz="1900" dirty="0"/>
          </a:p>
        </p:txBody>
      </p:sp>
      <p:sp>
        <p:nvSpPr>
          <p:cNvPr id="25" name="Text 22"/>
          <p:cNvSpPr txBox="1"/>
          <p:nvPr/>
        </p:nvSpPr>
        <p:spPr>
          <a:xfrm>
            <a:off x="9402775" y="3401568"/>
            <a:ext cx="1838858" cy="777240"/>
          </a:xfrm>
          <a:prstGeom prst="rect">
            <a:avLst/>
          </a:prstGeom>
          <a:noFill/>
          <a:ln/>
        </p:spPr>
        <p:txBody>
          <a:bodyPr wrap="square" lIns="0" tIns="0" rIns="0" bIns="0" rtlCol="0" anchor="t"/>
          <a:lstStyle/>
          <a:p>
            <a:pPr algn="ctr" indent="0" marL="0">
              <a:buNone/>
            </a:pPr>
            <a:r>
              <a:rPr lang="en-US" sz="1500" dirty="0">
                <a:solidFill>
                  <a:schemeClr val="tx2"/>
                </a:solidFill>
              </a:rPr>
              <a:t>Karışık deneme sorularıyla kontrol et.</a:t>
            </a:r>
            <a:endParaRPr lang="en-US" sz="1500" dirty="0"/>
          </a:p>
        </p:txBody>
      </p:sp>
      <p:sp>
        <p:nvSpPr>
          <p:cNvPr id="26" name="Text 23"/>
          <p:cNvSpPr txBox="1"/>
          <p:nvPr/>
        </p:nvSpPr>
        <p:spPr>
          <a:xfrm>
            <a:off x="812902" y="4572000"/>
            <a:ext cx="10565892" cy="731520"/>
          </a:xfrm>
          <a:prstGeom prst="rect">
            <a:avLst/>
          </a:prstGeom>
          <a:noFill/>
          <a:ln/>
        </p:spPr>
        <p:txBody>
          <a:bodyPr wrap="square" lIns="0" tIns="0" rIns="0" bIns="0" rtlCol="0" anchor="t"/>
          <a:lstStyle/>
          <a:p>
            <a:pPr indent="0" marL="0">
              <a:buNone/>
            </a:pPr>
            <a:r>
              <a:rPr lang="en-US" sz="1800" dirty="0">
                <a:solidFill>
                  <a:schemeClr val="tx2"/>
                </a:solidFill>
              </a:rPr>
              <a:t>Bir konuyu tek seferde uzun uzun çalışmak yerine aralıklarla tekrar etmek, bilgiyi daha uzun süre akılda tutar. Bu takvim bir örnektir.</a:t>
            </a:r>
            <a:endParaRPr lang="en-US" sz="18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Century Schoolbook" pitchFamily="34" charset="0"/>
                <a:ea typeface="Century Schoolbook" pitchFamily="34" charset="-122"/>
                <a:cs typeface="Century Schoolbook" pitchFamily="34" charset="-120"/>
              </a:rPr>
              <a:t>Feynman tekniği</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ÖĞRETEREK ÖĞREN</a:t>
            </a:r>
            <a:endParaRPr lang="en-US" sz="1400" dirty="0"/>
          </a:p>
        </p:txBody>
      </p:sp>
      <p:sp>
        <p:nvSpPr>
          <p:cNvPr id="5" name="Text 2"/>
          <p:cNvSpPr txBox="1"/>
          <p:nvPr/>
        </p:nvSpPr>
        <p:spPr>
          <a:xfrm>
            <a:off x="812902" y="1965960"/>
            <a:ext cx="10565892" cy="685800"/>
          </a:xfrm>
          <a:prstGeom prst="rect">
            <a:avLst/>
          </a:prstGeom>
          <a:noFill/>
          <a:ln/>
        </p:spPr>
        <p:txBody>
          <a:bodyPr wrap="square" lIns="0" tIns="0" rIns="0" bIns="0" rtlCol="0" anchor="t"/>
          <a:lstStyle/>
          <a:p>
            <a:pPr indent="0" marL="0">
              <a:buNone/>
            </a:pPr>
            <a:r>
              <a:rPr lang="en-US" sz="1800" dirty="0">
                <a:solidFill>
                  <a:schemeClr val="tx2"/>
                </a:solidFill>
              </a:rPr>
              <a:t>Fizikçi Richard Feynman’ın adıyla anılan bu yöntemin fikri basit: Bir konuyu sade bir dille anlatabiliyorsan, onu gerçekten öğrenmişsindir.</a:t>
            </a:r>
            <a:endParaRPr lang="en-US" sz="1800" dirty="0"/>
          </a:p>
        </p:txBody>
      </p:sp>
      <p:sp>
        <p:nvSpPr>
          <p:cNvPr id="6" name="Konuyu seç"/>
          <p:cNvSpPr/>
          <p:nvPr/>
        </p:nvSpPr>
        <p:spPr>
          <a:xfrm>
            <a:off x="812902" y="2834640"/>
            <a:ext cx="2435733" cy="2743200"/>
          </a:xfrm>
          <a:prstGeom prst="roundRect">
            <a:avLst>
              <a:gd name="adj" fmla="val 6757"/>
            </a:avLst>
          </a:prstGeom>
          <a:solidFill>
            <a:schemeClr val="bg1"/>
          </a:solidFill>
          <a:ln/>
        </p:spPr>
      </p:sp>
      <p:sp>
        <p:nvSpPr>
          <p:cNvPr id="7" name="Text 4"/>
          <p:cNvSpPr txBox="1"/>
          <p:nvPr/>
        </p:nvSpPr>
        <p:spPr>
          <a:xfrm>
            <a:off x="1087222" y="3017520"/>
            <a:ext cx="914400" cy="640080"/>
          </a:xfrm>
          <a:prstGeom prst="rect">
            <a:avLst/>
          </a:prstGeom>
          <a:noFill/>
          <a:ln/>
        </p:spPr>
        <p:txBody>
          <a:bodyPr wrap="square" lIns="0" tIns="0" rIns="0" bIns="0" rtlCol="0" anchor="t"/>
          <a:lstStyle/>
          <a:p>
            <a:pPr indent="0" marL="0">
              <a:buNone/>
            </a:pPr>
            <a:r>
              <a:rPr lang="en-US" sz="4000" b="1" dirty="0">
                <a:solidFill>
                  <a:schemeClr val="accent2"/>
                </a:solidFill>
                <a:latin typeface="Century Schoolbook" pitchFamily="34" charset="0"/>
                <a:ea typeface="Century Schoolbook" pitchFamily="34" charset="-122"/>
                <a:cs typeface="Century Schoolbook" pitchFamily="34" charset="-120"/>
              </a:rPr>
              <a:t>1</a:t>
            </a:r>
            <a:endParaRPr lang="en-US" sz="4000" dirty="0"/>
          </a:p>
        </p:txBody>
      </p:sp>
      <p:sp>
        <p:nvSpPr>
          <p:cNvPr id="8" name="Text 5"/>
          <p:cNvSpPr txBox="1"/>
          <p:nvPr/>
        </p:nvSpPr>
        <p:spPr>
          <a:xfrm>
            <a:off x="1087222" y="3749040"/>
            <a:ext cx="1887093" cy="384048"/>
          </a:xfrm>
          <a:prstGeom prst="rect">
            <a:avLst/>
          </a:prstGeom>
          <a:noFill/>
          <a:ln/>
        </p:spPr>
        <p:txBody>
          <a:bodyPr wrap="square" lIns="0" tIns="0" rIns="0" bIns="0" rtlCol="0" anchor="t"/>
          <a:lstStyle/>
          <a:p>
            <a:pPr indent="0" marL="0">
              <a:buNone/>
            </a:pPr>
            <a:r>
              <a:rPr lang="en-US" sz="1900" b="1" dirty="0">
                <a:solidFill>
                  <a:schemeClr val="tx1"/>
                </a:solidFill>
                <a:latin typeface="Century Schoolbook" pitchFamily="34" charset="0"/>
                <a:ea typeface="Century Schoolbook" pitchFamily="34" charset="-122"/>
                <a:cs typeface="Century Schoolbook" pitchFamily="34" charset="-120"/>
              </a:rPr>
              <a:t>Konuyu seç</a:t>
            </a:r>
            <a:endParaRPr lang="en-US" sz="1900" dirty="0"/>
          </a:p>
        </p:txBody>
      </p:sp>
      <p:sp>
        <p:nvSpPr>
          <p:cNvPr id="9" name="Text 6"/>
          <p:cNvSpPr txBox="1"/>
          <p:nvPr/>
        </p:nvSpPr>
        <p:spPr>
          <a:xfrm>
            <a:off x="1087222" y="4206240"/>
            <a:ext cx="1887093" cy="1188720"/>
          </a:xfrm>
          <a:prstGeom prst="rect">
            <a:avLst/>
          </a:prstGeom>
          <a:noFill/>
          <a:ln/>
        </p:spPr>
        <p:txBody>
          <a:bodyPr wrap="square" lIns="0" tIns="0" rIns="0" bIns="0" rtlCol="0" anchor="t"/>
          <a:lstStyle/>
          <a:p>
            <a:pPr indent="0" marL="0">
              <a:buNone/>
            </a:pPr>
            <a:r>
              <a:rPr lang="en-US" sz="1500" dirty="0">
                <a:solidFill>
                  <a:schemeClr val="tx2"/>
                </a:solidFill>
              </a:rPr>
              <a:t>Kâğıdın en üstüne konunun adını yaz.</a:t>
            </a:r>
            <a:endParaRPr lang="en-US" sz="1500" dirty="0"/>
          </a:p>
        </p:txBody>
      </p:sp>
      <p:sp>
        <p:nvSpPr>
          <p:cNvPr id="10" name="Basitçe anlat"/>
          <p:cNvSpPr/>
          <p:nvPr/>
        </p:nvSpPr>
        <p:spPr>
          <a:xfrm>
            <a:off x="3522955" y="2834640"/>
            <a:ext cx="2435733" cy="2743200"/>
          </a:xfrm>
          <a:prstGeom prst="roundRect">
            <a:avLst>
              <a:gd name="adj" fmla="val 6757"/>
            </a:avLst>
          </a:prstGeom>
          <a:solidFill>
            <a:schemeClr val="bg1"/>
          </a:solidFill>
          <a:ln/>
        </p:spPr>
      </p:sp>
      <p:sp>
        <p:nvSpPr>
          <p:cNvPr id="11" name="Text 8"/>
          <p:cNvSpPr txBox="1"/>
          <p:nvPr/>
        </p:nvSpPr>
        <p:spPr>
          <a:xfrm>
            <a:off x="3797275" y="3017520"/>
            <a:ext cx="914400" cy="640080"/>
          </a:xfrm>
          <a:prstGeom prst="rect">
            <a:avLst/>
          </a:prstGeom>
          <a:noFill/>
          <a:ln/>
        </p:spPr>
        <p:txBody>
          <a:bodyPr wrap="square" lIns="0" tIns="0" rIns="0" bIns="0" rtlCol="0" anchor="t"/>
          <a:lstStyle/>
          <a:p>
            <a:pPr indent="0" marL="0">
              <a:buNone/>
            </a:pPr>
            <a:r>
              <a:rPr lang="en-US" sz="4000" b="1" dirty="0">
                <a:solidFill>
                  <a:schemeClr val="accent2"/>
                </a:solidFill>
                <a:latin typeface="Century Schoolbook" pitchFamily="34" charset="0"/>
                <a:ea typeface="Century Schoolbook" pitchFamily="34" charset="-122"/>
                <a:cs typeface="Century Schoolbook" pitchFamily="34" charset="-120"/>
              </a:rPr>
              <a:t>2</a:t>
            </a:r>
            <a:endParaRPr lang="en-US" sz="4000" dirty="0"/>
          </a:p>
        </p:txBody>
      </p:sp>
      <p:sp>
        <p:nvSpPr>
          <p:cNvPr id="12" name="Text 9"/>
          <p:cNvSpPr txBox="1"/>
          <p:nvPr/>
        </p:nvSpPr>
        <p:spPr>
          <a:xfrm>
            <a:off x="3797275" y="3749040"/>
            <a:ext cx="1887093" cy="384048"/>
          </a:xfrm>
          <a:prstGeom prst="rect">
            <a:avLst/>
          </a:prstGeom>
          <a:noFill/>
          <a:ln/>
        </p:spPr>
        <p:txBody>
          <a:bodyPr wrap="square" lIns="0" tIns="0" rIns="0" bIns="0" rtlCol="0" anchor="t"/>
          <a:lstStyle/>
          <a:p>
            <a:pPr indent="0" marL="0">
              <a:buNone/>
            </a:pPr>
            <a:r>
              <a:rPr lang="en-US" sz="1900" b="1" dirty="0">
                <a:solidFill>
                  <a:schemeClr val="tx1"/>
                </a:solidFill>
                <a:latin typeface="Century Schoolbook" pitchFamily="34" charset="0"/>
                <a:ea typeface="Century Schoolbook" pitchFamily="34" charset="-122"/>
                <a:cs typeface="Century Schoolbook" pitchFamily="34" charset="-120"/>
              </a:rPr>
              <a:t>Basitçe anlat</a:t>
            </a:r>
            <a:endParaRPr lang="en-US" sz="1900" dirty="0"/>
          </a:p>
        </p:txBody>
      </p:sp>
      <p:sp>
        <p:nvSpPr>
          <p:cNvPr id="13" name="Text 10"/>
          <p:cNvSpPr txBox="1"/>
          <p:nvPr/>
        </p:nvSpPr>
        <p:spPr>
          <a:xfrm>
            <a:off x="3797275" y="4206240"/>
            <a:ext cx="1887093" cy="1188720"/>
          </a:xfrm>
          <a:prstGeom prst="rect">
            <a:avLst/>
          </a:prstGeom>
          <a:noFill/>
          <a:ln/>
        </p:spPr>
        <p:txBody>
          <a:bodyPr wrap="square" lIns="0" tIns="0" rIns="0" bIns="0" rtlCol="0" anchor="t"/>
          <a:lstStyle/>
          <a:p>
            <a:pPr indent="0" marL="0">
              <a:buNone/>
            </a:pPr>
            <a:r>
              <a:rPr lang="en-US" sz="1500" dirty="0">
                <a:solidFill>
                  <a:schemeClr val="tx2"/>
                </a:solidFill>
              </a:rPr>
              <a:t>Küçük kardeşine anlatır gibi, kendi cümlelerinle yaz.</a:t>
            </a:r>
            <a:endParaRPr lang="en-US" sz="1500" dirty="0"/>
          </a:p>
        </p:txBody>
      </p:sp>
      <p:sp>
        <p:nvSpPr>
          <p:cNvPr id="14" name="Boşlukları bul"/>
          <p:cNvSpPr/>
          <p:nvPr/>
        </p:nvSpPr>
        <p:spPr>
          <a:xfrm>
            <a:off x="6233008" y="2834640"/>
            <a:ext cx="2435733" cy="2743200"/>
          </a:xfrm>
          <a:prstGeom prst="roundRect">
            <a:avLst>
              <a:gd name="adj" fmla="val 6757"/>
            </a:avLst>
          </a:prstGeom>
          <a:solidFill>
            <a:schemeClr val="bg1"/>
          </a:solidFill>
          <a:ln/>
        </p:spPr>
      </p:sp>
      <p:sp>
        <p:nvSpPr>
          <p:cNvPr id="15" name="Text 12"/>
          <p:cNvSpPr txBox="1"/>
          <p:nvPr/>
        </p:nvSpPr>
        <p:spPr>
          <a:xfrm>
            <a:off x="6507328" y="3017520"/>
            <a:ext cx="914400" cy="640080"/>
          </a:xfrm>
          <a:prstGeom prst="rect">
            <a:avLst/>
          </a:prstGeom>
          <a:noFill/>
          <a:ln/>
        </p:spPr>
        <p:txBody>
          <a:bodyPr wrap="square" lIns="0" tIns="0" rIns="0" bIns="0" rtlCol="0" anchor="t"/>
          <a:lstStyle/>
          <a:p>
            <a:pPr indent="0" marL="0">
              <a:buNone/>
            </a:pPr>
            <a:r>
              <a:rPr lang="en-US" sz="4000" b="1" dirty="0">
                <a:solidFill>
                  <a:schemeClr val="accent2"/>
                </a:solidFill>
                <a:latin typeface="Century Schoolbook" pitchFamily="34" charset="0"/>
                <a:ea typeface="Century Schoolbook" pitchFamily="34" charset="-122"/>
                <a:cs typeface="Century Schoolbook" pitchFamily="34" charset="-120"/>
              </a:rPr>
              <a:t>3</a:t>
            </a:r>
            <a:endParaRPr lang="en-US" sz="4000" dirty="0"/>
          </a:p>
        </p:txBody>
      </p:sp>
      <p:sp>
        <p:nvSpPr>
          <p:cNvPr id="16" name="Text 13"/>
          <p:cNvSpPr txBox="1"/>
          <p:nvPr/>
        </p:nvSpPr>
        <p:spPr>
          <a:xfrm>
            <a:off x="6507328" y="3749040"/>
            <a:ext cx="1887093" cy="384048"/>
          </a:xfrm>
          <a:prstGeom prst="rect">
            <a:avLst/>
          </a:prstGeom>
          <a:noFill/>
          <a:ln/>
        </p:spPr>
        <p:txBody>
          <a:bodyPr wrap="square" lIns="0" tIns="0" rIns="0" bIns="0" rtlCol="0" anchor="t"/>
          <a:lstStyle/>
          <a:p>
            <a:pPr indent="0" marL="0">
              <a:buNone/>
            </a:pPr>
            <a:r>
              <a:rPr lang="en-US" sz="1900" b="1" dirty="0">
                <a:solidFill>
                  <a:schemeClr val="tx1"/>
                </a:solidFill>
                <a:latin typeface="Century Schoolbook" pitchFamily="34" charset="0"/>
                <a:ea typeface="Century Schoolbook" pitchFamily="34" charset="-122"/>
                <a:cs typeface="Century Schoolbook" pitchFamily="34" charset="-120"/>
              </a:rPr>
              <a:t>Boşlukları bul</a:t>
            </a:r>
            <a:endParaRPr lang="en-US" sz="1900" dirty="0"/>
          </a:p>
        </p:txBody>
      </p:sp>
      <p:sp>
        <p:nvSpPr>
          <p:cNvPr id="17" name="Text 14"/>
          <p:cNvSpPr txBox="1"/>
          <p:nvPr/>
        </p:nvSpPr>
        <p:spPr>
          <a:xfrm>
            <a:off x="6507328" y="4206240"/>
            <a:ext cx="1887093" cy="1188720"/>
          </a:xfrm>
          <a:prstGeom prst="rect">
            <a:avLst/>
          </a:prstGeom>
          <a:noFill/>
          <a:ln/>
        </p:spPr>
        <p:txBody>
          <a:bodyPr wrap="square" lIns="0" tIns="0" rIns="0" bIns="0" rtlCol="0" anchor="t"/>
          <a:lstStyle/>
          <a:p>
            <a:pPr indent="0" marL="0">
              <a:buNone/>
            </a:pPr>
            <a:r>
              <a:rPr lang="en-US" sz="1500" dirty="0">
                <a:solidFill>
                  <a:schemeClr val="tx2"/>
                </a:solidFill>
              </a:rPr>
              <a:t>Takıldığın yerde kitaba dön, eksiğini tamamla.</a:t>
            </a:r>
            <a:endParaRPr lang="en-US" sz="1500" dirty="0"/>
          </a:p>
        </p:txBody>
      </p:sp>
      <p:sp>
        <p:nvSpPr>
          <p:cNvPr id="18" name="Sadeleştir"/>
          <p:cNvSpPr/>
          <p:nvPr/>
        </p:nvSpPr>
        <p:spPr>
          <a:xfrm>
            <a:off x="8943061" y="2834640"/>
            <a:ext cx="2435733" cy="2743200"/>
          </a:xfrm>
          <a:prstGeom prst="roundRect">
            <a:avLst>
              <a:gd name="adj" fmla="val 6757"/>
            </a:avLst>
          </a:prstGeom>
          <a:solidFill>
            <a:schemeClr val="bg1"/>
          </a:solidFill>
          <a:ln/>
        </p:spPr>
      </p:sp>
      <p:sp>
        <p:nvSpPr>
          <p:cNvPr id="19" name="Text 16"/>
          <p:cNvSpPr txBox="1"/>
          <p:nvPr/>
        </p:nvSpPr>
        <p:spPr>
          <a:xfrm>
            <a:off x="9217381" y="3017520"/>
            <a:ext cx="914400" cy="640080"/>
          </a:xfrm>
          <a:prstGeom prst="rect">
            <a:avLst/>
          </a:prstGeom>
          <a:noFill/>
          <a:ln/>
        </p:spPr>
        <p:txBody>
          <a:bodyPr wrap="square" lIns="0" tIns="0" rIns="0" bIns="0" rtlCol="0" anchor="t"/>
          <a:lstStyle/>
          <a:p>
            <a:pPr indent="0" marL="0">
              <a:buNone/>
            </a:pPr>
            <a:r>
              <a:rPr lang="en-US" sz="4000" b="1" dirty="0">
                <a:solidFill>
                  <a:schemeClr val="accent2"/>
                </a:solidFill>
                <a:latin typeface="Century Schoolbook" pitchFamily="34" charset="0"/>
                <a:ea typeface="Century Schoolbook" pitchFamily="34" charset="-122"/>
                <a:cs typeface="Century Schoolbook" pitchFamily="34" charset="-120"/>
              </a:rPr>
              <a:t>4</a:t>
            </a:r>
            <a:endParaRPr lang="en-US" sz="4000" dirty="0"/>
          </a:p>
        </p:txBody>
      </p:sp>
      <p:sp>
        <p:nvSpPr>
          <p:cNvPr id="20" name="Text 17"/>
          <p:cNvSpPr txBox="1"/>
          <p:nvPr/>
        </p:nvSpPr>
        <p:spPr>
          <a:xfrm>
            <a:off x="9217381" y="3749040"/>
            <a:ext cx="1887093" cy="384048"/>
          </a:xfrm>
          <a:prstGeom prst="rect">
            <a:avLst/>
          </a:prstGeom>
          <a:noFill/>
          <a:ln/>
        </p:spPr>
        <p:txBody>
          <a:bodyPr wrap="square" lIns="0" tIns="0" rIns="0" bIns="0" rtlCol="0" anchor="t"/>
          <a:lstStyle/>
          <a:p>
            <a:pPr indent="0" marL="0">
              <a:buNone/>
            </a:pPr>
            <a:r>
              <a:rPr lang="en-US" sz="1900" b="1" dirty="0">
                <a:solidFill>
                  <a:schemeClr val="tx1"/>
                </a:solidFill>
                <a:latin typeface="Century Schoolbook" pitchFamily="34" charset="0"/>
                <a:ea typeface="Century Schoolbook" pitchFamily="34" charset="-122"/>
                <a:cs typeface="Century Schoolbook" pitchFamily="34" charset="-120"/>
              </a:rPr>
              <a:t>Sadeleştir</a:t>
            </a:r>
            <a:endParaRPr lang="en-US" sz="1900" dirty="0"/>
          </a:p>
        </p:txBody>
      </p:sp>
      <p:sp>
        <p:nvSpPr>
          <p:cNvPr id="21" name="Text 18"/>
          <p:cNvSpPr txBox="1"/>
          <p:nvPr/>
        </p:nvSpPr>
        <p:spPr>
          <a:xfrm>
            <a:off x="9217381" y="4206240"/>
            <a:ext cx="1887093" cy="1188720"/>
          </a:xfrm>
          <a:prstGeom prst="rect">
            <a:avLst/>
          </a:prstGeom>
          <a:noFill/>
          <a:ln/>
        </p:spPr>
        <p:txBody>
          <a:bodyPr wrap="square" lIns="0" tIns="0" rIns="0" bIns="0" rtlCol="0" anchor="t"/>
          <a:lstStyle/>
          <a:p>
            <a:pPr indent="0" marL="0">
              <a:buNone/>
            </a:pPr>
            <a:r>
              <a:rPr lang="en-US" sz="1500" dirty="0">
                <a:solidFill>
                  <a:schemeClr val="tx2"/>
                </a:solidFill>
              </a:rPr>
              <a:t>Zor kelimeleri çıkar, bir örnek ya da benzetme ekle.</a:t>
            </a:r>
            <a:endParaRPr lang="en-US" sz="15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Century Schoolbook" pitchFamily="34" charset="0"/>
                <a:ea typeface="Century Schoolbook" pitchFamily="34" charset="-122"/>
                <a:cs typeface="Century Schoolbook" pitchFamily="34" charset="-120"/>
              </a:rPr>
              <a:t>Cornell yöntemiyle not al</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NOT ALMA</a:t>
            </a:r>
            <a:endParaRPr lang="en-US" sz="1400" dirty="0"/>
          </a:p>
        </p:txBody>
      </p:sp>
      <p:sp>
        <p:nvSpPr>
          <p:cNvPr id="5" name="Özet alanı"/>
          <p:cNvSpPr/>
          <p:nvPr/>
        </p:nvSpPr>
        <p:spPr>
          <a:xfrm>
            <a:off x="812902" y="4480560"/>
            <a:ext cx="5577840" cy="1188720"/>
          </a:xfrm>
          <a:prstGeom prst="rect">
            <a:avLst/>
          </a:prstGeom>
          <a:solidFill>
            <a:schemeClr val="bg2"/>
          </a:solidFill>
          <a:ln/>
        </p:spPr>
      </p:sp>
      <p:sp>
        <p:nvSpPr>
          <p:cNvPr id="6" name="Defter sayfası"/>
          <p:cNvSpPr/>
          <p:nvPr/>
        </p:nvSpPr>
        <p:spPr>
          <a:xfrm>
            <a:off x="812902" y="2057400"/>
            <a:ext cx="5577840" cy="3611880"/>
          </a:xfrm>
          <a:prstGeom prst="rect">
            <a:avLst/>
          </a:prstGeom>
          <a:ln w="31750">
            <a:solidFill>
              <a:schemeClr val="tx1"/>
            </a:solidFill>
            <a:prstDash val="solid"/>
          </a:ln>
        </p:spPr>
      </p:sp>
      <p:sp>
        <p:nvSpPr>
          <p:cNvPr id="7" name="Sütun çizgisi"/>
          <p:cNvSpPr/>
          <p:nvPr/>
        </p:nvSpPr>
        <p:spPr>
          <a:xfrm>
            <a:off x="2733142" y="2057400"/>
            <a:ext cx="0" cy="2423160"/>
          </a:xfrm>
          <a:prstGeom prst="line">
            <a:avLst/>
          </a:prstGeom>
          <a:noFill/>
          <a:ln w="31750">
            <a:solidFill>
              <a:schemeClr val="tx1"/>
            </a:solidFill>
            <a:prstDash val="solid"/>
          </a:ln>
        </p:spPr>
      </p:sp>
      <p:sp>
        <p:nvSpPr>
          <p:cNvPr id="8" name="Özet çizgisi"/>
          <p:cNvSpPr/>
          <p:nvPr/>
        </p:nvSpPr>
        <p:spPr>
          <a:xfrm>
            <a:off x="812902" y="4480560"/>
            <a:ext cx="5577840" cy="0"/>
          </a:xfrm>
          <a:prstGeom prst="line">
            <a:avLst/>
          </a:prstGeom>
          <a:noFill/>
          <a:ln w="31750">
            <a:solidFill>
              <a:schemeClr val="tx1"/>
            </a:solidFill>
            <a:prstDash val="solid"/>
          </a:ln>
        </p:spPr>
      </p:sp>
      <p:sp>
        <p:nvSpPr>
          <p:cNvPr id="9" name="Text 6"/>
          <p:cNvSpPr txBox="1"/>
          <p:nvPr/>
        </p:nvSpPr>
        <p:spPr>
          <a:xfrm>
            <a:off x="1041502" y="2286000"/>
            <a:ext cx="1554480" cy="640080"/>
          </a:xfrm>
          <a:prstGeom prst="rect">
            <a:avLst/>
          </a:prstGeom>
          <a:noFill/>
          <a:ln/>
        </p:spPr>
        <p:txBody>
          <a:bodyPr wrap="square" lIns="0" tIns="0" rIns="0" bIns="0" rtlCol="0" anchor="t"/>
          <a:lstStyle/>
          <a:p>
            <a:pPr indent="0" marL="0">
              <a:buNone/>
            </a:pPr>
            <a:r>
              <a:rPr lang="en-US" sz="1600" b="1" dirty="0">
                <a:solidFill>
                  <a:schemeClr val="tx1"/>
                </a:solidFill>
              </a:rPr>
              <a:t>Anahtar kelimeler</a:t>
            </a:r>
            <a:endParaRPr lang="en-US" sz="1600" dirty="0"/>
          </a:p>
        </p:txBody>
      </p:sp>
      <p:sp>
        <p:nvSpPr>
          <p:cNvPr id="10" name="Text 7"/>
          <p:cNvSpPr txBox="1"/>
          <p:nvPr/>
        </p:nvSpPr>
        <p:spPr>
          <a:xfrm>
            <a:off x="1041502" y="2971800"/>
            <a:ext cx="1554480" cy="640080"/>
          </a:xfrm>
          <a:prstGeom prst="rect">
            <a:avLst/>
          </a:prstGeom>
          <a:noFill/>
          <a:ln/>
        </p:spPr>
        <p:txBody>
          <a:bodyPr wrap="square" lIns="0" tIns="0" rIns="0" bIns="0" rtlCol="0" anchor="t"/>
          <a:lstStyle/>
          <a:p>
            <a:pPr indent="0" marL="0">
              <a:buNone/>
            </a:pPr>
            <a:r>
              <a:rPr lang="en-US" sz="1500" dirty="0">
                <a:solidFill>
                  <a:schemeClr val="tx2"/>
                </a:solidFill>
              </a:rPr>
              <a:t>Sorular ve kavramlar</a:t>
            </a:r>
            <a:endParaRPr lang="en-US" sz="1500" dirty="0"/>
          </a:p>
        </p:txBody>
      </p:sp>
      <p:sp>
        <p:nvSpPr>
          <p:cNvPr id="11" name="Text 8"/>
          <p:cNvSpPr txBox="1"/>
          <p:nvPr/>
        </p:nvSpPr>
        <p:spPr>
          <a:xfrm>
            <a:off x="2961742" y="2286000"/>
            <a:ext cx="3200400" cy="365760"/>
          </a:xfrm>
          <a:prstGeom prst="rect">
            <a:avLst/>
          </a:prstGeom>
          <a:noFill/>
          <a:ln/>
        </p:spPr>
        <p:txBody>
          <a:bodyPr wrap="square" lIns="0" tIns="0" rIns="0" bIns="0" rtlCol="0" anchor="t"/>
          <a:lstStyle/>
          <a:p>
            <a:pPr indent="0" marL="0">
              <a:buNone/>
            </a:pPr>
            <a:r>
              <a:rPr lang="en-US" sz="1600" b="1" dirty="0">
                <a:solidFill>
                  <a:schemeClr val="tx1"/>
                </a:solidFill>
              </a:rPr>
              <a:t>Ders notları</a:t>
            </a:r>
            <a:endParaRPr lang="en-US" sz="1600" dirty="0"/>
          </a:p>
        </p:txBody>
      </p:sp>
      <p:sp>
        <p:nvSpPr>
          <p:cNvPr id="12" name="Text 9"/>
          <p:cNvSpPr txBox="1"/>
          <p:nvPr/>
        </p:nvSpPr>
        <p:spPr>
          <a:xfrm>
            <a:off x="2961742" y="2697480"/>
            <a:ext cx="3200400" cy="640080"/>
          </a:xfrm>
          <a:prstGeom prst="rect">
            <a:avLst/>
          </a:prstGeom>
          <a:noFill/>
          <a:ln/>
        </p:spPr>
        <p:txBody>
          <a:bodyPr wrap="square" lIns="0" tIns="0" rIns="0" bIns="0" rtlCol="0" anchor="t"/>
          <a:lstStyle/>
          <a:p>
            <a:pPr indent="0" marL="0">
              <a:buNone/>
            </a:pPr>
            <a:r>
              <a:rPr lang="en-US" sz="1500" dirty="0">
                <a:solidFill>
                  <a:schemeClr val="tx2"/>
                </a:solidFill>
              </a:rPr>
              <a:t>Kısa maddeler, şemalar ve örnekler</a:t>
            </a:r>
            <a:endParaRPr lang="en-US" sz="1500" dirty="0"/>
          </a:p>
        </p:txBody>
      </p:sp>
      <p:sp>
        <p:nvSpPr>
          <p:cNvPr id="13" name="Text 10"/>
          <p:cNvSpPr txBox="1"/>
          <p:nvPr/>
        </p:nvSpPr>
        <p:spPr>
          <a:xfrm>
            <a:off x="1041502" y="4663440"/>
            <a:ext cx="5120640" cy="320040"/>
          </a:xfrm>
          <a:prstGeom prst="rect">
            <a:avLst/>
          </a:prstGeom>
          <a:noFill/>
          <a:ln/>
        </p:spPr>
        <p:txBody>
          <a:bodyPr wrap="square" lIns="0" tIns="0" rIns="0" bIns="0" rtlCol="0" anchor="t"/>
          <a:lstStyle/>
          <a:p>
            <a:pPr indent="0" marL="0">
              <a:buNone/>
            </a:pPr>
            <a:r>
              <a:rPr lang="en-US" sz="1600" b="1" dirty="0">
                <a:solidFill>
                  <a:schemeClr val="tx1"/>
                </a:solidFill>
              </a:rPr>
              <a:t>Özet</a:t>
            </a:r>
            <a:endParaRPr lang="en-US" sz="1600" dirty="0"/>
          </a:p>
        </p:txBody>
      </p:sp>
      <p:sp>
        <p:nvSpPr>
          <p:cNvPr id="14" name="Text 11"/>
          <p:cNvSpPr txBox="1"/>
          <p:nvPr/>
        </p:nvSpPr>
        <p:spPr>
          <a:xfrm>
            <a:off x="1041502" y="5029200"/>
            <a:ext cx="5120640" cy="365760"/>
          </a:xfrm>
          <a:prstGeom prst="rect">
            <a:avLst/>
          </a:prstGeom>
          <a:noFill/>
          <a:ln/>
        </p:spPr>
        <p:txBody>
          <a:bodyPr wrap="square" lIns="0" tIns="0" rIns="0" bIns="0" rtlCol="0" anchor="t"/>
          <a:lstStyle/>
          <a:p>
            <a:pPr indent="0" marL="0">
              <a:buNone/>
            </a:pPr>
            <a:r>
              <a:rPr lang="en-US" sz="1500" dirty="0">
                <a:solidFill>
                  <a:schemeClr val="tx2"/>
                </a:solidFill>
              </a:rPr>
              <a:t>Dersin sonunda 2–3 cümlelik kendi özetin</a:t>
            </a:r>
            <a:endParaRPr lang="en-US" sz="1500" dirty="0"/>
          </a:p>
        </p:txBody>
      </p:sp>
      <p:sp>
        <p:nvSpPr>
          <p:cNvPr id="15" name="Adım 1"/>
          <p:cNvSpPr/>
          <p:nvPr/>
        </p:nvSpPr>
        <p:spPr>
          <a:xfrm>
            <a:off x="6903720" y="2148840"/>
            <a:ext cx="438912" cy="438912"/>
          </a:xfrm>
          <a:prstGeom prst="ellipse">
            <a:avLst/>
          </a:prstGeom>
          <a:solidFill>
            <a:schemeClr val="accent1"/>
          </a:solidFill>
          <a:ln/>
        </p:spPr>
      </p:sp>
      <p:sp>
        <p:nvSpPr>
          <p:cNvPr id="16" name="Text 13"/>
          <p:cNvSpPr txBox="1"/>
          <p:nvPr/>
        </p:nvSpPr>
        <p:spPr>
          <a:xfrm>
            <a:off x="6903720" y="2148840"/>
            <a:ext cx="438912" cy="438912"/>
          </a:xfrm>
          <a:prstGeom prst="rect">
            <a:avLst/>
          </a:prstGeom>
          <a:noFill/>
          <a:ln/>
        </p:spPr>
        <p:txBody>
          <a:bodyPr wrap="square" lIns="0" tIns="0" rIns="0" bIns="0" rtlCol="0" anchor="ctr"/>
          <a:lstStyle/>
          <a:p>
            <a:pPr algn="ctr" indent="0" marL="0">
              <a:buNone/>
            </a:pPr>
            <a:r>
              <a:rPr lang="en-US" sz="1700" b="1" dirty="0">
                <a:solidFill>
                  <a:schemeClr val="tx1"/>
                </a:solidFill>
                <a:latin typeface="Century Schoolbook" pitchFamily="34" charset="0"/>
                <a:ea typeface="Century Schoolbook" pitchFamily="34" charset="-122"/>
                <a:cs typeface="Century Schoolbook" pitchFamily="34" charset="-120"/>
              </a:rPr>
              <a:t>1</a:t>
            </a:r>
            <a:endParaRPr lang="en-US" sz="1700" dirty="0"/>
          </a:p>
        </p:txBody>
      </p:sp>
      <p:sp>
        <p:nvSpPr>
          <p:cNvPr id="17" name="Text 14"/>
          <p:cNvSpPr txBox="1"/>
          <p:nvPr/>
        </p:nvSpPr>
        <p:spPr>
          <a:xfrm>
            <a:off x="7543800" y="2167128"/>
            <a:ext cx="3880714" cy="365760"/>
          </a:xfrm>
          <a:prstGeom prst="rect">
            <a:avLst/>
          </a:prstGeom>
          <a:noFill/>
          <a:ln/>
        </p:spPr>
        <p:txBody>
          <a:bodyPr wrap="square" lIns="0" tIns="0" rIns="0" bIns="0" rtlCol="0" anchor="t"/>
          <a:lstStyle/>
          <a:p>
            <a:pPr indent="0" marL="0">
              <a:buNone/>
            </a:pPr>
            <a:r>
              <a:rPr lang="en-US" sz="1900" b="1" dirty="0">
                <a:solidFill>
                  <a:schemeClr val="tx1"/>
                </a:solidFill>
                <a:latin typeface="Century Schoolbook" pitchFamily="34" charset="0"/>
                <a:ea typeface="Century Schoolbook" pitchFamily="34" charset="-122"/>
                <a:cs typeface="Century Schoolbook" pitchFamily="34" charset="-120"/>
              </a:rPr>
              <a:t>Derste</a:t>
            </a:r>
            <a:endParaRPr lang="en-US" sz="1900" dirty="0"/>
          </a:p>
        </p:txBody>
      </p:sp>
      <p:sp>
        <p:nvSpPr>
          <p:cNvPr id="18" name="Text 15"/>
          <p:cNvSpPr txBox="1"/>
          <p:nvPr/>
        </p:nvSpPr>
        <p:spPr>
          <a:xfrm>
            <a:off x="7543800" y="2560320"/>
            <a:ext cx="3880714" cy="640080"/>
          </a:xfrm>
          <a:prstGeom prst="rect">
            <a:avLst/>
          </a:prstGeom>
          <a:noFill/>
          <a:ln/>
        </p:spPr>
        <p:txBody>
          <a:bodyPr wrap="square" lIns="0" tIns="0" rIns="0" bIns="0" rtlCol="0" anchor="t"/>
          <a:lstStyle/>
          <a:p>
            <a:pPr indent="0" marL="0">
              <a:buNone/>
            </a:pPr>
            <a:r>
              <a:rPr lang="en-US" sz="1500" dirty="0">
                <a:solidFill>
                  <a:schemeClr val="tx2"/>
                </a:solidFill>
              </a:rPr>
              <a:t>Sağ sütuna notlarını al.</a:t>
            </a:r>
            <a:endParaRPr lang="en-US" sz="1500" dirty="0"/>
          </a:p>
        </p:txBody>
      </p:sp>
      <p:sp>
        <p:nvSpPr>
          <p:cNvPr id="19" name="Adım 2"/>
          <p:cNvSpPr/>
          <p:nvPr/>
        </p:nvSpPr>
        <p:spPr>
          <a:xfrm>
            <a:off x="6903720" y="3337560"/>
            <a:ext cx="438912" cy="438912"/>
          </a:xfrm>
          <a:prstGeom prst="ellipse">
            <a:avLst/>
          </a:prstGeom>
          <a:solidFill>
            <a:schemeClr val="accent1"/>
          </a:solidFill>
          <a:ln/>
        </p:spPr>
      </p:sp>
      <p:sp>
        <p:nvSpPr>
          <p:cNvPr id="20" name="Text 17"/>
          <p:cNvSpPr txBox="1"/>
          <p:nvPr/>
        </p:nvSpPr>
        <p:spPr>
          <a:xfrm>
            <a:off x="6903720" y="3337560"/>
            <a:ext cx="438912" cy="438912"/>
          </a:xfrm>
          <a:prstGeom prst="rect">
            <a:avLst/>
          </a:prstGeom>
          <a:noFill/>
          <a:ln/>
        </p:spPr>
        <p:txBody>
          <a:bodyPr wrap="square" lIns="0" tIns="0" rIns="0" bIns="0" rtlCol="0" anchor="ctr"/>
          <a:lstStyle/>
          <a:p>
            <a:pPr algn="ctr" indent="0" marL="0">
              <a:buNone/>
            </a:pPr>
            <a:r>
              <a:rPr lang="en-US" sz="1700" b="1" dirty="0">
                <a:solidFill>
                  <a:schemeClr val="tx1"/>
                </a:solidFill>
                <a:latin typeface="Century Schoolbook" pitchFamily="34" charset="0"/>
                <a:ea typeface="Century Schoolbook" pitchFamily="34" charset="-122"/>
                <a:cs typeface="Century Schoolbook" pitchFamily="34" charset="-120"/>
              </a:rPr>
              <a:t>2</a:t>
            </a:r>
            <a:endParaRPr lang="en-US" sz="1700" dirty="0"/>
          </a:p>
        </p:txBody>
      </p:sp>
      <p:sp>
        <p:nvSpPr>
          <p:cNvPr id="21" name="Text 18"/>
          <p:cNvSpPr txBox="1"/>
          <p:nvPr/>
        </p:nvSpPr>
        <p:spPr>
          <a:xfrm>
            <a:off x="7543800" y="3355848"/>
            <a:ext cx="3880714" cy="365760"/>
          </a:xfrm>
          <a:prstGeom prst="rect">
            <a:avLst/>
          </a:prstGeom>
          <a:noFill/>
          <a:ln/>
        </p:spPr>
        <p:txBody>
          <a:bodyPr wrap="square" lIns="0" tIns="0" rIns="0" bIns="0" rtlCol="0" anchor="t"/>
          <a:lstStyle/>
          <a:p>
            <a:pPr indent="0" marL="0">
              <a:buNone/>
            </a:pPr>
            <a:r>
              <a:rPr lang="en-US" sz="1900" b="1" dirty="0">
                <a:solidFill>
                  <a:schemeClr val="tx1"/>
                </a:solidFill>
                <a:latin typeface="Century Schoolbook" pitchFamily="34" charset="0"/>
                <a:ea typeface="Century Schoolbook" pitchFamily="34" charset="-122"/>
                <a:cs typeface="Century Schoolbook" pitchFamily="34" charset="-120"/>
              </a:rPr>
              <a:t>Aynı gün</a:t>
            </a:r>
            <a:endParaRPr lang="en-US" sz="1900" dirty="0"/>
          </a:p>
        </p:txBody>
      </p:sp>
      <p:sp>
        <p:nvSpPr>
          <p:cNvPr id="22" name="Text 19"/>
          <p:cNvSpPr txBox="1"/>
          <p:nvPr/>
        </p:nvSpPr>
        <p:spPr>
          <a:xfrm>
            <a:off x="7543800" y="3749040"/>
            <a:ext cx="3880714" cy="640080"/>
          </a:xfrm>
          <a:prstGeom prst="rect">
            <a:avLst/>
          </a:prstGeom>
          <a:noFill/>
          <a:ln/>
        </p:spPr>
        <p:txBody>
          <a:bodyPr wrap="square" lIns="0" tIns="0" rIns="0" bIns="0" rtlCol="0" anchor="t"/>
          <a:lstStyle/>
          <a:p>
            <a:pPr indent="0" marL="0">
              <a:buNone/>
            </a:pPr>
            <a:r>
              <a:rPr lang="en-US" sz="1500" dirty="0">
                <a:solidFill>
                  <a:schemeClr val="tx2"/>
                </a:solidFill>
              </a:rPr>
              <a:t>Sol sütuna anahtar kelimeleri ve soruları yaz; en alta özetini ekle.</a:t>
            </a:r>
            <a:endParaRPr lang="en-US" sz="1500" dirty="0"/>
          </a:p>
        </p:txBody>
      </p:sp>
      <p:sp>
        <p:nvSpPr>
          <p:cNvPr id="23" name="Adım 3"/>
          <p:cNvSpPr/>
          <p:nvPr/>
        </p:nvSpPr>
        <p:spPr>
          <a:xfrm>
            <a:off x="6903720" y="4526280"/>
            <a:ext cx="438912" cy="438912"/>
          </a:xfrm>
          <a:prstGeom prst="ellipse">
            <a:avLst/>
          </a:prstGeom>
          <a:solidFill>
            <a:schemeClr val="accent1"/>
          </a:solidFill>
          <a:ln/>
        </p:spPr>
      </p:sp>
      <p:sp>
        <p:nvSpPr>
          <p:cNvPr id="24" name="Text 21"/>
          <p:cNvSpPr txBox="1"/>
          <p:nvPr/>
        </p:nvSpPr>
        <p:spPr>
          <a:xfrm>
            <a:off x="6903720" y="4526280"/>
            <a:ext cx="438912" cy="438912"/>
          </a:xfrm>
          <a:prstGeom prst="rect">
            <a:avLst/>
          </a:prstGeom>
          <a:noFill/>
          <a:ln/>
        </p:spPr>
        <p:txBody>
          <a:bodyPr wrap="square" lIns="0" tIns="0" rIns="0" bIns="0" rtlCol="0" anchor="ctr"/>
          <a:lstStyle/>
          <a:p>
            <a:pPr algn="ctr" indent="0" marL="0">
              <a:buNone/>
            </a:pPr>
            <a:r>
              <a:rPr lang="en-US" sz="1700" b="1" dirty="0">
                <a:solidFill>
                  <a:schemeClr val="tx1"/>
                </a:solidFill>
                <a:latin typeface="Century Schoolbook" pitchFamily="34" charset="0"/>
                <a:ea typeface="Century Schoolbook" pitchFamily="34" charset="-122"/>
                <a:cs typeface="Century Schoolbook" pitchFamily="34" charset="-120"/>
              </a:rPr>
              <a:t>3</a:t>
            </a:r>
            <a:endParaRPr lang="en-US" sz="1700" dirty="0"/>
          </a:p>
        </p:txBody>
      </p:sp>
      <p:sp>
        <p:nvSpPr>
          <p:cNvPr id="25" name="Text 22"/>
          <p:cNvSpPr txBox="1"/>
          <p:nvPr/>
        </p:nvSpPr>
        <p:spPr>
          <a:xfrm>
            <a:off x="7543800" y="4544568"/>
            <a:ext cx="3880714" cy="365760"/>
          </a:xfrm>
          <a:prstGeom prst="rect">
            <a:avLst/>
          </a:prstGeom>
          <a:noFill/>
          <a:ln/>
        </p:spPr>
        <p:txBody>
          <a:bodyPr wrap="square" lIns="0" tIns="0" rIns="0" bIns="0" rtlCol="0" anchor="t"/>
          <a:lstStyle/>
          <a:p>
            <a:pPr indent="0" marL="0">
              <a:buNone/>
            </a:pPr>
            <a:r>
              <a:rPr lang="en-US" sz="1900" b="1" dirty="0">
                <a:solidFill>
                  <a:schemeClr val="tx1"/>
                </a:solidFill>
                <a:latin typeface="Century Schoolbook" pitchFamily="34" charset="0"/>
                <a:ea typeface="Century Schoolbook" pitchFamily="34" charset="-122"/>
                <a:cs typeface="Century Schoolbook" pitchFamily="34" charset="-120"/>
              </a:rPr>
              <a:t>Tekrarda</a:t>
            </a:r>
            <a:endParaRPr lang="en-US" sz="1900" dirty="0"/>
          </a:p>
        </p:txBody>
      </p:sp>
      <p:sp>
        <p:nvSpPr>
          <p:cNvPr id="26" name="Text 23"/>
          <p:cNvSpPr txBox="1"/>
          <p:nvPr/>
        </p:nvSpPr>
        <p:spPr>
          <a:xfrm>
            <a:off x="7543800" y="4937760"/>
            <a:ext cx="3880714" cy="640080"/>
          </a:xfrm>
          <a:prstGeom prst="rect">
            <a:avLst/>
          </a:prstGeom>
          <a:noFill/>
          <a:ln/>
        </p:spPr>
        <p:txBody>
          <a:bodyPr wrap="square" lIns="0" tIns="0" rIns="0" bIns="0" rtlCol="0" anchor="t"/>
          <a:lstStyle/>
          <a:p>
            <a:pPr indent="0" marL="0">
              <a:buNone/>
            </a:pPr>
            <a:r>
              <a:rPr lang="en-US" sz="1500" dirty="0">
                <a:solidFill>
                  <a:schemeClr val="tx2"/>
                </a:solidFill>
              </a:rPr>
              <a:t>Sağ tarafı kapat, soldaki sorulara cevap ver.</a:t>
            </a:r>
            <a:endParaRPr lang="en-US" sz="15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Century Schoolbook" pitchFamily="34" charset="0"/>
                <a:ea typeface="Century Schoolbook" pitchFamily="34" charset="-122"/>
                <a:cs typeface="Century Schoolbook" pitchFamily="34" charset="-120"/>
              </a:rPr>
              <a:t>Yeni nesil sorular: 5 adım</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SORU ÇÖZME</a:t>
            </a:r>
            <a:endParaRPr lang="en-US" sz="1400" dirty="0"/>
          </a:p>
        </p:txBody>
      </p:sp>
      <p:sp>
        <p:nvSpPr>
          <p:cNvPr id="5" name="Dikkatle oku"/>
          <p:cNvSpPr/>
          <p:nvPr/>
        </p:nvSpPr>
        <p:spPr>
          <a:xfrm>
            <a:off x="812902" y="2011680"/>
            <a:ext cx="10565892" cy="640080"/>
          </a:xfrm>
          <a:prstGeom prst="roundRect">
            <a:avLst>
              <a:gd name="adj" fmla="val 25714"/>
            </a:avLst>
          </a:prstGeom>
          <a:solidFill>
            <a:schemeClr val="bg1"/>
          </a:solidFill>
          <a:ln/>
        </p:spPr>
      </p:sp>
      <p:sp>
        <p:nvSpPr>
          <p:cNvPr id="6" name="Adım 1"/>
          <p:cNvSpPr/>
          <p:nvPr/>
        </p:nvSpPr>
        <p:spPr>
          <a:xfrm>
            <a:off x="1041502" y="2112264"/>
            <a:ext cx="438912" cy="438912"/>
          </a:xfrm>
          <a:prstGeom prst="ellipse">
            <a:avLst/>
          </a:prstGeom>
          <a:solidFill>
            <a:schemeClr val="accent1"/>
          </a:solidFill>
          <a:ln/>
        </p:spPr>
      </p:sp>
      <p:sp>
        <p:nvSpPr>
          <p:cNvPr id="7" name="Text 4"/>
          <p:cNvSpPr txBox="1"/>
          <p:nvPr/>
        </p:nvSpPr>
        <p:spPr>
          <a:xfrm>
            <a:off x="1041502" y="2112264"/>
            <a:ext cx="438912" cy="438912"/>
          </a:xfrm>
          <a:prstGeom prst="rect">
            <a:avLst/>
          </a:prstGeom>
          <a:noFill/>
          <a:ln/>
        </p:spPr>
        <p:txBody>
          <a:bodyPr wrap="square" lIns="0" tIns="0" rIns="0" bIns="0" rtlCol="0" anchor="ctr"/>
          <a:lstStyle/>
          <a:p>
            <a:pPr algn="ctr" indent="0" marL="0">
              <a:buNone/>
            </a:pPr>
            <a:r>
              <a:rPr lang="en-US" sz="1700" b="1" dirty="0">
                <a:solidFill>
                  <a:schemeClr val="tx1"/>
                </a:solidFill>
                <a:latin typeface="Century Schoolbook" pitchFamily="34" charset="0"/>
                <a:ea typeface="Century Schoolbook" pitchFamily="34" charset="-122"/>
                <a:cs typeface="Century Schoolbook" pitchFamily="34" charset="-120"/>
              </a:rPr>
              <a:t>1</a:t>
            </a:r>
            <a:endParaRPr lang="en-US" sz="1700" dirty="0"/>
          </a:p>
        </p:txBody>
      </p:sp>
      <p:sp>
        <p:nvSpPr>
          <p:cNvPr id="8" name="Text 5"/>
          <p:cNvSpPr txBox="1"/>
          <p:nvPr/>
        </p:nvSpPr>
        <p:spPr>
          <a:xfrm>
            <a:off x="1727302" y="2011680"/>
            <a:ext cx="2377440" cy="640080"/>
          </a:xfrm>
          <a:prstGeom prst="rect">
            <a:avLst/>
          </a:prstGeom>
          <a:noFill/>
          <a:ln/>
        </p:spPr>
        <p:txBody>
          <a:bodyPr wrap="square" lIns="0" tIns="0" rIns="0" bIns="0" rtlCol="0" anchor="ctr"/>
          <a:lstStyle/>
          <a:p>
            <a:pPr indent="0" marL="0">
              <a:buNone/>
            </a:pPr>
            <a:r>
              <a:rPr lang="en-US" sz="1900" b="1" dirty="0">
                <a:solidFill>
                  <a:schemeClr val="tx1"/>
                </a:solidFill>
                <a:latin typeface="Century Schoolbook" pitchFamily="34" charset="0"/>
                <a:ea typeface="Century Schoolbook" pitchFamily="34" charset="-122"/>
                <a:cs typeface="Century Schoolbook" pitchFamily="34" charset="-120"/>
              </a:rPr>
              <a:t>Dikkatle oku</a:t>
            </a:r>
            <a:endParaRPr lang="en-US" sz="1900" dirty="0"/>
          </a:p>
        </p:txBody>
      </p:sp>
      <p:sp>
        <p:nvSpPr>
          <p:cNvPr id="9" name="Text 6"/>
          <p:cNvSpPr txBox="1"/>
          <p:nvPr/>
        </p:nvSpPr>
        <p:spPr>
          <a:xfrm>
            <a:off x="4196182" y="2011680"/>
            <a:ext cx="6954012" cy="640080"/>
          </a:xfrm>
          <a:prstGeom prst="rect">
            <a:avLst/>
          </a:prstGeom>
          <a:noFill/>
          <a:ln/>
        </p:spPr>
        <p:txBody>
          <a:bodyPr wrap="square" lIns="0" tIns="0" rIns="0" bIns="0" rtlCol="0" anchor="ctr"/>
          <a:lstStyle/>
          <a:p>
            <a:pPr indent="0" marL="0">
              <a:buNone/>
            </a:pPr>
            <a:r>
              <a:rPr lang="en-US" sz="1600" dirty="0">
                <a:solidFill>
                  <a:schemeClr val="tx2"/>
                </a:solidFill>
              </a:rPr>
              <a:t>Önce soru kökünü oku: Senden tam olarak ne isteniyor?</a:t>
            </a:r>
            <a:endParaRPr lang="en-US" sz="1600" dirty="0"/>
          </a:p>
        </p:txBody>
      </p:sp>
      <p:sp>
        <p:nvSpPr>
          <p:cNvPr id="10" name="İşaretle"/>
          <p:cNvSpPr/>
          <p:nvPr/>
        </p:nvSpPr>
        <p:spPr>
          <a:xfrm>
            <a:off x="812902" y="2761488"/>
            <a:ext cx="10565892" cy="640080"/>
          </a:xfrm>
          <a:prstGeom prst="roundRect">
            <a:avLst>
              <a:gd name="adj" fmla="val 25714"/>
            </a:avLst>
          </a:prstGeom>
          <a:solidFill>
            <a:schemeClr val="bg1"/>
          </a:solidFill>
          <a:ln/>
        </p:spPr>
      </p:sp>
      <p:sp>
        <p:nvSpPr>
          <p:cNvPr id="11" name="Adım 2"/>
          <p:cNvSpPr/>
          <p:nvPr/>
        </p:nvSpPr>
        <p:spPr>
          <a:xfrm>
            <a:off x="1041502" y="2862072"/>
            <a:ext cx="438912" cy="438912"/>
          </a:xfrm>
          <a:prstGeom prst="ellipse">
            <a:avLst/>
          </a:prstGeom>
          <a:solidFill>
            <a:schemeClr val="accent1"/>
          </a:solidFill>
          <a:ln/>
        </p:spPr>
      </p:sp>
      <p:sp>
        <p:nvSpPr>
          <p:cNvPr id="12" name="Text 9"/>
          <p:cNvSpPr txBox="1"/>
          <p:nvPr/>
        </p:nvSpPr>
        <p:spPr>
          <a:xfrm>
            <a:off x="1041502" y="2862072"/>
            <a:ext cx="438912" cy="438912"/>
          </a:xfrm>
          <a:prstGeom prst="rect">
            <a:avLst/>
          </a:prstGeom>
          <a:noFill/>
          <a:ln/>
        </p:spPr>
        <p:txBody>
          <a:bodyPr wrap="square" lIns="0" tIns="0" rIns="0" bIns="0" rtlCol="0" anchor="ctr"/>
          <a:lstStyle/>
          <a:p>
            <a:pPr algn="ctr" indent="0" marL="0">
              <a:buNone/>
            </a:pPr>
            <a:r>
              <a:rPr lang="en-US" sz="1700" b="1" dirty="0">
                <a:solidFill>
                  <a:schemeClr val="tx1"/>
                </a:solidFill>
                <a:latin typeface="Century Schoolbook" pitchFamily="34" charset="0"/>
                <a:ea typeface="Century Schoolbook" pitchFamily="34" charset="-122"/>
                <a:cs typeface="Century Schoolbook" pitchFamily="34" charset="-120"/>
              </a:rPr>
              <a:t>2</a:t>
            </a:r>
            <a:endParaRPr lang="en-US" sz="1700" dirty="0"/>
          </a:p>
        </p:txBody>
      </p:sp>
      <p:sp>
        <p:nvSpPr>
          <p:cNvPr id="13" name="Text 10"/>
          <p:cNvSpPr txBox="1"/>
          <p:nvPr/>
        </p:nvSpPr>
        <p:spPr>
          <a:xfrm>
            <a:off x="1727302" y="2761488"/>
            <a:ext cx="2377440" cy="640080"/>
          </a:xfrm>
          <a:prstGeom prst="rect">
            <a:avLst/>
          </a:prstGeom>
          <a:noFill/>
          <a:ln/>
        </p:spPr>
        <p:txBody>
          <a:bodyPr wrap="square" lIns="0" tIns="0" rIns="0" bIns="0" rtlCol="0" anchor="ctr"/>
          <a:lstStyle/>
          <a:p>
            <a:pPr indent="0" marL="0">
              <a:buNone/>
            </a:pPr>
            <a:r>
              <a:rPr lang="en-US" sz="1900" b="1" dirty="0">
                <a:solidFill>
                  <a:schemeClr val="tx1"/>
                </a:solidFill>
                <a:latin typeface="Century Schoolbook" pitchFamily="34" charset="0"/>
                <a:ea typeface="Century Schoolbook" pitchFamily="34" charset="-122"/>
                <a:cs typeface="Century Schoolbook" pitchFamily="34" charset="-120"/>
              </a:rPr>
              <a:t>İşaretle</a:t>
            </a:r>
            <a:endParaRPr lang="en-US" sz="1900" dirty="0"/>
          </a:p>
        </p:txBody>
      </p:sp>
      <p:sp>
        <p:nvSpPr>
          <p:cNvPr id="14" name="Text 11"/>
          <p:cNvSpPr txBox="1"/>
          <p:nvPr/>
        </p:nvSpPr>
        <p:spPr>
          <a:xfrm>
            <a:off x="4196182" y="2761488"/>
            <a:ext cx="6954012" cy="640080"/>
          </a:xfrm>
          <a:prstGeom prst="rect">
            <a:avLst/>
          </a:prstGeom>
          <a:noFill/>
          <a:ln/>
        </p:spPr>
        <p:txBody>
          <a:bodyPr wrap="square" lIns="0" tIns="0" rIns="0" bIns="0" rtlCol="0" anchor="ctr"/>
          <a:lstStyle/>
          <a:p>
            <a:pPr indent="0" marL="0">
              <a:buNone/>
            </a:pPr>
            <a:r>
              <a:rPr lang="en-US" sz="1600" dirty="0">
                <a:solidFill>
                  <a:schemeClr val="tx2"/>
                </a:solidFill>
              </a:rPr>
              <a:t>Sayıları, tabloları ve anahtar kelimeleri işaretle.</a:t>
            </a:r>
            <a:endParaRPr lang="en-US" sz="1600" dirty="0"/>
          </a:p>
        </p:txBody>
      </p:sp>
      <p:sp>
        <p:nvSpPr>
          <p:cNvPr id="15" name="Planla"/>
          <p:cNvSpPr/>
          <p:nvPr/>
        </p:nvSpPr>
        <p:spPr>
          <a:xfrm>
            <a:off x="812902" y="3511296"/>
            <a:ext cx="10565892" cy="640080"/>
          </a:xfrm>
          <a:prstGeom prst="roundRect">
            <a:avLst>
              <a:gd name="adj" fmla="val 25714"/>
            </a:avLst>
          </a:prstGeom>
          <a:solidFill>
            <a:schemeClr val="bg1"/>
          </a:solidFill>
          <a:ln/>
        </p:spPr>
      </p:sp>
      <p:sp>
        <p:nvSpPr>
          <p:cNvPr id="16" name="Adım 3"/>
          <p:cNvSpPr/>
          <p:nvPr/>
        </p:nvSpPr>
        <p:spPr>
          <a:xfrm>
            <a:off x="1041502" y="3611880"/>
            <a:ext cx="438912" cy="438912"/>
          </a:xfrm>
          <a:prstGeom prst="ellipse">
            <a:avLst/>
          </a:prstGeom>
          <a:solidFill>
            <a:schemeClr val="accent1"/>
          </a:solidFill>
          <a:ln/>
        </p:spPr>
      </p:sp>
      <p:sp>
        <p:nvSpPr>
          <p:cNvPr id="17" name="Text 14"/>
          <p:cNvSpPr txBox="1"/>
          <p:nvPr/>
        </p:nvSpPr>
        <p:spPr>
          <a:xfrm>
            <a:off x="1041502" y="3611880"/>
            <a:ext cx="438912" cy="438912"/>
          </a:xfrm>
          <a:prstGeom prst="rect">
            <a:avLst/>
          </a:prstGeom>
          <a:noFill/>
          <a:ln/>
        </p:spPr>
        <p:txBody>
          <a:bodyPr wrap="square" lIns="0" tIns="0" rIns="0" bIns="0" rtlCol="0" anchor="ctr"/>
          <a:lstStyle/>
          <a:p>
            <a:pPr algn="ctr" indent="0" marL="0">
              <a:buNone/>
            </a:pPr>
            <a:r>
              <a:rPr lang="en-US" sz="1700" b="1" dirty="0">
                <a:solidFill>
                  <a:schemeClr val="tx1"/>
                </a:solidFill>
                <a:latin typeface="Century Schoolbook" pitchFamily="34" charset="0"/>
                <a:ea typeface="Century Schoolbook" pitchFamily="34" charset="-122"/>
                <a:cs typeface="Century Schoolbook" pitchFamily="34" charset="-120"/>
              </a:rPr>
              <a:t>3</a:t>
            </a:r>
            <a:endParaRPr lang="en-US" sz="1700" dirty="0"/>
          </a:p>
        </p:txBody>
      </p:sp>
      <p:sp>
        <p:nvSpPr>
          <p:cNvPr id="18" name="Text 15"/>
          <p:cNvSpPr txBox="1"/>
          <p:nvPr/>
        </p:nvSpPr>
        <p:spPr>
          <a:xfrm>
            <a:off x="1727302" y="3511296"/>
            <a:ext cx="2377440" cy="640080"/>
          </a:xfrm>
          <a:prstGeom prst="rect">
            <a:avLst/>
          </a:prstGeom>
          <a:noFill/>
          <a:ln/>
        </p:spPr>
        <p:txBody>
          <a:bodyPr wrap="square" lIns="0" tIns="0" rIns="0" bIns="0" rtlCol="0" anchor="ctr"/>
          <a:lstStyle/>
          <a:p>
            <a:pPr indent="0" marL="0">
              <a:buNone/>
            </a:pPr>
            <a:r>
              <a:rPr lang="en-US" sz="1900" b="1" dirty="0">
                <a:solidFill>
                  <a:schemeClr val="tx1"/>
                </a:solidFill>
                <a:latin typeface="Century Schoolbook" pitchFamily="34" charset="0"/>
                <a:ea typeface="Century Schoolbook" pitchFamily="34" charset="-122"/>
                <a:cs typeface="Century Schoolbook" pitchFamily="34" charset="-120"/>
              </a:rPr>
              <a:t>Planla</a:t>
            </a:r>
            <a:endParaRPr lang="en-US" sz="1900" dirty="0"/>
          </a:p>
        </p:txBody>
      </p:sp>
      <p:sp>
        <p:nvSpPr>
          <p:cNvPr id="19" name="Text 16"/>
          <p:cNvSpPr txBox="1"/>
          <p:nvPr/>
        </p:nvSpPr>
        <p:spPr>
          <a:xfrm>
            <a:off x="4196182" y="3511296"/>
            <a:ext cx="6954012" cy="640080"/>
          </a:xfrm>
          <a:prstGeom prst="rect">
            <a:avLst/>
          </a:prstGeom>
          <a:noFill/>
          <a:ln/>
        </p:spPr>
        <p:txBody>
          <a:bodyPr wrap="square" lIns="0" tIns="0" rIns="0" bIns="0" rtlCol="0" anchor="ctr"/>
          <a:lstStyle/>
          <a:p>
            <a:pPr indent="0" marL="0">
              <a:buNone/>
            </a:pPr>
            <a:r>
              <a:rPr lang="en-US" sz="1600" dirty="0">
                <a:solidFill>
                  <a:schemeClr val="tx2"/>
                </a:solidFill>
              </a:rPr>
              <a:t>Hangi bilgiyi ya da kuralı kullanacağına karar ver.</a:t>
            </a:r>
            <a:endParaRPr lang="en-US" sz="1600" dirty="0"/>
          </a:p>
        </p:txBody>
      </p:sp>
      <p:sp>
        <p:nvSpPr>
          <p:cNvPr id="20" name="Çöz"/>
          <p:cNvSpPr/>
          <p:nvPr/>
        </p:nvSpPr>
        <p:spPr>
          <a:xfrm>
            <a:off x="812902" y="4261104"/>
            <a:ext cx="10565892" cy="640080"/>
          </a:xfrm>
          <a:prstGeom prst="roundRect">
            <a:avLst>
              <a:gd name="adj" fmla="val 25714"/>
            </a:avLst>
          </a:prstGeom>
          <a:solidFill>
            <a:schemeClr val="bg1"/>
          </a:solidFill>
          <a:ln/>
        </p:spPr>
      </p:sp>
      <p:sp>
        <p:nvSpPr>
          <p:cNvPr id="21" name="Adım 4"/>
          <p:cNvSpPr/>
          <p:nvPr/>
        </p:nvSpPr>
        <p:spPr>
          <a:xfrm>
            <a:off x="1041502" y="4361688"/>
            <a:ext cx="438912" cy="438912"/>
          </a:xfrm>
          <a:prstGeom prst="ellipse">
            <a:avLst/>
          </a:prstGeom>
          <a:solidFill>
            <a:schemeClr val="accent1"/>
          </a:solidFill>
          <a:ln/>
        </p:spPr>
      </p:sp>
      <p:sp>
        <p:nvSpPr>
          <p:cNvPr id="22" name="Text 19"/>
          <p:cNvSpPr txBox="1"/>
          <p:nvPr/>
        </p:nvSpPr>
        <p:spPr>
          <a:xfrm>
            <a:off x="1041502" y="4361688"/>
            <a:ext cx="438912" cy="438912"/>
          </a:xfrm>
          <a:prstGeom prst="rect">
            <a:avLst/>
          </a:prstGeom>
          <a:noFill/>
          <a:ln/>
        </p:spPr>
        <p:txBody>
          <a:bodyPr wrap="square" lIns="0" tIns="0" rIns="0" bIns="0" rtlCol="0" anchor="ctr"/>
          <a:lstStyle/>
          <a:p>
            <a:pPr algn="ctr" indent="0" marL="0">
              <a:buNone/>
            </a:pPr>
            <a:r>
              <a:rPr lang="en-US" sz="1700" b="1" dirty="0">
                <a:solidFill>
                  <a:schemeClr val="tx1"/>
                </a:solidFill>
                <a:latin typeface="Century Schoolbook" pitchFamily="34" charset="0"/>
                <a:ea typeface="Century Schoolbook" pitchFamily="34" charset="-122"/>
                <a:cs typeface="Century Schoolbook" pitchFamily="34" charset="-120"/>
              </a:rPr>
              <a:t>4</a:t>
            </a:r>
            <a:endParaRPr lang="en-US" sz="1700" dirty="0"/>
          </a:p>
        </p:txBody>
      </p:sp>
      <p:sp>
        <p:nvSpPr>
          <p:cNvPr id="23" name="Text 20"/>
          <p:cNvSpPr txBox="1"/>
          <p:nvPr/>
        </p:nvSpPr>
        <p:spPr>
          <a:xfrm>
            <a:off x="1727302" y="4261104"/>
            <a:ext cx="2377440" cy="640080"/>
          </a:xfrm>
          <a:prstGeom prst="rect">
            <a:avLst/>
          </a:prstGeom>
          <a:noFill/>
          <a:ln/>
        </p:spPr>
        <p:txBody>
          <a:bodyPr wrap="square" lIns="0" tIns="0" rIns="0" bIns="0" rtlCol="0" anchor="ctr"/>
          <a:lstStyle/>
          <a:p>
            <a:pPr indent="0" marL="0">
              <a:buNone/>
            </a:pPr>
            <a:r>
              <a:rPr lang="en-US" sz="1900" b="1" dirty="0">
                <a:solidFill>
                  <a:schemeClr val="tx1"/>
                </a:solidFill>
                <a:latin typeface="Century Schoolbook" pitchFamily="34" charset="0"/>
                <a:ea typeface="Century Schoolbook" pitchFamily="34" charset="-122"/>
                <a:cs typeface="Century Schoolbook" pitchFamily="34" charset="-120"/>
              </a:rPr>
              <a:t>Çöz</a:t>
            </a:r>
            <a:endParaRPr lang="en-US" sz="1900" dirty="0"/>
          </a:p>
        </p:txBody>
      </p:sp>
      <p:sp>
        <p:nvSpPr>
          <p:cNvPr id="24" name="Text 21"/>
          <p:cNvSpPr txBox="1"/>
          <p:nvPr/>
        </p:nvSpPr>
        <p:spPr>
          <a:xfrm>
            <a:off x="4196182" y="4261104"/>
            <a:ext cx="6954012" cy="640080"/>
          </a:xfrm>
          <a:prstGeom prst="rect">
            <a:avLst/>
          </a:prstGeom>
          <a:noFill/>
          <a:ln/>
        </p:spPr>
        <p:txBody>
          <a:bodyPr wrap="square" lIns="0" tIns="0" rIns="0" bIns="0" rtlCol="0" anchor="ctr"/>
          <a:lstStyle/>
          <a:p>
            <a:pPr indent="0" marL="0">
              <a:buNone/>
            </a:pPr>
            <a:r>
              <a:rPr lang="en-US" sz="1600" dirty="0">
                <a:solidFill>
                  <a:schemeClr val="tx2"/>
                </a:solidFill>
              </a:rPr>
              <a:t>Adım adım ilerle, işlemlerini düzenli yaz.</a:t>
            </a:r>
            <a:endParaRPr lang="en-US" sz="1600" dirty="0"/>
          </a:p>
        </p:txBody>
      </p:sp>
      <p:sp>
        <p:nvSpPr>
          <p:cNvPr id="25" name="Kontrol et"/>
          <p:cNvSpPr/>
          <p:nvPr/>
        </p:nvSpPr>
        <p:spPr>
          <a:xfrm>
            <a:off x="812902" y="5010912"/>
            <a:ext cx="10565892" cy="640080"/>
          </a:xfrm>
          <a:prstGeom prst="roundRect">
            <a:avLst>
              <a:gd name="adj" fmla="val 25714"/>
            </a:avLst>
          </a:prstGeom>
          <a:solidFill>
            <a:schemeClr val="bg1"/>
          </a:solidFill>
          <a:ln/>
        </p:spPr>
      </p:sp>
      <p:sp>
        <p:nvSpPr>
          <p:cNvPr id="26" name="Adım 5"/>
          <p:cNvSpPr/>
          <p:nvPr/>
        </p:nvSpPr>
        <p:spPr>
          <a:xfrm>
            <a:off x="1041502" y="5111496"/>
            <a:ext cx="438912" cy="438912"/>
          </a:xfrm>
          <a:prstGeom prst="ellipse">
            <a:avLst/>
          </a:prstGeom>
          <a:solidFill>
            <a:schemeClr val="accent1"/>
          </a:solidFill>
          <a:ln/>
        </p:spPr>
      </p:sp>
      <p:sp>
        <p:nvSpPr>
          <p:cNvPr id="27" name="Text 24"/>
          <p:cNvSpPr txBox="1"/>
          <p:nvPr/>
        </p:nvSpPr>
        <p:spPr>
          <a:xfrm>
            <a:off x="1041502" y="5111496"/>
            <a:ext cx="438912" cy="438912"/>
          </a:xfrm>
          <a:prstGeom prst="rect">
            <a:avLst/>
          </a:prstGeom>
          <a:noFill/>
          <a:ln/>
        </p:spPr>
        <p:txBody>
          <a:bodyPr wrap="square" lIns="0" tIns="0" rIns="0" bIns="0" rtlCol="0" anchor="ctr"/>
          <a:lstStyle/>
          <a:p>
            <a:pPr algn="ctr" indent="0" marL="0">
              <a:buNone/>
            </a:pPr>
            <a:r>
              <a:rPr lang="en-US" sz="1700" b="1" dirty="0">
                <a:solidFill>
                  <a:schemeClr val="tx1"/>
                </a:solidFill>
                <a:latin typeface="Century Schoolbook" pitchFamily="34" charset="0"/>
                <a:ea typeface="Century Schoolbook" pitchFamily="34" charset="-122"/>
                <a:cs typeface="Century Schoolbook" pitchFamily="34" charset="-120"/>
              </a:rPr>
              <a:t>5</a:t>
            </a:r>
            <a:endParaRPr lang="en-US" sz="1700" dirty="0"/>
          </a:p>
        </p:txBody>
      </p:sp>
      <p:sp>
        <p:nvSpPr>
          <p:cNvPr id="28" name="Text 25"/>
          <p:cNvSpPr txBox="1"/>
          <p:nvPr/>
        </p:nvSpPr>
        <p:spPr>
          <a:xfrm>
            <a:off x="1727302" y="5010912"/>
            <a:ext cx="2377440" cy="640080"/>
          </a:xfrm>
          <a:prstGeom prst="rect">
            <a:avLst/>
          </a:prstGeom>
          <a:noFill/>
          <a:ln/>
        </p:spPr>
        <p:txBody>
          <a:bodyPr wrap="square" lIns="0" tIns="0" rIns="0" bIns="0" rtlCol="0" anchor="ctr"/>
          <a:lstStyle/>
          <a:p>
            <a:pPr indent="0" marL="0">
              <a:buNone/>
            </a:pPr>
            <a:r>
              <a:rPr lang="en-US" sz="1900" b="1" dirty="0">
                <a:solidFill>
                  <a:schemeClr val="tx1"/>
                </a:solidFill>
                <a:latin typeface="Century Schoolbook" pitchFamily="34" charset="0"/>
                <a:ea typeface="Century Schoolbook" pitchFamily="34" charset="-122"/>
                <a:cs typeface="Century Schoolbook" pitchFamily="34" charset="-120"/>
              </a:rPr>
              <a:t>Kontrol et</a:t>
            </a:r>
            <a:endParaRPr lang="en-US" sz="1900" dirty="0"/>
          </a:p>
        </p:txBody>
      </p:sp>
      <p:sp>
        <p:nvSpPr>
          <p:cNvPr id="29" name="Text 26"/>
          <p:cNvSpPr txBox="1"/>
          <p:nvPr/>
        </p:nvSpPr>
        <p:spPr>
          <a:xfrm>
            <a:off x="4196182" y="5010912"/>
            <a:ext cx="6954012" cy="640080"/>
          </a:xfrm>
          <a:prstGeom prst="rect">
            <a:avLst/>
          </a:prstGeom>
          <a:noFill/>
          <a:ln/>
        </p:spPr>
        <p:txBody>
          <a:bodyPr wrap="square" lIns="0" tIns="0" rIns="0" bIns="0" rtlCol="0" anchor="ctr"/>
          <a:lstStyle/>
          <a:p>
            <a:pPr indent="0" marL="0">
              <a:buNone/>
            </a:pPr>
            <a:r>
              <a:rPr lang="en-US" sz="1600" dirty="0">
                <a:solidFill>
                  <a:schemeClr val="tx2"/>
                </a:solidFill>
              </a:rPr>
              <a:t>Cevabın soru köküne uyuyor mu? Şıkları bir kez daha oku.</a:t>
            </a:r>
            <a:endParaRPr lang="en-US" sz="16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Century Schoolbook" pitchFamily="34" charset="0"/>
                <a:ea typeface="Century Schoolbook" pitchFamily="34" charset="-122"/>
                <a:cs typeface="Century Schoolbook" pitchFamily="34" charset="-120"/>
              </a:rPr>
              <a:t>Yanlış defteri tut</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HATALARDAN ÖĞRENMEK</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12902" y="2011680"/>
          <a:ext cx="10565892" cy="914400"/>
        </p:xfrm>
        <a:graphic>
          <a:graphicData uri="http://schemas.openxmlformats.org/drawingml/2006/table">
            <a:tbl>
              <a:tblPr/>
              <a:tblGrid>
                <a:gridCol w="2322576"/>
                <a:gridCol w="2962656"/>
                <a:gridCol w="3383280"/>
                <a:gridCol w="1898294"/>
              </a:tblGrid>
              <a:tr h="457200">
                <a:tc>
                  <a:txBody>
                    <a:bodyPr/>
                    <a:lstStyle/>
                    <a:p>
                      <a:pPr indent="0" marL="0">
                        <a:buNone/>
                      </a:pPr>
                      <a:r>
                        <a:rPr lang="en-US" sz="1500" b="1" dirty="0">
                          <a:solidFill>
                            <a:schemeClr val="bg1"/>
                          </a:solidFill>
                        </a:rPr>
                        <a:t>Soru</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500" b="1" dirty="0">
                          <a:solidFill>
                            <a:schemeClr val="bg1"/>
                          </a:solidFill>
                        </a:rPr>
                        <a:t>Neden yanlış yaptım?</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500" b="1" dirty="0">
                          <a:solidFill>
                            <a:schemeClr val="bg1"/>
                          </a:solidFill>
                        </a:rPr>
                        <a:t>Doğru bilgi / çözüm</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500" b="1" dirty="0">
                          <a:solidFill>
                            <a:schemeClr val="bg1"/>
                          </a:solidFill>
                        </a:rPr>
                        <a:t>Tekrar</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tx1"/>
                    </a:solidFill>
                  </a:tcPr>
                </a:tc>
              </a:tr>
              <a:tr h="685800">
                <a:tc>
                  <a:txBody>
                    <a:bodyPr/>
                    <a:lstStyle/>
                    <a:p>
                      <a:pPr indent="0" marL="0">
                        <a:buNone/>
                      </a:pPr>
                      <a:r>
                        <a:rPr lang="en-US" sz="1500" b="1" dirty="0">
                          <a:solidFill>
                            <a:schemeClr val="tx1"/>
                          </a:solidFill>
                        </a:rPr>
                        <a:t>Fen – Basınç</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Formülü karıştırdım. (Bilgi eksikliği)</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Katı basıncı = Kuvvet ÷ Yüzey alanı</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3 gün sonra</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r>
              <a:tr h="685800">
                <a:tc>
                  <a:txBody>
                    <a:bodyPr/>
                    <a:lstStyle/>
                    <a:p>
                      <a:pPr indent="0" marL="0">
                        <a:buNone/>
                      </a:pPr>
                      <a:r>
                        <a:rPr lang="en-US" sz="1500" b="1" dirty="0">
                          <a:solidFill>
                            <a:schemeClr val="tx1"/>
                          </a:solidFill>
                        </a:rPr>
                        <a:t>Matematik – Üslü ifadeler</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İşareti unuttum. (Dikkat hatası)</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Negatif sayının çift kuvveti pozitiftir.</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1 hafta sonra</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r>
              <a:tr h="685800">
                <a:tc>
                  <a:txBody>
                    <a:bodyPr/>
                    <a:lstStyle/>
                    <a:p>
                      <a:pPr indent="0" marL="0">
                        <a:buNone/>
                      </a:pPr>
                      <a:r>
                        <a:rPr lang="en-US" sz="1500" b="1" dirty="0">
                          <a:solidFill>
                            <a:schemeClr val="tx1"/>
                          </a:solidFill>
                        </a:rPr>
                        <a:t>Türkçe – Paragraf</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“Değinilmemiştir” ifadesini kaçırdım. (Yanlış okuma)</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Soru kökündeki olumsuz ifadenin altını çiz.</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1 hafta sonra</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Text 2"/>
          <p:cNvSpPr txBox="1"/>
          <p:nvPr/>
        </p:nvSpPr>
        <p:spPr>
          <a:xfrm>
            <a:off x="812902" y="4754880"/>
            <a:ext cx="5486400" cy="320040"/>
          </a:xfrm>
          <a:prstGeom prst="rect">
            <a:avLst/>
          </a:prstGeom>
          <a:noFill/>
          <a:ln/>
        </p:spPr>
        <p:txBody>
          <a:bodyPr wrap="square" lIns="0" tIns="0" rIns="0" bIns="0" rtlCol="0" anchor="t"/>
          <a:lstStyle/>
          <a:p>
            <a:pPr indent="0" marL="0">
              <a:buNone/>
            </a:pPr>
            <a:r>
              <a:rPr lang="en-US" sz="1600" b="1" dirty="0">
                <a:solidFill>
                  <a:schemeClr val="tx1"/>
                </a:solidFill>
              </a:rPr>
              <a:t>Hatalarını türüne göre ayır:</a:t>
            </a:r>
            <a:endParaRPr lang="en-US" sz="1600" dirty="0"/>
          </a:p>
        </p:txBody>
      </p:sp>
      <p:sp>
        <p:nvSpPr>
          <p:cNvPr id="7" name="Bilgi eksikliği"/>
          <p:cNvSpPr/>
          <p:nvPr/>
        </p:nvSpPr>
        <p:spPr>
          <a:xfrm>
            <a:off x="812902" y="5193792"/>
            <a:ext cx="2103120" cy="457200"/>
          </a:xfrm>
          <a:prstGeom prst="roundRect">
            <a:avLst>
              <a:gd name="adj" fmla="val 36000"/>
            </a:avLst>
          </a:prstGeom>
          <a:solidFill>
            <a:schemeClr val="accent1"/>
          </a:solidFill>
          <a:ln/>
        </p:spPr>
      </p:sp>
      <p:sp>
        <p:nvSpPr>
          <p:cNvPr id="8" name="Text 4"/>
          <p:cNvSpPr txBox="1"/>
          <p:nvPr/>
        </p:nvSpPr>
        <p:spPr>
          <a:xfrm>
            <a:off x="812902" y="5193792"/>
            <a:ext cx="2103120" cy="457200"/>
          </a:xfrm>
          <a:prstGeom prst="rect">
            <a:avLst/>
          </a:prstGeom>
          <a:noFill/>
          <a:ln/>
        </p:spPr>
        <p:txBody>
          <a:bodyPr wrap="square" lIns="0" tIns="0" rIns="0" bIns="0" rtlCol="0" anchor="ctr"/>
          <a:lstStyle/>
          <a:p>
            <a:pPr algn="ctr" indent="0" marL="0">
              <a:buNone/>
            </a:pPr>
            <a:r>
              <a:rPr lang="en-US" sz="1500" b="1" dirty="0">
                <a:solidFill>
                  <a:schemeClr val="tx1"/>
                </a:solidFill>
              </a:rPr>
              <a:t>Bilgi eksikliği</a:t>
            </a:r>
            <a:endParaRPr lang="en-US" sz="1500" dirty="0"/>
          </a:p>
        </p:txBody>
      </p:sp>
      <p:sp>
        <p:nvSpPr>
          <p:cNvPr id="9" name="Dikkat hatası"/>
          <p:cNvSpPr/>
          <p:nvPr/>
        </p:nvSpPr>
        <p:spPr>
          <a:xfrm>
            <a:off x="3098902" y="5193792"/>
            <a:ext cx="1883664" cy="457200"/>
          </a:xfrm>
          <a:prstGeom prst="roundRect">
            <a:avLst>
              <a:gd name="adj" fmla="val 36000"/>
            </a:avLst>
          </a:prstGeom>
          <a:solidFill>
            <a:schemeClr val="accent1"/>
          </a:solidFill>
          <a:ln/>
        </p:spPr>
      </p:sp>
      <p:sp>
        <p:nvSpPr>
          <p:cNvPr id="10" name="Text 6"/>
          <p:cNvSpPr txBox="1"/>
          <p:nvPr/>
        </p:nvSpPr>
        <p:spPr>
          <a:xfrm>
            <a:off x="3098902" y="5193792"/>
            <a:ext cx="1883664" cy="457200"/>
          </a:xfrm>
          <a:prstGeom prst="rect">
            <a:avLst/>
          </a:prstGeom>
          <a:noFill/>
          <a:ln/>
        </p:spPr>
        <p:txBody>
          <a:bodyPr wrap="square" lIns="0" tIns="0" rIns="0" bIns="0" rtlCol="0" anchor="ctr"/>
          <a:lstStyle/>
          <a:p>
            <a:pPr algn="ctr" indent="0" marL="0">
              <a:buNone/>
            </a:pPr>
            <a:r>
              <a:rPr lang="en-US" sz="1500" b="1" dirty="0">
                <a:solidFill>
                  <a:schemeClr val="tx1"/>
                </a:solidFill>
              </a:rPr>
              <a:t>Dikkat hatası</a:t>
            </a:r>
            <a:endParaRPr lang="en-US" sz="1500" dirty="0"/>
          </a:p>
        </p:txBody>
      </p:sp>
      <p:sp>
        <p:nvSpPr>
          <p:cNvPr id="11" name="Yanlış okuma"/>
          <p:cNvSpPr/>
          <p:nvPr/>
        </p:nvSpPr>
        <p:spPr>
          <a:xfrm>
            <a:off x="5165446" y="5193792"/>
            <a:ext cx="1773936" cy="457200"/>
          </a:xfrm>
          <a:prstGeom prst="roundRect">
            <a:avLst>
              <a:gd name="adj" fmla="val 36000"/>
            </a:avLst>
          </a:prstGeom>
          <a:solidFill>
            <a:schemeClr val="accent1"/>
          </a:solidFill>
          <a:ln/>
        </p:spPr>
      </p:sp>
      <p:sp>
        <p:nvSpPr>
          <p:cNvPr id="12" name="Text 8"/>
          <p:cNvSpPr txBox="1"/>
          <p:nvPr/>
        </p:nvSpPr>
        <p:spPr>
          <a:xfrm>
            <a:off x="5165446" y="5193792"/>
            <a:ext cx="1773936" cy="457200"/>
          </a:xfrm>
          <a:prstGeom prst="rect">
            <a:avLst/>
          </a:prstGeom>
          <a:noFill/>
          <a:ln/>
        </p:spPr>
        <p:txBody>
          <a:bodyPr wrap="square" lIns="0" tIns="0" rIns="0" bIns="0" rtlCol="0" anchor="ctr"/>
          <a:lstStyle/>
          <a:p>
            <a:pPr algn="ctr" indent="0" marL="0">
              <a:buNone/>
            </a:pPr>
            <a:r>
              <a:rPr lang="en-US" sz="1500" b="1" dirty="0">
                <a:solidFill>
                  <a:schemeClr val="tx1"/>
                </a:solidFill>
              </a:rPr>
              <a:t>Yanlış okuma</a:t>
            </a:r>
            <a:endParaRPr lang="en-US" sz="1500" dirty="0"/>
          </a:p>
        </p:txBody>
      </p:sp>
      <p:sp>
        <p:nvSpPr>
          <p:cNvPr id="13" name="Süre baskısı"/>
          <p:cNvSpPr/>
          <p:nvPr/>
        </p:nvSpPr>
        <p:spPr>
          <a:xfrm>
            <a:off x="7122262" y="5193792"/>
            <a:ext cx="1773936" cy="457200"/>
          </a:xfrm>
          <a:prstGeom prst="roundRect">
            <a:avLst>
              <a:gd name="adj" fmla="val 36000"/>
            </a:avLst>
          </a:prstGeom>
          <a:solidFill>
            <a:schemeClr val="accent1"/>
          </a:solidFill>
          <a:ln/>
        </p:spPr>
      </p:sp>
      <p:sp>
        <p:nvSpPr>
          <p:cNvPr id="14" name="Text 10"/>
          <p:cNvSpPr txBox="1"/>
          <p:nvPr/>
        </p:nvSpPr>
        <p:spPr>
          <a:xfrm>
            <a:off x="7122262" y="5193792"/>
            <a:ext cx="1773936" cy="457200"/>
          </a:xfrm>
          <a:prstGeom prst="rect">
            <a:avLst/>
          </a:prstGeom>
          <a:noFill/>
          <a:ln/>
        </p:spPr>
        <p:txBody>
          <a:bodyPr wrap="square" lIns="0" tIns="0" rIns="0" bIns="0" rtlCol="0" anchor="ctr"/>
          <a:lstStyle/>
          <a:p>
            <a:pPr algn="ctr" indent="0" marL="0">
              <a:buNone/>
            </a:pPr>
            <a:r>
              <a:rPr lang="en-US" sz="1500" b="1" dirty="0">
                <a:solidFill>
                  <a:schemeClr val="tx1"/>
                </a:solidFill>
              </a:rPr>
              <a:t>Süre baskısı</a:t>
            </a:r>
            <a:endParaRPr lang="en-US" sz="15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Century Schoolbook" pitchFamily="34" charset="0"/>
                <a:ea typeface="Century Schoolbook" pitchFamily="34" charset="-122"/>
                <a:cs typeface="Century Schoolbook" pitchFamily="34" charset="-120"/>
              </a:rPr>
              <a:t>Beynin de yakıt ister</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SAĞLIK</a:t>
            </a:r>
            <a:endParaRPr lang="en-US" sz="1400" dirty="0"/>
          </a:p>
        </p:txBody>
      </p:sp>
      <p:sp>
        <p:nvSpPr>
          <p:cNvPr id="5" name="Uyku"/>
          <p:cNvSpPr/>
          <p:nvPr/>
        </p:nvSpPr>
        <p:spPr>
          <a:xfrm>
            <a:off x="812902" y="2057400"/>
            <a:ext cx="2435733" cy="2697480"/>
          </a:xfrm>
          <a:prstGeom prst="roundRect">
            <a:avLst>
              <a:gd name="adj" fmla="val 6757"/>
            </a:avLst>
          </a:prstGeom>
          <a:solidFill>
            <a:schemeClr val="bg1"/>
          </a:solidFill>
          <a:ln/>
        </p:spPr>
      </p:sp>
      <p:pic>
        <p:nvPicPr>
          <p:cNvPr id="6" name="Simge" descr="clock">    </p:cNvPr>
          <p:cNvPicPr>
            <a:picLocks noChangeAspect="1"/>
          </p:cNvPicPr>
          <p:nvPr/>
        </p:nvPicPr>
        <p:blipFill>
          <a:blip r:embed="rId1"/>
          <a:stretch>
            <a:fillRect/>
          </a:stretch>
        </p:blipFill>
        <p:spPr>
          <a:xfrm>
            <a:off x="1087222" y="2331720"/>
            <a:ext cx="457200" cy="457200"/>
          </a:xfrm>
          <a:prstGeom prst="rect">
            <a:avLst/>
          </a:prstGeom>
        </p:spPr>
      </p:pic>
      <p:sp>
        <p:nvSpPr>
          <p:cNvPr id="7" name="Text 3"/>
          <p:cNvSpPr txBox="1"/>
          <p:nvPr/>
        </p:nvSpPr>
        <p:spPr>
          <a:xfrm>
            <a:off x="1087222" y="2926080"/>
            <a:ext cx="1887093" cy="384048"/>
          </a:xfrm>
          <a:prstGeom prst="rect">
            <a:avLst/>
          </a:prstGeom>
          <a:noFill/>
          <a:ln/>
        </p:spPr>
        <p:txBody>
          <a:bodyPr wrap="square" lIns="0" tIns="0" rIns="0" bIns="0" rtlCol="0" anchor="t"/>
          <a:lstStyle/>
          <a:p>
            <a:pPr indent="0" marL="0">
              <a:buNone/>
            </a:pPr>
            <a:r>
              <a:rPr lang="en-US" sz="1900" b="1" dirty="0">
                <a:solidFill>
                  <a:schemeClr val="tx1"/>
                </a:solidFill>
                <a:latin typeface="Century Schoolbook" pitchFamily="34" charset="0"/>
                <a:ea typeface="Century Schoolbook" pitchFamily="34" charset="-122"/>
                <a:cs typeface="Century Schoolbook" pitchFamily="34" charset="-120"/>
              </a:rPr>
              <a:t>Uyku</a:t>
            </a:r>
            <a:endParaRPr lang="en-US" sz="1900" dirty="0"/>
          </a:p>
        </p:txBody>
      </p:sp>
      <p:sp>
        <p:nvSpPr>
          <p:cNvPr id="8" name="Text 4"/>
          <p:cNvSpPr txBox="1"/>
          <p:nvPr/>
        </p:nvSpPr>
        <p:spPr>
          <a:xfrm>
            <a:off x="1087222" y="3383280"/>
            <a:ext cx="1887093" cy="1188720"/>
          </a:xfrm>
          <a:prstGeom prst="rect">
            <a:avLst/>
          </a:prstGeom>
          <a:noFill/>
          <a:ln/>
        </p:spPr>
        <p:txBody>
          <a:bodyPr wrap="square" lIns="0" tIns="0" rIns="0" bIns="0" rtlCol="0" anchor="t"/>
          <a:lstStyle/>
          <a:p>
            <a:pPr indent="0" marL="0">
              <a:buNone/>
            </a:pPr>
            <a:r>
              <a:rPr lang="en-US" sz="1500" dirty="0">
                <a:solidFill>
                  <a:schemeClr val="tx2"/>
                </a:solidFill>
              </a:rPr>
              <a:t>Öğrendiklerin uykuda pekişir. Her gece düzenli saatte yat.</a:t>
            </a:r>
            <a:endParaRPr lang="en-US" sz="1500" dirty="0"/>
          </a:p>
        </p:txBody>
      </p:sp>
      <p:sp>
        <p:nvSpPr>
          <p:cNvPr id="9" name="Beslenme"/>
          <p:cNvSpPr/>
          <p:nvPr/>
        </p:nvSpPr>
        <p:spPr>
          <a:xfrm>
            <a:off x="3522955" y="2057400"/>
            <a:ext cx="2435733" cy="2697480"/>
          </a:xfrm>
          <a:prstGeom prst="roundRect">
            <a:avLst>
              <a:gd name="adj" fmla="val 6757"/>
            </a:avLst>
          </a:prstGeom>
          <a:solidFill>
            <a:schemeClr val="bg1"/>
          </a:solidFill>
          <a:ln/>
        </p:spPr>
      </p:sp>
      <p:pic>
        <p:nvPicPr>
          <p:cNvPr id="10" name="Simge" descr="apple">    </p:cNvPr>
          <p:cNvPicPr>
            <a:picLocks noChangeAspect="1"/>
          </p:cNvPicPr>
          <p:nvPr/>
        </p:nvPicPr>
        <p:blipFill>
          <a:blip r:embed="rId2"/>
          <a:stretch>
            <a:fillRect/>
          </a:stretch>
        </p:blipFill>
        <p:spPr>
          <a:xfrm>
            <a:off x="3797275" y="2331720"/>
            <a:ext cx="457200" cy="457200"/>
          </a:xfrm>
          <a:prstGeom prst="rect">
            <a:avLst/>
          </a:prstGeom>
        </p:spPr>
      </p:pic>
      <p:sp>
        <p:nvSpPr>
          <p:cNvPr id="11" name="Text 6"/>
          <p:cNvSpPr txBox="1"/>
          <p:nvPr/>
        </p:nvSpPr>
        <p:spPr>
          <a:xfrm>
            <a:off x="3797275" y="2926080"/>
            <a:ext cx="1887093" cy="384048"/>
          </a:xfrm>
          <a:prstGeom prst="rect">
            <a:avLst/>
          </a:prstGeom>
          <a:noFill/>
          <a:ln/>
        </p:spPr>
        <p:txBody>
          <a:bodyPr wrap="square" lIns="0" tIns="0" rIns="0" bIns="0" rtlCol="0" anchor="t"/>
          <a:lstStyle/>
          <a:p>
            <a:pPr indent="0" marL="0">
              <a:buNone/>
            </a:pPr>
            <a:r>
              <a:rPr lang="en-US" sz="1900" b="1" dirty="0">
                <a:solidFill>
                  <a:schemeClr val="tx1"/>
                </a:solidFill>
                <a:latin typeface="Century Schoolbook" pitchFamily="34" charset="0"/>
                <a:ea typeface="Century Schoolbook" pitchFamily="34" charset="-122"/>
                <a:cs typeface="Century Schoolbook" pitchFamily="34" charset="-120"/>
              </a:rPr>
              <a:t>Beslenme</a:t>
            </a:r>
            <a:endParaRPr lang="en-US" sz="1900" dirty="0"/>
          </a:p>
        </p:txBody>
      </p:sp>
      <p:sp>
        <p:nvSpPr>
          <p:cNvPr id="12" name="Text 7"/>
          <p:cNvSpPr txBox="1"/>
          <p:nvPr/>
        </p:nvSpPr>
        <p:spPr>
          <a:xfrm>
            <a:off x="3797275" y="3383280"/>
            <a:ext cx="1887093" cy="1188720"/>
          </a:xfrm>
          <a:prstGeom prst="rect">
            <a:avLst/>
          </a:prstGeom>
          <a:noFill/>
          <a:ln/>
        </p:spPr>
        <p:txBody>
          <a:bodyPr wrap="square" lIns="0" tIns="0" rIns="0" bIns="0" rtlCol="0" anchor="t"/>
          <a:lstStyle/>
          <a:p>
            <a:pPr indent="0" marL="0">
              <a:buNone/>
            </a:pPr>
            <a:r>
              <a:rPr lang="en-US" sz="1500" dirty="0">
                <a:solidFill>
                  <a:schemeClr val="tx2"/>
                </a:solidFill>
              </a:rPr>
              <a:t>Kahvaltıyı atlama, gün boyu su içmeyi unutma.</a:t>
            </a:r>
            <a:endParaRPr lang="en-US" sz="1500" dirty="0"/>
          </a:p>
        </p:txBody>
      </p:sp>
      <p:sp>
        <p:nvSpPr>
          <p:cNvPr id="13" name="Hareket"/>
          <p:cNvSpPr/>
          <p:nvPr/>
        </p:nvSpPr>
        <p:spPr>
          <a:xfrm>
            <a:off x="6233008" y="2057400"/>
            <a:ext cx="2435733" cy="2697480"/>
          </a:xfrm>
          <a:prstGeom prst="roundRect">
            <a:avLst>
              <a:gd name="adj" fmla="val 6757"/>
            </a:avLst>
          </a:prstGeom>
          <a:solidFill>
            <a:schemeClr val="bg1"/>
          </a:solidFill>
          <a:ln/>
        </p:spPr>
      </p:sp>
      <p:pic>
        <p:nvPicPr>
          <p:cNvPr id="14" name="Simge" descr="activity">    </p:cNvPr>
          <p:cNvPicPr>
            <a:picLocks noChangeAspect="1"/>
          </p:cNvPicPr>
          <p:nvPr/>
        </p:nvPicPr>
        <p:blipFill>
          <a:blip r:embed="rId3"/>
          <a:stretch>
            <a:fillRect/>
          </a:stretch>
        </p:blipFill>
        <p:spPr>
          <a:xfrm>
            <a:off x="6507328" y="2331720"/>
            <a:ext cx="457200" cy="457200"/>
          </a:xfrm>
          <a:prstGeom prst="rect">
            <a:avLst/>
          </a:prstGeom>
        </p:spPr>
      </p:pic>
      <p:sp>
        <p:nvSpPr>
          <p:cNvPr id="15" name="Text 9"/>
          <p:cNvSpPr txBox="1"/>
          <p:nvPr/>
        </p:nvSpPr>
        <p:spPr>
          <a:xfrm>
            <a:off x="6507328" y="2926080"/>
            <a:ext cx="1887093" cy="384048"/>
          </a:xfrm>
          <a:prstGeom prst="rect">
            <a:avLst/>
          </a:prstGeom>
          <a:noFill/>
          <a:ln/>
        </p:spPr>
        <p:txBody>
          <a:bodyPr wrap="square" lIns="0" tIns="0" rIns="0" bIns="0" rtlCol="0" anchor="t"/>
          <a:lstStyle/>
          <a:p>
            <a:pPr indent="0" marL="0">
              <a:buNone/>
            </a:pPr>
            <a:r>
              <a:rPr lang="en-US" sz="1900" b="1" dirty="0">
                <a:solidFill>
                  <a:schemeClr val="tx1"/>
                </a:solidFill>
                <a:latin typeface="Century Schoolbook" pitchFamily="34" charset="0"/>
                <a:ea typeface="Century Schoolbook" pitchFamily="34" charset="-122"/>
                <a:cs typeface="Century Schoolbook" pitchFamily="34" charset="-120"/>
              </a:rPr>
              <a:t>Hareket</a:t>
            </a:r>
            <a:endParaRPr lang="en-US" sz="1900" dirty="0"/>
          </a:p>
        </p:txBody>
      </p:sp>
      <p:sp>
        <p:nvSpPr>
          <p:cNvPr id="16" name="Text 10"/>
          <p:cNvSpPr txBox="1"/>
          <p:nvPr/>
        </p:nvSpPr>
        <p:spPr>
          <a:xfrm>
            <a:off x="6507328" y="3383280"/>
            <a:ext cx="1887093" cy="1188720"/>
          </a:xfrm>
          <a:prstGeom prst="rect">
            <a:avLst/>
          </a:prstGeom>
          <a:noFill/>
          <a:ln/>
        </p:spPr>
        <p:txBody>
          <a:bodyPr wrap="square" lIns="0" tIns="0" rIns="0" bIns="0" rtlCol="0" anchor="t"/>
          <a:lstStyle/>
          <a:p>
            <a:pPr indent="0" marL="0">
              <a:buNone/>
            </a:pPr>
            <a:r>
              <a:rPr lang="en-US" sz="1500" dirty="0">
                <a:solidFill>
                  <a:schemeClr val="tx2"/>
                </a:solidFill>
              </a:rPr>
              <a:t>Oturumların arasında kalk, esne, kısa bir yürüyüş yap.</a:t>
            </a:r>
            <a:endParaRPr lang="en-US" sz="1500" dirty="0"/>
          </a:p>
        </p:txBody>
      </p:sp>
      <p:sp>
        <p:nvSpPr>
          <p:cNvPr id="17" name="Ekran"/>
          <p:cNvSpPr/>
          <p:nvPr/>
        </p:nvSpPr>
        <p:spPr>
          <a:xfrm>
            <a:off x="8943061" y="2057400"/>
            <a:ext cx="2435733" cy="2697480"/>
          </a:xfrm>
          <a:prstGeom prst="roundRect">
            <a:avLst>
              <a:gd name="adj" fmla="val 6757"/>
            </a:avLst>
          </a:prstGeom>
          <a:solidFill>
            <a:schemeClr val="bg1"/>
          </a:solidFill>
          <a:ln/>
        </p:spPr>
      </p:sp>
      <p:pic>
        <p:nvPicPr>
          <p:cNvPr id="18" name="Simge" descr="lock">    </p:cNvPr>
          <p:cNvPicPr>
            <a:picLocks noChangeAspect="1"/>
          </p:cNvPicPr>
          <p:nvPr/>
        </p:nvPicPr>
        <p:blipFill>
          <a:blip r:embed="rId4"/>
          <a:stretch>
            <a:fillRect/>
          </a:stretch>
        </p:blipFill>
        <p:spPr>
          <a:xfrm>
            <a:off x="9217381" y="2331720"/>
            <a:ext cx="457200" cy="457200"/>
          </a:xfrm>
          <a:prstGeom prst="rect">
            <a:avLst/>
          </a:prstGeom>
        </p:spPr>
      </p:pic>
      <p:sp>
        <p:nvSpPr>
          <p:cNvPr id="19" name="Text 12"/>
          <p:cNvSpPr txBox="1"/>
          <p:nvPr/>
        </p:nvSpPr>
        <p:spPr>
          <a:xfrm>
            <a:off x="9217381" y="2926080"/>
            <a:ext cx="1887093" cy="384048"/>
          </a:xfrm>
          <a:prstGeom prst="rect">
            <a:avLst/>
          </a:prstGeom>
          <a:noFill/>
          <a:ln/>
        </p:spPr>
        <p:txBody>
          <a:bodyPr wrap="square" lIns="0" tIns="0" rIns="0" bIns="0" rtlCol="0" anchor="t"/>
          <a:lstStyle/>
          <a:p>
            <a:pPr indent="0" marL="0">
              <a:buNone/>
            </a:pPr>
            <a:r>
              <a:rPr lang="en-US" sz="1900" b="1" dirty="0">
                <a:solidFill>
                  <a:schemeClr val="tx1"/>
                </a:solidFill>
                <a:latin typeface="Century Schoolbook" pitchFamily="34" charset="0"/>
                <a:ea typeface="Century Schoolbook" pitchFamily="34" charset="-122"/>
                <a:cs typeface="Century Schoolbook" pitchFamily="34" charset="-120"/>
              </a:rPr>
              <a:t>Ekran</a:t>
            </a:r>
            <a:endParaRPr lang="en-US" sz="1900" dirty="0"/>
          </a:p>
        </p:txBody>
      </p:sp>
      <p:sp>
        <p:nvSpPr>
          <p:cNvPr id="20" name="Text 13"/>
          <p:cNvSpPr txBox="1"/>
          <p:nvPr/>
        </p:nvSpPr>
        <p:spPr>
          <a:xfrm>
            <a:off x="9217381" y="3383280"/>
            <a:ext cx="1887093" cy="1188720"/>
          </a:xfrm>
          <a:prstGeom prst="rect">
            <a:avLst/>
          </a:prstGeom>
          <a:noFill/>
          <a:ln/>
        </p:spPr>
        <p:txBody>
          <a:bodyPr wrap="square" lIns="0" tIns="0" rIns="0" bIns="0" rtlCol="0" anchor="t"/>
          <a:lstStyle/>
          <a:p>
            <a:pPr indent="0" marL="0">
              <a:buNone/>
            </a:pPr>
            <a:r>
              <a:rPr lang="en-US" sz="1500" dirty="0">
                <a:solidFill>
                  <a:schemeClr val="tx2"/>
                </a:solidFill>
              </a:rPr>
              <a:t>Yatmadan önceki saatte telefonu ve tableti bırak.</a:t>
            </a:r>
            <a:endParaRPr lang="en-US" sz="1500" dirty="0"/>
          </a:p>
        </p:txBody>
      </p:sp>
      <p:sp>
        <p:nvSpPr>
          <p:cNvPr id="21" name="Text 14"/>
          <p:cNvSpPr txBox="1"/>
          <p:nvPr/>
        </p:nvSpPr>
        <p:spPr>
          <a:xfrm>
            <a:off x="812902" y="5074920"/>
            <a:ext cx="10565892" cy="548640"/>
          </a:xfrm>
          <a:prstGeom prst="rect">
            <a:avLst/>
          </a:prstGeom>
          <a:noFill/>
          <a:ln/>
        </p:spPr>
        <p:txBody>
          <a:bodyPr wrap="square" lIns="0" tIns="0" rIns="0" bIns="0" rtlCol="0" anchor="t"/>
          <a:lstStyle/>
          <a:p>
            <a:pPr indent="0" marL="0">
              <a:buNone/>
            </a:pPr>
            <a:r>
              <a:rPr lang="en-US" sz="2400" b="1" dirty="0">
                <a:solidFill>
                  <a:schemeClr val="tx1"/>
                </a:solidFill>
                <a:latin typeface="Century Schoolbook" pitchFamily="34" charset="0"/>
                <a:ea typeface="Century Schoolbook" pitchFamily="34" charset="-122"/>
                <a:cs typeface="Century Schoolbook" pitchFamily="34" charset="-120"/>
              </a:rPr>
              <a:t>Dinlenmek de çalışmanın bir parçasıdır.</a:t>
            </a:r>
            <a:endParaRPr lang="en-US" sz="24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812902" y="1920240"/>
            <a:ext cx="10565892" cy="2194560"/>
          </a:xfrm>
          <a:prstGeom prst="rect">
            <a:avLst/>
          </a:prstGeom>
          <a:noFill/>
          <a:ln/>
        </p:spPr>
        <p:txBody>
          <a:bodyPr wrap="square" lIns="0" tIns="0" rIns="0" bIns="0" rtlCol="0" anchor="b"/>
          <a:lstStyle/>
          <a:p>
            <a:pPr algn="l" indent="0" marL="0">
              <a:buNone/>
            </a:pPr>
            <a:r>
              <a:rPr lang="en-US" sz="5200" b="1" dirty="0">
                <a:solidFill>
                  <a:schemeClr val="tx1"/>
                </a:solidFill>
                <a:latin typeface="Century Schoolbook" pitchFamily="34" charset="0"/>
                <a:ea typeface="Century Schoolbook" pitchFamily="34" charset="-122"/>
                <a:cs typeface="Century Schoolbook" pitchFamily="34" charset="-120"/>
              </a:rPr>
              <a:t>Az ama her gün,</a:t>
            </a:r>
            <a:endParaRPr lang="en-US" sz="5200" dirty="0"/>
          </a:p>
          <a:p>
            <a:pPr algn="l" indent="0" marL="0">
              <a:buNone/>
            </a:pPr>
            <a:r>
              <a:rPr lang="en-US" sz="5200" b="1" dirty="0">
                <a:solidFill>
                  <a:schemeClr val="tx1"/>
                </a:solidFill>
                <a:latin typeface="Century Schoolbook" pitchFamily="34" charset="0"/>
                <a:ea typeface="Century Schoolbook" pitchFamily="34" charset="-122"/>
                <a:cs typeface="Century Schoolbook" pitchFamily="34" charset="-120"/>
              </a:rPr>
              <a:t>çok ama bazen’den iyidir.</a:t>
            </a:r>
            <a:endParaRPr lang="en-US" sz="5200" dirty="0"/>
          </a:p>
        </p:txBody>
      </p:sp>
      <p:sp>
        <p:nvSpPr>
          <p:cNvPr id="4" name="Text 1"/>
          <p:cNvSpPr txBox="1"/>
          <p:nvPr/>
        </p:nvSpPr>
        <p:spPr>
          <a:xfrm>
            <a:off x="812902" y="4389120"/>
            <a:ext cx="10565892" cy="548640"/>
          </a:xfrm>
          <a:prstGeom prst="rect">
            <a:avLst/>
          </a:prstGeom>
          <a:noFill/>
          <a:ln/>
        </p:spPr>
        <p:txBody>
          <a:bodyPr wrap="square" lIns="0" tIns="0" rIns="0" bIns="0" rtlCol="0" anchor="t"/>
          <a:lstStyle/>
          <a:p>
            <a:pPr indent="0" marL="0">
              <a:buNone/>
            </a:pPr>
            <a:r>
              <a:rPr lang="en-US" sz="2600" dirty="0">
                <a:solidFill>
                  <a:schemeClr val="tx1"/>
                </a:solidFill>
              </a:rPr>
              <a:t>Süreklilik, tek seferlik yoğun çalışmadan daha güçlüdür.</a:t>
            </a:r>
            <a:endParaRPr lang="en-US" sz="2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812902" y="2240280"/>
            <a:ext cx="6766560" cy="2103120"/>
          </a:xfrm>
          <a:prstGeom prst="rect">
            <a:avLst/>
          </a:prstGeom>
          <a:noFill/>
          <a:ln/>
        </p:spPr>
        <p:txBody>
          <a:bodyPr wrap="square" lIns="0" tIns="0" rIns="0" bIns="0" rtlCol="0" anchor="t"/>
          <a:lstStyle/>
          <a:p>
            <a:pPr algn="l" indent="0" marL="0">
              <a:buNone/>
            </a:pPr>
            <a:r>
              <a:rPr lang="en-US" sz="4800" b="1" dirty="0">
                <a:solidFill>
                  <a:schemeClr val="bg1"/>
                </a:solidFill>
                <a:latin typeface="Century Schoolbook" pitchFamily="34" charset="0"/>
                <a:ea typeface="Century Schoolbook" pitchFamily="34" charset="-122"/>
                <a:cs typeface="Century Schoolbook" pitchFamily="34" charset="-120"/>
              </a:rPr>
              <a:t>Bu hafta tek bir</a:t>
            </a:r>
            <a:endParaRPr lang="en-US" sz="4800" dirty="0"/>
          </a:p>
          <a:p>
            <a:pPr algn="l" indent="0" marL="0">
              <a:buNone/>
            </a:pPr>
            <a:r>
              <a:rPr lang="en-US" sz="4800" b="1" dirty="0">
                <a:solidFill>
                  <a:schemeClr val="bg1"/>
                </a:solidFill>
                <a:latin typeface="Century Schoolbook" pitchFamily="34" charset="0"/>
                <a:ea typeface="Century Schoolbook" pitchFamily="34" charset="-122"/>
                <a:cs typeface="Century Schoolbook" pitchFamily="34" charset="-120"/>
              </a:rPr>
              <a:t>teknik dene.</a:t>
            </a:r>
            <a:endParaRPr lang="en-US" sz="4800" dirty="0"/>
          </a:p>
        </p:txBody>
      </p:sp>
      <p:sp>
        <p:nvSpPr>
          <p:cNvPr id="3" name="Üst başlık"/>
          <p:cNvSpPr txBox="1"/>
          <p:nvPr/>
        </p:nvSpPr>
        <p:spPr>
          <a:xfrm>
            <a:off x="812902" y="1783080"/>
            <a:ext cx="7315200" cy="274320"/>
          </a:xfrm>
          <a:prstGeom prst="rect">
            <a:avLst/>
          </a:prstGeom>
          <a:noFill/>
          <a:ln/>
        </p:spPr>
        <p:txBody>
          <a:bodyPr wrap="square" lIns="0" tIns="0" rIns="0" bIns="0" rtlCol="0" anchor="ctr"/>
          <a:lstStyle/>
          <a:p>
            <a:pPr indent="0" marL="0">
              <a:buNone/>
            </a:pPr>
            <a:r>
              <a:rPr lang="en-US" sz="1400" b="1" spc="300" kern="0" dirty="0">
                <a:solidFill>
                  <a:schemeClr val="accent3"/>
                </a:solidFill>
              </a:rPr>
              <a:t>ÇIKIŞ KARTI</a:t>
            </a:r>
            <a:endParaRPr lang="en-US" sz="1400" dirty="0"/>
          </a:p>
        </p:txBody>
      </p:sp>
      <p:sp>
        <p:nvSpPr>
          <p:cNvPr id="5" name="Dekor kare"/>
          <p:cNvSpPr/>
          <p:nvPr/>
        </p:nvSpPr>
        <p:spPr>
          <a:xfrm rot="360000">
            <a:off x="7823606" y="1651406"/>
            <a:ext cx="3556102" cy="3556102"/>
          </a:xfrm>
          <a:prstGeom prst="roundRect">
            <a:avLst>
              <a:gd name="adj" fmla="val 6428"/>
            </a:avLst>
          </a:prstGeom>
          <a:solidFill>
            <a:schemeClr val="accent1"/>
          </a:solidFill>
          <a:ln/>
        </p:spPr>
      </p:sp>
      <p:pic>
        <p:nvPicPr>
          <p:cNvPr id="6" name="Simge" descr="bulb">    </p:cNvPr>
          <p:cNvPicPr>
            <a:picLocks noChangeAspect="1"/>
          </p:cNvPicPr>
          <p:nvPr/>
        </p:nvPicPr>
        <p:blipFill>
          <a:blip r:embed="rId1"/>
          <a:stretch>
            <a:fillRect/>
          </a:stretch>
        </p:blipFill>
        <p:spPr>
          <a:xfrm>
            <a:off x="8966606" y="2794406"/>
            <a:ext cx="1270102" cy="1270102"/>
          </a:xfrm>
          <a:prstGeom prst="rect">
            <a:avLst/>
          </a:prstGeom>
        </p:spPr>
      </p:pic>
      <p:sp>
        <p:nvSpPr>
          <p:cNvPr id="7" name="Text 3"/>
          <p:cNvSpPr txBox="1"/>
          <p:nvPr/>
        </p:nvSpPr>
        <p:spPr>
          <a:xfrm>
            <a:off x="812902" y="3931920"/>
            <a:ext cx="6766560" cy="1371600"/>
          </a:xfrm>
          <a:prstGeom prst="rect">
            <a:avLst/>
          </a:prstGeom>
          <a:noFill/>
          <a:ln/>
        </p:spPr>
        <p:txBody>
          <a:bodyPr wrap="square" lIns="0" tIns="0" rIns="0" bIns="0" rtlCol="0" anchor="t"/>
          <a:lstStyle/>
          <a:p>
            <a:pPr indent="0" marL="0">
              <a:spcAft>
                <a:spcPts val="600"/>
              </a:spcAft>
              <a:buNone/>
            </a:pPr>
            <a:r>
              <a:rPr lang="en-US" sz="2000" dirty="0">
                <a:solidFill>
                  <a:schemeClr val="accent5"/>
                </a:solidFill>
              </a:rPr>
              <a:t>1. Hangi tekniği deneyeceğim?</a:t>
            </a:r>
            <a:endParaRPr lang="en-US" sz="2000" dirty="0"/>
          </a:p>
          <a:p>
            <a:pPr indent="0" marL="0">
              <a:spcAft>
                <a:spcPts val="600"/>
              </a:spcAft>
              <a:buNone/>
            </a:pPr>
            <a:r>
              <a:rPr lang="en-US" sz="2000" dirty="0">
                <a:solidFill>
                  <a:schemeClr val="accent5"/>
                </a:solidFill>
              </a:rPr>
              <a:t>2. Ne zaman ve hangi derste?</a:t>
            </a:r>
            <a:endParaRPr lang="en-US" sz="2000" dirty="0"/>
          </a:p>
          <a:p>
            <a:pPr indent="0" marL="0">
              <a:spcAft>
                <a:spcPts val="600"/>
              </a:spcAft>
              <a:buNone/>
            </a:pPr>
            <a:r>
              <a:rPr lang="en-US" sz="2000" dirty="0">
                <a:solidFill>
                  <a:schemeClr val="accent5"/>
                </a:solidFill>
              </a:rPr>
              <a:t>3. Nasıl geçtiğini kiminle paylaşacağım?</a:t>
            </a:r>
            <a:endParaRPr lang="en-US" sz="2000" dirty="0"/>
          </a:p>
        </p:txBody>
      </p:sp>
    </p:spTree>
  </p:cSld>
  <p:clrMapOvr>
    <a:masterClrMapping/>
  </p:clrMapOvr>
</p:sld>
</file>

<file path=ppt/theme/theme1.xml><?xml version="1.0" encoding="utf-8"?>
<a:theme xmlns:a="http://schemas.openxmlformats.org/drawingml/2006/main" name="Ders Calisma">
  <a:themeElements>
    <a:clrScheme name="Ders Calisma">
      <a:dk1>
        <a:srgbClr val="16323C"/>
      </a:dk1>
      <a:lt1>
        <a:srgbClr val="F5F7F2"/>
      </a:lt1>
      <a:dk2>
        <a:srgbClr val="46565C"/>
      </a:dk2>
      <a:lt2>
        <a:srgbClr val="E3EDE8"/>
      </a:lt2>
      <a:accent1>
        <a:srgbClr val="F4C542"/>
      </a:accent1>
      <a:accent2>
        <a:srgbClr val="1E6B5A"/>
      </a:accent2>
      <a:accent3>
        <a:srgbClr val="F4C542"/>
      </a:accent3>
      <a:accent4>
        <a:srgbClr val="FBFCF9"/>
      </a:accent4>
      <a:accent5>
        <a:srgbClr val="BFD3CF"/>
      </a:accent5>
      <a:accent6>
        <a:srgbClr val="56656B"/>
      </a:accent6>
      <a:hlink>
        <a:srgbClr val="1E6B5A"/>
      </a:hlink>
      <a:folHlink>
        <a:srgbClr val="56656B"/>
      </a:folHlink>
    </a:clrScheme>
    <a:fontScheme name="Ders Calisma">
      <a:majorFont>
        <a:latin typeface="Century Schoolboo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 Sınıf Verimli Ders Çalışma</dc:title>
  <dc:subject>PptxGenJS Presentation</dc:subject>
  <dc:creator>8. Sınıf Rehberlik</dc:creator>
  <cp:lastModifiedBy>8. Sınıf Rehberlik</cp:lastModifiedBy>
  <cp:revision>1</cp:revision>
  <dcterms:created xsi:type="dcterms:W3CDTF">2026-10-05T06:57:56Z</dcterms:created>
  <dcterms:modified xsi:type="dcterms:W3CDTF">2026-10-05T06:57:56Z</dcterms:modified>
</cp:coreProperties>
</file>